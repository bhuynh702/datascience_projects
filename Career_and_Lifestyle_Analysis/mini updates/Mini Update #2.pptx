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Open Sa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OpenSans-regular.fntdata"/><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font" Target="fonts/OpenSans-italic.fntdata"/><Relationship Id="rId14" Type="http://schemas.openxmlformats.org/officeDocument/2006/relationships/font" Target="fonts/OpenSans-bold.fntdata"/><Relationship Id="rId16"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4-17T04:26:36.228">
    <p:pos x="196" y="469"/>
    <p:text>@bhuynh4@umbc.edu @c265@umbc.edu good job. You may stack weekly update into the same slide deck, more recent in the front. You should aim for 2-3 data insights/person/week</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4-17T04:28:48.790">
    <p:pos x="176" y="1949"/>
    <p:text>I like how you pose a new question based on you saw, keep the curiosity rolling!</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4-17T04:28:12.663">
    <p:pos x="1816" y="699"/>
    <p:text>since you don't have a lot of occupancy category, it would be interesting to look at stress level from other occupation instead of grouping all together</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4-17T04:25:33.590">
    <p:pos x="176" y="412"/>
    <p:text>nice questions asked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92ca9e4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92ca9e4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b764f782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b764f782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b764f782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b764f782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b764f78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b764f78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b764f782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b764f782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hyperlink" Target="https://www.cdc.gov/mmwr/volumes/72/wr/mm7244e1.htm#:~:text=Results:%20From%202018%20to%202022%2C%20health%20workers,burnout%20very%20often%20(11.6%%20to%2019.0%)%20increased." TargetMode="External"/><Relationship Id="rId5" Type="http://schemas.openxmlformats.org/officeDocument/2006/relationships/image" Target="../media/image1.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3.xml"/><Relationship Id="rId4" Type="http://schemas.openxmlformats.org/officeDocument/2006/relationships/image" Target="../media/image3.png"/><Relationship Id="rId5" Type="http://schemas.openxmlformats.org/officeDocument/2006/relationships/hyperlink" Target="https://www.cdc.gov/mmwr/volumes/72/wr/mm7244e1.htm#:~:text=Results:%20From%202018%20to%202022%2C%20health%20workers,burnout%20very%20often%20(11.6%%20to%2019.0%)%20increase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Mini Update #</a:t>
            </a:r>
            <a:r>
              <a:rPr lang="en"/>
              <a:t>2</a:t>
            </a:r>
            <a:endParaRPr/>
          </a:p>
        </p:txBody>
      </p:sp>
      <p:sp>
        <p:nvSpPr>
          <p:cNvPr id="55" name="Google Shape;55;p13"/>
          <p:cNvSpPr txBox="1"/>
          <p:nvPr>
            <p:ph idx="1" type="subTitle"/>
          </p:nvPr>
        </p:nvSpPr>
        <p:spPr>
          <a:xfrm>
            <a:off x="311700" y="2834125"/>
            <a:ext cx="8520600" cy="9846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sz="2300"/>
              <a:t>By Brittany Huynh and Carlyn Mangana </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rPr lang="en" sz="2300"/>
              <a:t>04/13/2025</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Insights</a:t>
            </a:r>
            <a:endParaRPr/>
          </a:p>
        </p:txBody>
      </p:sp>
      <p:sp>
        <p:nvSpPr>
          <p:cNvPr id="61" name="Google Shape;61;p14"/>
          <p:cNvSpPr txBox="1"/>
          <p:nvPr>
            <p:ph idx="1" type="body"/>
          </p:nvPr>
        </p:nvSpPr>
        <p:spPr>
          <a:xfrm>
            <a:off x="311700" y="1152475"/>
            <a:ext cx="4260300" cy="3521700"/>
          </a:xfrm>
          <a:prstGeom prst="rect">
            <a:avLst/>
          </a:prstGeom>
        </p:spPr>
        <p:txBody>
          <a:bodyPr anchorCtr="0" anchor="t" bIns="91425" lIns="91425" spcFirstLastPara="1" rIns="91425" wrap="square" tIns="91425">
            <a:noAutofit/>
          </a:bodyPr>
          <a:lstStyle/>
          <a:p>
            <a:pPr indent="-309880" lvl="1" marL="914400" rtl="0" algn="l">
              <a:lnSpc>
                <a:spcPct val="95000"/>
              </a:lnSpc>
              <a:spcBef>
                <a:spcPts val="0"/>
              </a:spcBef>
              <a:spcAft>
                <a:spcPts val="0"/>
              </a:spcAft>
              <a:buClr>
                <a:srgbClr val="695D46"/>
              </a:buClr>
              <a:buSzPts val="1280"/>
              <a:buFont typeface="Open Sans"/>
              <a:buChar char="○"/>
            </a:pPr>
            <a:r>
              <a:rPr lang="en" sz="1280">
                <a:solidFill>
                  <a:srgbClr val="695D46"/>
                </a:solidFill>
                <a:latin typeface="Open Sans"/>
                <a:ea typeface="Open Sans"/>
                <a:cs typeface="Open Sans"/>
                <a:sym typeface="Open Sans"/>
              </a:rPr>
              <a:t>This graph shows the various job fields within the data table and how the average physical activity of each job field. The physical activity is on a scale of 0-100, 0 being no physical activity and 100 being very active. Based off of the data results, </a:t>
            </a:r>
            <a:r>
              <a:rPr lang="en" sz="1280">
                <a:solidFill>
                  <a:srgbClr val="695D46"/>
                </a:solidFill>
                <a:latin typeface="Open Sans"/>
                <a:ea typeface="Open Sans"/>
                <a:cs typeface="Open Sans"/>
                <a:sym typeface="Open Sans"/>
              </a:rPr>
              <a:t>it seems that healthcare workers have the highest physical activity average. This could be due to the fact that doctors and nurses are always </a:t>
            </a:r>
            <a:r>
              <a:rPr lang="en" sz="1280">
                <a:solidFill>
                  <a:srgbClr val="695D46"/>
                </a:solidFill>
                <a:latin typeface="Open Sans"/>
                <a:ea typeface="Open Sans"/>
                <a:cs typeface="Open Sans"/>
                <a:sym typeface="Open Sans"/>
              </a:rPr>
              <a:t>on their feet running around hospitals to tend to those in need. It seems that service workers are the lowest in physical activity average it could indicate that sales representatives these days usually work from home to raise their sales, meaning they don’t need to walk around as much. </a:t>
            </a:r>
            <a:endParaRPr b="1" sz="1280"/>
          </a:p>
        </p:txBody>
      </p:sp>
      <p:pic>
        <p:nvPicPr>
          <p:cNvPr id="62" name="Google Shape;62;p14"/>
          <p:cNvPicPr preferRelativeResize="0"/>
          <p:nvPr/>
        </p:nvPicPr>
        <p:blipFill>
          <a:blip r:embed="rId3">
            <a:alphaModFix/>
          </a:blip>
          <a:stretch>
            <a:fillRect/>
          </a:stretch>
        </p:blipFill>
        <p:spPr>
          <a:xfrm>
            <a:off x="4957600" y="1461076"/>
            <a:ext cx="3707246" cy="2070000"/>
          </a:xfrm>
          <a:prstGeom prst="rect">
            <a:avLst/>
          </a:prstGeom>
          <a:noFill/>
          <a:ln>
            <a:noFill/>
          </a:ln>
        </p:spPr>
      </p:pic>
      <p:sp>
        <p:nvSpPr>
          <p:cNvPr id="63" name="Google Shape;63;p14"/>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592500" y="190975"/>
            <a:ext cx="8020500" cy="9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220"/>
              <a:t>Data Insight: Doctors and Nurses are more physically active than all other occupations on average. </a:t>
            </a:r>
            <a:endParaRPr b="1" sz="2220"/>
          </a:p>
        </p:txBody>
      </p:sp>
      <p:sp>
        <p:nvSpPr>
          <p:cNvPr id="69" name="Google Shape;69;p15"/>
          <p:cNvSpPr txBox="1"/>
          <p:nvPr>
            <p:ph idx="1" type="body"/>
          </p:nvPr>
        </p:nvSpPr>
        <p:spPr>
          <a:xfrm>
            <a:off x="280950" y="3095000"/>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These bar graphs show the Daily Steps average and Physical Activity Level average of Doctors, Nurses, and all other occupations. These graphs are used to answer my curious </a:t>
            </a:r>
            <a:r>
              <a:rPr lang="en" sz="1300">
                <a:solidFill>
                  <a:schemeClr val="dk1"/>
                </a:solidFill>
              </a:rPr>
              <a:t>question, “Are doctors more physically active than non-doctors?” </a:t>
            </a:r>
            <a:r>
              <a:rPr lang="en" sz="1300">
                <a:solidFill>
                  <a:schemeClr val="dk1"/>
                </a:solidFill>
              </a:rPr>
              <a:t>This insight is </a:t>
            </a:r>
            <a:r>
              <a:rPr lang="en" sz="1300">
                <a:solidFill>
                  <a:schemeClr val="dk1"/>
                </a:solidFill>
              </a:rPr>
              <a:t>similar</a:t>
            </a:r>
            <a:r>
              <a:rPr lang="en" sz="1300">
                <a:solidFill>
                  <a:schemeClr val="dk1"/>
                </a:solidFill>
              </a:rPr>
              <a:t> to Car’s insight on the previous slide. The data shows that both doctors and nurses are more physically active than all other occupations in the dataset, </a:t>
            </a:r>
            <a:r>
              <a:rPr lang="en" sz="1300">
                <a:solidFill>
                  <a:schemeClr val="dk1"/>
                </a:solidFill>
              </a:rPr>
              <a:t>including</a:t>
            </a:r>
            <a:r>
              <a:rPr lang="en" sz="1300">
                <a:solidFill>
                  <a:schemeClr val="dk1"/>
                </a:solidFill>
              </a:rPr>
              <a:t> workers in sales, engineering, education, and more. It’s a well-known fact that moderate amounts of daily physical activity improve well-being, boost heart health, and help maintain a healthy weight. However, </a:t>
            </a:r>
            <a:r>
              <a:rPr lang="en" sz="1300" u="sng">
                <a:solidFill>
                  <a:schemeClr val="hlink"/>
                </a:solidFill>
                <a:hlinkClick r:id="rId4"/>
              </a:rPr>
              <a:t>this article</a:t>
            </a:r>
            <a:r>
              <a:rPr lang="en" sz="1300">
                <a:solidFill>
                  <a:schemeClr val="dk1"/>
                </a:solidFill>
              </a:rPr>
              <a:t> claims that healthcare workers experienced significant burnout and stress, </a:t>
            </a:r>
            <a:r>
              <a:rPr lang="en" sz="1300">
                <a:solidFill>
                  <a:schemeClr val="dk1"/>
                </a:solidFill>
              </a:rPr>
              <a:t>especially </a:t>
            </a:r>
            <a:r>
              <a:rPr lang="en" sz="1300">
                <a:solidFill>
                  <a:schemeClr val="dk1"/>
                </a:solidFill>
              </a:rPr>
              <a:t>during the height of the COVID-19 pandemic. </a:t>
            </a:r>
            <a:r>
              <a:rPr lang="en" sz="1300">
                <a:solidFill>
                  <a:schemeClr val="dk1"/>
                </a:solidFill>
              </a:rPr>
              <a:t>This leads to me to pose another question, how do the stress levels of doctors and nurses compare to all other occupations in this dataset?</a:t>
            </a:r>
            <a:r>
              <a:rPr lang="en" sz="1200">
                <a:solidFill>
                  <a:schemeClr val="dk1"/>
                </a:solidFill>
              </a:rPr>
              <a:t> </a:t>
            </a:r>
            <a:endParaRPr sz="1200">
              <a:solidFill>
                <a:schemeClr val="dk1"/>
              </a:solidFill>
            </a:endParaRPr>
          </a:p>
          <a:p>
            <a:pPr indent="0" lvl="0" marL="0" rtl="0" algn="l">
              <a:lnSpc>
                <a:spcPct val="95000"/>
              </a:lnSpc>
              <a:spcBef>
                <a:spcPts val="1600"/>
              </a:spcBef>
              <a:spcAft>
                <a:spcPts val="1200"/>
              </a:spcAft>
              <a:buSzPts val="688"/>
              <a:buNone/>
            </a:pPr>
            <a:r>
              <a:t/>
            </a:r>
            <a:endParaRPr b="1" sz="1200"/>
          </a:p>
        </p:txBody>
      </p:sp>
      <p:pic>
        <p:nvPicPr>
          <p:cNvPr id="70" name="Google Shape;70;p15"/>
          <p:cNvPicPr preferRelativeResize="0"/>
          <p:nvPr/>
        </p:nvPicPr>
        <p:blipFill>
          <a:blip r:embed="rId5">
            <a:alphaModFix/>
          </a:blip>
          <a:stretch>
            <a:fillRect/>
          </a:stretch>
        </p:blipFill>
        <p:spPr>
          <a:xfrm>
            <a:off x="1545850" y="1103825"/>
            <a:ext cx="3007348" cy="1905000"/>
          </a:xfrm>
          <a:prstGeom prst="rect">
            <a:avLst/>
          </a:prstGeom>
          <a:noFill/>
          <a:ln>
            <a:noFill/>
          </a:ln>
        </p:spPr>
      </p:pic>
      <p:pic>
        <p:nvPicPr>
          <p:cNvPr id="71" name="Google Shape;71;p15"/>
          <p:cNvPicPr preferRelativeResize="0"/>
          <p:nvPr/>
        </p:nvPicPr>
        <p:blipFill>
          <a:blip r:embed="rId6">
            <a:alphaModFix/>
          </a:blip>
          <a:stretch>
            <a:fillRect/>
          </a:stretch>
        </p:blipFill>
        <p:spPr>
          <a:xfrm>
            <a:off x="4590804" y="1103825"/>
            <a:ext cx="3007346" cy="1904995"/>
          </a:xfrm>
          <a:prstGeom prst="rect">
            <a:avLst/>
          </a:prstGeom>
          <a:noFill/>
          <a:ln>
            <a:noFill/>
          </a:ln>
        </p:spPr>
      </p:pic>
      <p:sp>
        <p:nvSpPr>
          <p:cNvPr id="72" name="Google Shape;72;p15"/>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561750" y="332075"/>
            <a:ext cx="8020500" cy="9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2120"/>
              <a:t>Data Insight: </a:t>
            </a:r>
            <a:r>
              <a:rPr b="1" lang="en" sz="2120"/>
              <a:t>Being a d</a:t>
            </a:r>
            <a:r>
              <a:rPr b="1" lang="en" sz="2120"/>
              <a:t>octor is the most stressful occupation (according to this dataset). </a:t>
            </a:r>
            <a:endParaRPr b="1" sz="2120"/>
          </a:p>
        </p:txBody>
      </p:sp>
      <p:sp>
        <p:nvSpPr>
          <p:cNvPr id="78" name="Google Shape;78;p16"/>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pic>
        <p:nvPicPr>
          <p:cNvPr id="79" name="Google Shape;79;p16"/>
          <p:cNvPicPr preferRelativeResize="0"/>
          <p:nvPr/>
        </p:nvPicPr>
        <p:blipFill>
          <a:blip r:embed="rId4">
            <a:alphaModFix/>
          </a:blip>
          <a:stretch>
            <a:fillRect/>
          </a:stretch>
        </p:blipFill>
        <p:spPr>
          <a:xfrm>
            <a:off x="2882986" y="1110600"/>
            <a:ext cx="3378025" cy="1984400"/>
          </a:xfrm>
          <a:prstGeom prst="rect">
            <a:avLst/>
          </a:prstGeom>
          <a:noFill/>
          <a:ln>
            <a:noFill/>
          </a:ln>
        </p:spPr>
      </p:pic>
      <p:sp>
        <p:nvSpPr>
          <p:cNvPr id="80" name="Google Shape;80;p16"/>
          <p:cNvSpPr txBox="1"/>
          <p:nvPr>
            <p:ph idx="1" type="body"/>
          </p:nvPr>
        </p:nvSpPr>
        <p:spPr>
          <a:xfrm>
            <a:off x="280950" y="3147925"/>
            <a:ext cx="8582100" cy="1943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0">
                <a:solidFill>
                  <a:schemeClr val="dk1"/>
                </a:solidFill>
              </a:rPr>
              <a:t>This graph shows that doctors experienced the highest Stress Level on average compared to nurses and all other occupations. This insight proves the claim from </a:t>
            </a:r>
            <a:r>
              <a:rPr lang="en" sz="1300" u="sng">
                <a:solidFill>
                  <a:schemeClr val="hlink"/>
                </a:solidFill>
                <a:hlinkClick r:id="rId5"/>
              </a:rPr>
              <a:t>the article</a:t>
            </a:r>
            <a:r>
              <a:rPr lang="en" sz="1300">
                <a:solidFill>
                  <a:schemeClr val="dk1"/>
                </a:solidFill>
              </a:rPr>
              <a:t> in the previous slide that says healthcare workers experience burnout and stress. Doctors’ stress is likely due to physical demands of the job, such as excessive workloads. Doctors are paid extremely well, but does the high salary make up for the stressful nature of the job? Although doctors experience the most stress, nurses’ average stress levels are lower than all other occupations combined. </a:t>
            </a:r>
            <a:endParaRPr sz="1200">
              <a:solidFill>
                <a:schemeClr val="dk1"/>
              </a:solidFill>
            </a:endParaRPr>
          </a:p>
          <a:p>
            <a:pPr indent="0" lvl="0" marL="0" rtl="0" algn="l">
              <a:lnSpc>
                <a:spcPct val="95000"/>
              </a:lnSpc>
              <a:spcBef>
                <a:spcPts val="1600"/>
              </a:spcBef>
              <a:spcAft>
                <a:spcPts val="1200"/>
              </a:spcAft>
              <a:buSzPts val="688"/>
              <a:buNone/>
            </a:pPr>
            <a:r>
              <a:t/>
            </a:r>
            <a:endParaRPr b="1"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170350"/>
            <a:ext cx="85206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2020"/>
              <a:t>Progress</a:t>
            </a:r>
            <a:endParaRPr sz="2020"/>
          </a:p>
        </p:txBody>
      </p:sp>
      <p:sp>
        <p:nvSpPr>
          <p:cNvPr id="86" name="Google Shape;86;p17"/>
          <p:cNvSpPr txBox="1"/>
          <p:nvPr>
            <p:ph idx="1" type="body"/>
          </p:nvPr>
        </p:nvSpPr>
        <p:spPr>
          <a:xfrm>
            <a:off x="280950" y="654875"/>
            <a:ext cx="8582100" cy="4178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390">
                <a:solidFill>
                  <a:schemeClr val="dk1"/>
                </a:solidFill>
              </a:rPr>
              <a:t>This week, Car and </a:t>
            </a:r>
            <a:r>
              <a:rPr lang="en" sz="1390">
                <a:solidFill>
                  <a:schemeClr val="dk1"/>
                </a:solidFill>
              </a:rPr>
              <a:t>I</a:t>
            </a:r>
            <a:r>
              <a:rPr lang="en" sz="1390">
                <a:solidFill>
                  <a:schemeClr val="dk1"/>
                </a:solidFill>
              </a:rPr>
              <a:t> answered the following curious questions from the </a:t>
            </a:r>
            <a:r>
              <a:rPr lang="en" sz="1390">
                <a:solidFill>
                  <a:schemeClr val="dk1"/>
                </a:solidFill>
              </a:rPr>
              <a:t>previous</a:t>
            </a:r>
            <a:r>
              <a:rPr lang="en" sz="1390">
                <a:solidFill>
                  <a:schemeClr val="dk1"/>
                </a:solidFill>
              </a:rPr>
              <a:t> Mini-Update #1:</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How do differing job fields impact physical activity levels?</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Are doctors more physically active than non-doctors?</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I came up with another curious question: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How do the stress levels of doctors and nurses compare to all other occupations?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As for obstacles, I had trouble figuring out some code, but I contacted Carl on Discord for help. Some other resources I used include the textbook, AI, and previous labs and homeworks.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Carlyn and I both contributed to the project this week. We filled out the spreadsheet and put our names on the slides that we covered in this update. </a:t>
            </a:r>
            <a:endParaRPr sz="1390">
              <a:solidFill>
                <a:schemeClr val="dk1"/>
              </a:solidFill>
            </a:endParaRPr>
          </a:p>
          <a:p>
            <a:pPr indent="0" lvl="0" marL="0" rtl="0" algn="l">
              <a:lnSpc>
                <a:spcPct val="95000"/>
              </a:lnSpc>
              <a:spcBef>
                <a:spcPts val="1200"/>
              </a:spcBef>
              <a:spcAft>
                <a:spcPts val="0"/>
              </a:spcAft>
              <a:buSzPts val="935"/>
              <a:buNone/>
            </a:pPr>
            <a:r>
              <a:rPr lang="en" sz="1390">
                <a:solidFill>
                  <a:schemeClr val="dk1"/>
                </a:solidFill>
              </a:rPr>
              <a:t>As for next week, our plan is to: </a:t>
            </a:r>
            <a:endParaRPr sz="1390">
              <a:solidFill>
                <a:schemeClr val="dk1"/>
              </a:solidFill>
            </a:endParaRPr>
          </a:p>
          <a:p>
            <a:pPr indent="-316865" lvl="0" marL="457200" rtl="0" algn="l">
              <a:lnSpc>
                <a:spcPct val="95000"/>
              </a:lnSpc>
              <a:spcBef>
                <a:spcPts val="1200"/>
              </a:spcBef>
              <a:spcAft>
                <a:spcPts val="0"/>
              </a:spcAft>
              <a:buClr>
                <a:schemeClr val="dk1"/>
              </a:buClr>
              <a:buSzPts val="1390"/>
              <a:buChar char="●"/>
            </a:pPr>
            <a:r>
              <a:rPr lang="en" sz="1390">
                <a:solidFill>
                  <a:schemeClr val="dk1"/>
                </a:solidFill>
              </a:rPr>
              <a:t>Answer 2-3 more curious questions</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Ask professor or TA’s in class for suggestions on how to come up with more creative ways to analyze the dataset using different types of graphs (we only used bar charts this week, maybe we should try other plots in the future?) </a:t>
            </a:r>
            <a:endParaRPr sz="1390">
              <a:solidFill>
                <a:schemeClr val="dk1"/>
              </a:solidFill>
            </a:endParaRPr>
          </a:p>
          <a:p>
            <a:pPr indent="-316865" lvl="0" marL="457200" rtl="0" algn="l">
              <a:lnSpc>
                <a:spcPct val="95000"/>
              </a:lnSpc>
              <a:spcBef>
                <a:spcPts val="0"/>
              </a:spcBef>
              <a:spcAft>
                <a:spcPts val="0"/>
              </a:spcAft>
              <a:buClr>
                <a:schemeClr val="dk1"/>
              </a:buClr>
              <a:buSzPts val="1390"/>
              <a:buChar char="●"/>
            </a:pPr>
            <a:r>
              <a:rPr lang="en" sz="1390">
                <a:solidFill>
                  <a:schemeClr val="dk1"/>
                </a:solidFill>
              </a:rPr>
              <a:t>Come up with new questions and insights </a:t>
            </a:r>
            <a:endParaRPr sz="1390">
              <a:solidFill>
                <a:schemeClr val="dk1"/>
              </a:solidFill>
            </a:endParaRPr>
          </a:p>
        </p:txBody>
      </p:sp>
      <p:sp>
        <p:nvSpPr>
          <p:cNvPr id="87" name="Google Shape;87;p17"/>
          <p:cNvSpPr txBox="1"/>
          <p:nvPr/>
        </p:nvSpPr>
        <p:spPr>
          <a:xfrm>
            <a:off x="0" y="0"/>
            <a:ext cx="1362000" cy="2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By Brittany Huynh </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p:txBody>
      </p:sp>
      <p:sp>
        <p:nvSpPr>
          <p:cNvPr id="93" name="Google Shape;93;p18"/>
          <p:cNvSpPr txBox="1"/>
          <p:nvPr>
            <p:ph idx="1" type="body"/>
          </p:nvPr>
        </p:nvSpPr>
        <p:spPr>
          <a:xfrm>
            <a:off x="311700" y="1152475"/>
            <a:ext cx="8582100" cy="38397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None/>
            </a:pPr>
            <a:r>
              <a:rPr lang="en">
                <a:solidFill>
                  <a:schemeClr val="dk1"/>
                </a:solidFill>
                <a:latin typeface="Open Sans"/>
                <a:ea typeface="Open Sans"/>
                <a:cs typeface="Open Sans"/>
                <a:sym typeface="Open Sans"/>
              </a:rPr>
              <a:t>The feedback that we </a:t>
            </a:r>
            <a:r>
              <a:rPr lang="en">
                <a:solidFill>
                  <a:schemeClr val="dk1"/>
                </a:solidFill>
                <a:latin typeface="Open Sans"/>
                <a:ea typeface="Open Sans"/>
                <a:cs typeface="Open Sans"/>
                <a:sym typeface="Open Sans"/>
              </a:rPr>
              <a:t>received</a:t>
            </a:r>
            <a:r>
              <a:rPr lang="en">
                <a:solidFill>
                  <a:schemeClr val="dk1"/>
                </a:solidFill>
                <a:latin typeface="Open Sans"/>
                <a:ea typeface="Open Sans"/>
                <a:cs typeface="Open Sans"/>
                <a:sym typeface="Open Sans"/>
              </a:rPr>
              <a:t> was that we were missing our data profile so we addressed it by adding a data profile to the mini update #1. The feedback did seem useful as it helped us evaluate our data better and made us realize that we should be cleaning and filtering like values and those that are null. Additional feedback that could benefit us is how to expand upon our questions as well as simplify our methods to extract this information. It would also be helpful if we could get some guidance on how to create more questions to get more </a:t>
            </a:r>
            <a:r>
              <a:rPr lang="en">
                <a:solidFill>
                  <a:schemeClr val="dk1"/>
                </a:solidFill>
                <a:latin typeface="Open Sans"/>
                <a:ea typeface="Open Sans"/>
                <a:cs typeface="Open Sans"/>
                <a:sym typeface="Open Sans"/>
              </a:rPr>
              <a:t>information</a:t>
            </a:r>
            <a:r>
              <a:rPr lang="en">
                <a:solidFill>
                  <a:schemeClr val="dk1"/>
                </a:solidFill>
                <a:latin typeface="Open Sans"/>
                <a:ea typeface="Open Sans"/>
                <a:cs typeface="Open Sans"/>
                <a:sym typeface="Open Sans"/>
              </a:rPr>
              <a:t> out of our data. </a:t>
            </a:r>
            <a:endParaRPr>
              <a:solidFill>
                <a:schemeClr val="dk1"/>
              </a:solidFill>
              <a:latin typeface="Open Sans"/>
              <a:ea typeface="Open Sans"/>
              <a:cs typeface="Open Sans"/>
              <a:sym typeface="Open Sans"/>
            </a:endParaRPr>
          </a:p>
          <a:p>
            <a:pPr indent="0" lvl="0" marL="0" rtl="0" algn="l">
              <a:spcBef>
                <a:spcPts val="1600"/>
              </a:spcBef>
              <a:spcAft>
                <a:spcPts val="1200"/>
              </a:spcAft>
              <a:buNone/>
            </a:pPr>
            <a:r>
              <a:t/>
            </a:r>
            <a:endParaRPr b="1"/>
          </a:p>
        </p:txBody>
      </p:sp>
      <p:sp>
        <p:nvSpPr>
          <p:cNvPr id="94" name="Google Shape;94;p18"/>
          <p:cNvSpPr txBox="1"/>
          <p:nvPr/>
        </p:nvSpPr>
        <p:spPr>
          <a:xfrm>
            <a:off x="0" y="0"/>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By Carlyn Mangana</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