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6.xml"/>
  <Override ContentType="application/vnd.openxmlformats-officedocument.presentationml.comments+xml" PartName="/ppt/comments/comment3.xml"/>
  <Override ContentType="application/vnd.openxmlformats-officedocument.presentationml.comments+xml" PartName="/ppt/comments/comment13.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5143500" cx="9144000"/>
  <p:notesSz cx="6858000" cy="9144000"/>
  <p:embeddedFontLst>
    <p:embeddedFont>
      <p:font typeface="Roboto"/>
      <p:regular r:id="rId48"/>
      <p:bold r:id="rId49"/>
      <p:italic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97">
          <p15:clr>
            <a:srgbClr val="747775"/>
          </p15:clr>
        </p15:guide>
        <p15:guide id="2" pos="2808">
          <p15:clr>
            <a:srgbClr val="747775"/>
          </p15:clr>
        </p15:guide>
        <p15:guide id="3" orient="horz" pos="243">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60A365-C878-4280-91D2-AB27923DEEC6}">
  <a:tblStyle styleId="{F160A365-C878-4280-91D2-AB27923DEEC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A7AF24E-F94E-4A8A-87FC-174C720197C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97" orient="horz"/>
        <p:guide pos="2808"/>
        <p:guide pos="24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regular.fntdata"/><Relationship Id="rId47" Type="http://schemas.openxmlformats.org/officeDocument/2006/relationships/slide" Target="slides/slide40.xml"/><Relationship Id="rId49" Type="http://schemas.openxmlformats.org/officeDocument/2006/relationships/font" Target="fonts/Roboto-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4.xml"/><Relationship Id="rId55" Type="http://schemas.openxmlformats.org/officeDocument/2006/relationships/font" Target="fonts/OpenSans-boldItalic.fntdata"/><Relationship Id="rId10" Type="http://schemas.openxmlformats.org/officeDocument/2006/relationships/slide" Target="slides/slide3.xml"/><Relationship Id="rId54" Type="http://schemas.openxmlformats.org/officeDocument/2006/relationships/font" Target="fonts/OpenSans-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01T04:30:37.303">
    <p:pos x="196" y="469"/>
    <p:text>@bhuynh4@umbc.edu @c265@umbc.edu I really enjoy reading your work. Deep and insightful. You really getting to the heart of data science. Great job.</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5-01T04:23:32.553">
    <p:pos x="472" y="523"/>
    <p:text>@bhuynh4@umbc.edu suggest bar chart instead pie chart https://www.atlassian.com/data/charts/how-to-choose-pie-chart-vs-bar-chart#:~:text=Overall%2C%20the%20bar%20chart%20is,safe%20with%20a%20bar%20chart.</p:text>
  </p:cm>
  <p:cm authorId="0" idx="3" dt="2025-05-01T04:21:59.443">
    <p:pos x="2008" y="712"/>
    <p:text>in your polished version, reducing number of significant figures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5-01T04:21:33.891">
    <p:pos x="990" y="137"/>
    <p:text>cool presentation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5-01T04:27:35.682">
    <p:pos x="196" y="557"/>
    <p:text>uhm, I am not very convinced by this. This seems to be out of palace w/ your discussion about sleep and stress. @c265@umbc.edu</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5-01T04:29:29.951">
    <p:pos x="73" y="222"/>
    <p:text>very nice, good try.  I suggest combined those two test together (plot mean and confidence interval) or treat it as a permuation test to see whether STEM/Non-STEM correlate with stress level (similar to baby weight and mother smoke status). @c265@umbc.edu</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04-22T23:50:33.323">
    <p:pos x="353" y="187"/>
    <p:text>@bhuynh4@umbc.edu excellent!</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04-22T23:52:48.093">
    <p:pos x="599" y="933"/>
    <p:text>@bhuynh4@umbc.edu this is great, I would like suggest an alternative plot, scatter plot of stress and sleep duration, this will make your claim on relationship between the two variables easier to understand</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5-04-22T23:53:28.795">
    <p:pos x="3710" y="810"/>
    <p:text>@bhuynh4@umbc.edu this is fantastic</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5-04-22T23:55:36.989">
    <p:pos x="601" y="1386"/>
    <p:text>@c265@umbc.edu interesting idea, however, it is typically not a good idea to plot the variable of different type in the same plot. It is better to plot sleep quality and stress level in different plot</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5-04-22T23:56:01.630">
    <p:pos x="196" y="557"/>
    <p:text>interesting source</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5-04-22T23:56:44.738">
    <p:pos x="3055" y="1039"/>
    <p:text>@c265@umbc.edu interesting, are they significantly different? consider run hypothesis test</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5-04-22T23:58:40.041">
    <p:pos x="176" y="821"/>
    <p:text>@bhuynh4@umbc.edu @c265@umbc.edu your team did a great job, generating a lot of interesting insights. Definitely on the right track. Now you have more inference tool, you could answer deeper questions, for example, whether the different are by chance or significant.</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5-04-08T22:46:38.994">
    <p:pos x="162" y="334"/>
    <p:text>thank you. You don't need to put google collab screen shot here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4b8d587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4b8d587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4b8d587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4b8d587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4b8d587c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4b8d587c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54b8d587c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54b8d587c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4b8d587c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4b8d587c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54b8d587c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54b8d587c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4b8d587c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4b8d587c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fb24f8d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fb24f8d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fb24f8d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fb24f8da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fb24f8da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fb24f8da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08d5507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508d5507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fb24f8da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fb24f8da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fb24f8da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fb24f8da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fb24f8da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fb24f8da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09739836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09739836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fb24f8da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fb24f8da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fb24f8da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fb24f8da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d8e6f864c_1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4d8e6f864c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d8e6f864c_1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d8e6f864c_1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d8e6f864c_1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4d8e6f864c_1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d8e6f864c_1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4d8e6f864c_1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db83791b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4db83791b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db83791b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4db83791b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4db83791b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4db83791b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db621c6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4db621c6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db83791b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4db83791b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4b8d587c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4b8d587c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4b8d587c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54b8d587c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54b8d587c5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54b8d587c5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4b8d587c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54b8d587c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4b8d587c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54b8d587c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4b8d587c5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54b8d587c5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92ca9e4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492ca9e4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b764c8f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b764c8f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b764c8f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b764c8f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b764c8f0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b764c8f0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492ca9e4e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492ca9e4e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92ca9e4e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492ca9e4e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493197cc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493197cc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10.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comments" Target="../comments/comment3.xml"/><Relationship Id="rId4" Type="http://schemas.openxmlformats.org/officeDocument/2006/relationships/image" Target="../media/image26.png"/><Relationship Id="rId5" Type="http://schemas.openxmlformats.org/officeDocument/2006/relationships/hyperlink" Target="https://iheartcraftythings.com/cartoon-woman-drawing.html" TargetMode="External"/><Relationship Id="rId6" Type="http://schemas.openxmlformats.org/officeDocument/2006/relationships/hyperlink" Target="https://my.clevelandclinic.org/health/articles/9464-body-mass-index-bmi#:~:text=What%20is%20a%20healthy%20BMI,of%20developing%20certain%20medical%20condition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4.xml"/><Relationship Id="rId4" Type="http://schemas.openxmlformats.org/officeDocument/2006/relationships/image" Target="../media/image2.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5.xml"/><Relationship Id="rId4" Type="http://schemas.openxmlformats.org/officeDocument/2006/relationships/image" Target="../media/image14.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6.xml"/><Relationship Id="rId4" Type="http://schemas.openxmlformats.org/officeDocument/2006/relationships/hyperlink" Target="https://www.orlandohealth.com/content-hub/does-sleeping-well-help-you-lose-weight" TargetMode="External"/><Relationship Id="rId5" Type="http://schemas.openxmlformats.org/officeDocument/2006/relationships/image" Target="../media/image5.png"/><Relationship Id="rId6" Type="http://schemas.openxmlformats.org/officeDocument/2006/relationships/image" Target="../media/image21.png"/><Relationship Id="rId7"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7.xml"/><Relationship Id="rId4" Type="http://schemas.openxmlformats.org/officeDocument/2006/relationships/image" Target="../media/image13.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8.xml"/><Relationship Id="rId4" Type="http://schemas.openxmlformats.org/officeDocument/2006/relationships/image" Target="../media/image16.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9.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omments" Target="../comments/comment10.xml"/><Relationship Id="rId4" Type="http://schemas.openxmlformats.org/officeDocument/2006/relationships/hyperlink" Target="https://pmc.ncbi.nlm.nih.gov/articles/PMC10266850/#:~:text=Results,burnout%20rate%20among%20women%20physician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comments" Target="../comments/comment11.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cdc.gov/mmwr/volumes/72/wr/mm7244e1.htm#:~:text=Results:%20From%202018%20to%202022%2C%20health%20workers,burnout%20very%20often%20(11.6%%20to%2019.0%)%20increased." TargetMode="External"/><Relationship Id="rId4" Type="http://schemas.openxmlformats.org/officeDocument/2006/relationships/image" Target="../media/image7.png"/><Relationship Id="rId5"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hyperlink" Target="https://www.cdc.gov/mmwr/volumes/72/wr/mm7244e1.htm#:~:text=Results:%20From%202018%20to%202022%2C%20health%20workers,burnout%20very%20often%20(11.6%%20to%2019.0%)%20increase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comments" Target="../comments/comment1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a:t>
            </a:r>
            <a:r>
              <a:rPr lang="en"/>
              <a:t>5</a:t>
            </a:r>
            <a:endParaRPr/>
          </a:p>
        </p:txBody>
      </p:sp>
      <p:sp>
        <p:nvSpPr>
          <p:cNvPr id="55" name="Google Shape;55;p13"/>
          <p:cNvSpPr txBox="1"/>
          <p:nvPr>
            <p:ph idx="1" type="subTitle"/>
          </p:nvPr>
        </p:nvSpPr>
        <p:spPr>
          <a:xfrm>
            <a:off x="311700" y="2834125"/>
            <a:ext cx="8520600" cy="984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sz="2300"/>
              <a:t>By Brittany Huynh and Carlyn Mangana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05/04/2025</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570925" y="224395"/>
            <a:ext cx="81315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Date Insight</a:t>
            </a:r>
            <a:endParaRPr b="1" sz="2220"/>
          </a:p>
        </p:txBody>
      </p:sp>
      <p:sp>
        <p:nvSpPr>
          <p:cNvPr id="61" name="Google Shape;61;p14"/>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
        <p:nvSpPr>
          <p:cNvPr id="62" name="Google Shape;62;p14"/>
          <p:cNvSpPr txBox="1"/>
          <p:nvPr/>
        </p:nvSpPr>
        <p:spPr>
          <a:xfrm>
            <a:off x="535200" y="982925"/>
            <a:ext cx="5598000" cy="1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Type here</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
        <p:nvSpPr>
          <p:cNvPr id="68" name="Google Shape;68;p15"/>
          <p:cNvSpPr txBox="1"/>
          <p:nvPr>
            <p:ph type="title"/>
          </p:nvPr>
        </p:nvSpPr>
        <p:spPr>
          <a:xfrm>
            <a:off x="506250" y="284995"/>
            <a:ext cx="81315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891"/>
              <a:buNone/>
            </a:pPr>
            <a:r>
              <a:rPr b="1" lang="en" sz="1798"/>
              <a:t>Date Insight</a:t>
            </a:r>
            <a:endParaRPr b="1" sz="1798"/>
          </a:p>
        </p:txBody>
      </p:sp>
      <p:sp>
        <p:nvSpPr>
          <p:cNvPr id="69" name="Google Shape;69;p15"/>
          <p:cNvSpPr txBox="1"/>
          <p:nvPr/>
        </p:nvSpPr>
        <p:spPr>
          <a:xfrm>
            <a:off x="3075950" y="2833150"/>
            <a:ext cx="5598000" cy="1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Type here</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Insights</a:t>
            </a:r>
            <a:endParaRPr/>
          </a:p>
        </p:txBody>
      </p:sp>
      <p:sp>
        <p:nvSpPr>
          <p:cNvPr id="75" name="Google Shape;75;p16"/>
          <p:cNvSpPr txBox="1"/>
          <p:nvPr>
            <p:ph idx="1" type="body"/>
          </p:nvPr>
        </p:nvSpPr>
        <p:spPr>
          <a:xfrm>
            <a:off x="311700" y="884925"/>
            <a:ext cx="8071800" cy="1133400"/>
          </a:xfrm>
          <a:prstGeom prst="rect">
            <a:avLst/>
          </a:prstGeom>
        </p:spPr>
        <p:txBody>
          <a:bodyPr anchorCtr="0" anchor="t" bIns="91425" lIns="91425" spcFirstLastPara="1" rIns="91425" wrap="square" tIns="91425">
            <a:noAutofit/>
          </a:bodyPr>
          <a:lstStyle/>
          <a:p>
            <a:pPr indent="-316230" lvl="1" marL="914400" rtl="0" algn="l">
              <a:lnSpc>
                <a:spcPct val="95000"/>
              </a:lnSpc>
              <a:spcBef>
                <a:spcPts val="0"/>
              </a:spcBef>
              <a:spcAft>
                <a:spcPts val="0"/>
              </a:spcAft>
              <a:buClr>
                <a:srgbClr val="695D46"/>
              </a:buClr>
              <a:buSzPts val="1380"/>
              <a:buFont typeface="Open Sans"/>
              <a:buChar char="○"/>
            </a:pPr>
            <a:r>
              <a:rPr lang="en" sz="1380">
                <a:solidFill>
                  <a:srgbClr val="695D46"/>
                </a:solidFill>
                <a:latin typeface="Open Sans"/>
                <a:ea typeface="Open Sans"/>
                <a:cs typeface="Open Sans"/>
                <a:sym typeface="Open Sans"/>
              </a:rPr>
              <a:t>Type here</a:t>
            </a:r>
            <a:endParaRPr b="1" sz="1380"/>
          </a:p>
        </p:txBody>
      </p:sp>
      <p:sp>
        <p:nvSpPr>
          <p:cNvPr id="76" name="Google Shape;76;p16"/>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82" name="Google Shape;82;p17"/>
          <p:cNvSpPr txBox="1"/>
          <p:nvPr>
            <p:ph idx="1" type="body"/>
          </p:nvPr>
        </p:nvSpPr>
        <p:spPr>
          <a:xfrm>
            <a:off x="311700" y="884925"/>
            <a:ext cx="8089800" cy="1133400"/>
          </a:xfrm>
          <a:prstGeom prst="rect">
            <a:avLst/>
          </a:prstGeom>
        </p:spPr>
        <p:txBody>
          <a:bodyPr anchorCtr="0" anchor="t" bIns="91425" lIns="91425" spcFirstLastPara="1" rIns="91425" wrap="square" tIns="91425">
            <a:noAutofit/>
          </a:bodyPr>
          <a:lstStyle/>
          <a:p>
            <a:pPr indent="-335280" lvl="1" marL="9144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Type here</a:t>
            </a:r>
            <a:endParaRPr sz="1679">
              <a:solidFill>
                <a:srgbClr val="695D46"/>
              </a:solidFill>
              <a:latin typeface="Open Sans"/>
              <a:ea typeface="Open Sans"/>
              <a:cs typeface="Open Sans"/>
              <a:sym typeface="Open Sans"/>
            </a:endParaRPr>
          </a:p>
        </p:txBody>
      </p:sp>
      <p:sp>
        <p:nvSpPr>
          <p:cNvPr id="83" name="Google Shape;83;p17"/>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337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020"/>
              <a:t>Progress</a:t>
            </a:r>
            <a:endParaRPr sz="2020"/>
          </a:p>
        </p:txBody>
      </p:sp>
      <p:sp>
        <p:nvSpPr>
          <p:cNvPr id="89" name="Google Shape;89;p18"/>
          <p:cNvSpPr txBox="1"/>
          <p:nvPr/>
        </p:nvSpPr>
        <p:spPr>
          <a:xfrm>
            <a:off x="0" y="0"/>
            <a:ext cx="2765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and Car Mangana</a:t>
            </a:r>
            <a:endParaRPr sz="1100">
              <a:solidFill>
                <a:schemeClr val="dk1"/>
              </a:solidFill>
            </a:endParaRPr>
          </a:p>
        </p:txBody>
      </p:sp>
      <p:sp>
        <p:nvSpPr>
          <p:cNvPr id="90" name="Google Shape;90;p18"/>
          <p:cNvSpPr txBox="1"/>
          <p:nvPr>
            <p:ph idx="1" type="body"/>
          </p:nvPr>
        </p:nvSpPr>
        <p:spPr>
          <a:xfrm>
            <a:off x="280950" y="594300"/>
            <a:ext cx="8582100" cy="3762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390">
                <a:solidFill>
                  <a:schemeClr val="dk1"/>
                </a:solidFill>
              </a:rPr>
              <a:t>This week, Car and Brittany answered the following curious questions:</a:t>
            </a:r>
            <a:endParaRPr sz="1390">
              <a:solidFill>
                <a:schemeClr val="dk1"/>
              </a:solidFill>
            </a:endParaRPr>
          </a:p>
          <a:p>
            <a:pPr indent="-311150" lvl="0" marL="457200" rtl="0" algn="l">
              <a:spcBef>
                <a:spcPts val="1200"/>
              </a:spcBef>
              <a:spcAft>
                <a:spcPts val="0"/>
              </a:spcAft>
              <a:buClr>
                <a:schemeClr val="dk1"/>
              </a:buClr>
              <a:buSzPts val="1300"/>
              <a:buChar char="●"/>
            </a:pPr>
            <a:r>
              <a:t/>
            </a:r>
            <a:endParaRPr sz="1300">
              <a:solidFill>
                <a:schemeClr val="dk1"/>
              </a:solidFill>
            </a:endParaRPr>
          </a:p>
          <a:p>
            <a:pPr indent="0" lvl="0" marL="0" rtl="0" algn="l">
              <a:lnSpc>
                <a:spcPct val="95000"/>
              </a:lnSpc>
              <a:spcBef>
                <a:spcPts val="0"/>
              </a:spcBef>
              <a:spcAft>
                <a:spcPts val="0"/>
              </a:spcAft>
              <a:buSzPts val="935"/>
              <a:buNone/>
            </a:pPr>
            <a:r>
              <a:rPr lang="en" sz="1390">
                <a:solidFill>
                  <a:schemeClr val="dk1"/>
                </a:solidFill>
              </a:rPr>
              <a:t>Brittany didn’t face many major obstacles, but she struggled to come up with new questions to answer.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 also didn't face any major obstacles, however, she struggled to do the estimation on her own as it’s a new skill she had just learned.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Carlyn and Brittany both contributed to the project this week. They filled out the spreadsheet and put their names on the slides that they covered in this update.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next week, the plan is to: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Start working on the Final Deliverable (Brainstorming, outlining, drafting, etc.)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Create the presentation or video</a:t>
            </a:r>
            <a:endParaRPr sz="139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96" name="Google Shape;96;p19"/>
          <p:cNvSpPr txBox="1"/>
          <p:nvPr>
            <p:ph idx="1" type="body"/>
          </p:nvPr>
        </p:nvSpPr>
        <p:spPr>
          <a:xfrm>
            <a:off x="280950" y="1303800"/>
            <a:ext cx="8582100" cy="38397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a:solidFill>
                  <a:schemeClr val="dk1"/>
                </a:solidFill>
                <a:latin typeface="Open Sans"/>
                <a:ea typeface="Open Sans"/>
                <a:cs typeface="Open Sans"/>
                <a:sym typeface="Open Sans"/>
              </a:rPr>
              <a:t>The feedback we received was really helpful in teaching us how to read our data better. We also were able to take the feedback we were told and generate better insights using the data we’ve already collected. With the new methods we’ve learned like permutation and estimation, we were able to learn new things about our data set. We’d love to hear what data we should reduce down in order to make our final project look more put together. </a:t>
            </a:r>
            <a:endParaRPr>
              <a:solidFill>
                <a:schemeClr val="dk1"/>
              </a:solidFill>
              <a:latin typeface="Open Sans"/>
              <a:ea typeface="Open Sans"/>
              <a:cs typeface="Open Sans"/>
              <a:sym typeface="Open Sans"/>
            </a:endParaRPr>
          </a:p>
          <a:p>
            <a:pPr indent="0" lvl="0" marL="0" rtl="0" algn="l">
              <a:spcBef>
                <a:spcPts val="1600"/>
              </a:spcBef>
              <a:spcAft>
                <a:spcPts val="0"/>
              </a:spcAft>
              <a:buNone/>
            </a:pPr>
            <a:r>
              <a:t/>
            </a:r>
            <a:endParaRPr>
              <a:solidFill>
                <a:schemeClr val="dk1"/>
              </a:solidFill>
              <a:latin typeface="Open Sans"/>
              <a:ea typeface="Open Sans"/>
              <a:cs typeface="Open Sans"/>
              <a:sym typeface="Open Sans"/>
            </a:endParaRPr>
          </a:p>
          <a:p>
            <a:pPr indent="0" lvl="0" marL="0" rtl="0" algn="l">
              <a:spcBef>
                <a:spcPts val="1600"/>
              </a:spcBef>
              <a:spcAft>
                <a:spcPts val="1200"/>
              </a:spcAft>
              <a:buNone/>
            </a:pPr>
            <a:r>
              <a:t/>
            </a:r>
            <a:endParaRPr b="1"/>
          </a:p>
        </p:txBody>
      </p:sp>
      <p:sp>
        <p:nvSpPr>
          <p:cNvPr id="97" name="Google Shape;97;p19"/>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a:t>
            </a:r>
            <a:r>
              <a:rPr lang="en"/>
              <a:t>4</a:t>
            </a:r>
            <a:endParaRPr/>
          </a:p>
        </p:txBody>
      </p:sp>
      <p:sp>
        <p:nvSpPr>
          <p:cNvPr id="103" name="Google Shape;103;p20"/>
          <p:cNvSpPr txBox="1"/>
          <p:nvPr>
            <p:ph idx="1" type="subTitle"/>
          </p:nvPr>
        </p:nvSpPr>
        <p:spPr>
          <a:xfrm>
            <a:off x="311700" y="2834125"/>
            <a:ext cx="8520600" cy="984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sz="2300"/>
              <a:t>By Brittany Huynh and Carlyn Mangana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04/27/2025</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570925" y="224395"/>
            <a:ext cx="8131500" cy="630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2220"/>
              <a:t>Permutation Test: Age vs. Stress Level</a:t>
            </a:r>
            <a:endParaRPr b="1" sz="2220"/>
          </a:p>
        </p:txBody>
      </p:sp>
      <p:sp>
        <p:nvSpPr>
          <p:cNvPr id="109" name="Google Shape;109;p21"/>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cxnSp>
        <p:nvCxnSpPr>
          <p:cNvPr id="110" name="Google Shape;110;p21"/>
          <p:cNvCxnSpPr/>
          <p:nvPr/>
        </p:nvCxnSpPr>
        <p:spPr>
          <a:xfrm>
            <a:off x="1138000" y="1123000"/>
            <a:ext cx="2100" cy="1593000"/>
          </a:xfrm>
          <a:prstGeom prst="straightConnector1">
            <a:avLst/>
          </a:prstGeom>
          <a:noFill/>
          <a:ln cap="flat" cmpd="sng" w="28575">
            <a:solidFill>
              <a:srgbClr val="FF0000"/>
            </a:solidFill>
            <a:prstDash val="solid"/>
            <a:round/>
            <a:headEnd len="med" w="med" type="none"/>
            <a:tailEnd len="med" w="med" type="triangle"/>
          </a:ln>
        </p:spPr>
      </p:cxnSp>
      <p:pic>
        <p:nvPicPr>
          <p:cNvPr id="111" name="Google Shape;111;p21"/>
          <p:cNvPicPr preferRelativeResize="0"/>
          <p:nvPr/>
        </p:nvPicPr>
        <p:blipFill>
          <a:blip r:embed="rId3">
            <a:alphaModFix/>
          </a:blip>
          <a:stretch>
            <a:fillRect/>
          </a:stretch>
        </p:blipFill>
        <p:spPr>
          <a:xfrm>
            <a:off x="2105368" y="1157800"/>
            <a:ext cx="2630286" cy="1813400"/>
          </a:xfrm>
          <a:prstGeom prst="rect">
            <a:avLst/>
          </a:prstGeom>
          <a:noFill/>
          <a:ln>
            <a:noFill/>
          </a:ln>
        </p:spPr>
      </p:pic>
      <p:sp>
        <p:nvSpPr>
          <p:cNvPr id="112" name="Google Shape;112;p21"/>
          <p:cNvSpPr txBox="1"/>
          <p:nvPr/>
        </p:nvSpPr>
        <p:spPr>
          <a:xfrm>
            <a:off x="271150" y="2648100"/>
            <a:ext cx="1735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t>-0.898752031004</a:t>
            </a:r>
            <a:endParaRPr sz="900"/>
          </a:p>
        </p:txBody>
      </p:sp>
      <p:sp>
        <p:nvSpPr>
          <p:cNvPr id="113" name="Google Shape;113;p21"/>
          <p:cNvSpPr txBox="1"/>
          <p:nvPr/>
        </p:nvSpPr>
        <p:spPr>
          <a:xfrm>
            <a:off x="2145600" y="649900"/>
            <a:ext cx="343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Observed correlation: -0.898752031004</a:t>
            </a:r>
            <a:endParaRPr sz="1050">
              <a:solidFill>
                <a:schemeClr val="dk1"/>
              </a:solidFill>
              <a:highlight>
                <a:srgbClr val="FFFFFF"/>
              </a:highlight>
            </a:endParaRPr>
          </a:p>
          <a:p>
            <a:pPr indent="0" lvl="0" marL="0" rtl="0" algn="l">
              <a:spcBef>
                <a:spcPts val="0"/>
              </a:spcBef>
              <a:spcAft>
                <a:spcPts val="0"/>
              </a:spcAft>
              <a:buNone/>
            </a:pPr>
            <a:r>
              <a:rPr lang="en" sz="1050">
                <a:solidFill>
                  <a:schemeClr val="dk1"/>
                </a:solidFill>
                <a:highlight>
                  <a:srgbClr val="FFFFFF"/>
                </a:highlight>
              </a:rPr>
              <a:t>p-value&lt;0.001</a:t>
            </a:r>
            <a:endParaRPr>
              <a:solidFill>
                <a:schemeClr val="dk1"/>
              </a:solidFill>
            </a:endParaRPr>
          </a:p>
        </p:txBody>
      </p:sp>
      <p:grpSp>
        <p:nvGrpSpPr>
          <p:cNvPr id="114" name="Google Shape;114;p21"/>
          <p:cNvGrpSpPr/>
          <p:nvPr/>
        </p:nvGrpSpPr>
        <p:grpSpPr>
          <a:xfrm>
            <a:off x="358650" y="3385950"/>
            <a:ext cx="8426700" cy="1369800"/>
            <a:chOff x="449300" y="3474325"/>
            <a:chExt cx="8426700" cy="1369800"/>
          </a:xfrm>
        </p:grpSpPr>
        <p:sp>
          <p:nvSpPr>
            <p:cNvPr id="115" name="Google Shape;115;p21"/>
            <p:cNvSpPr txBox="1"/>
            <p:nvPr/>
          </p:nvSpPr>
          <p:spPr>
            <a:xfrm>
              <a:off x="449300" y="3605125"/>
              <a:ext cx="3214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H0: there is no association between Age and Stress Level</a:t>
              </a:r>
              <a:endParaRPr sz="1200">
                <a:solidFill>
                  <a:srgbClr val="0000FF"/>
                </a:solidFill>
              </a:endParaRPr>
            </a:p>
            <a:p>
              <a:pPr indent="0" lvl="0" marL="0" rtl="0" algn="l">
                <a:spcBef>
                  <a:spcPts val="0"/>
                </a:spcBef>
                <a:spcAft>
                  <a:spcPts val="0"/>
                </a:spcAft>
                <a:buNone/>
              </a:pPr>
              <a:r>
                <a:rPr lang="en" sz="1200">
                  <a:solidFill>
                    <a:srgbClr val="0000FF"/>
                  </a:solidFill>
                </a:rPr>
                <a:t> </a:t>
              </a:r>
              <a:endParaRPr sz="1200">
                <a:solidFill>
                  <a:srgbClr val="0000FF"/>
                </a:solidFill>
              </a:endParaRPr>
            </a:p>
            <a:p>
              <a:pPr indent="0" lvl="0" marL="0" rtl="0" algn="l">
                <a:spcBef>
                  <a:spcPts val="0"/>
                </a:spcBef>
                <a:spcAft>
                  <a:spcPts val="0"/>
                </a:spcAft>
                <a:buNone/>
              </a:pPr>
              <a:r>
                <a:rPr lang="en" sz="1200">
                  <a:solidFill>
                    <a:srgbClr val="0000FF"/>
                  </a:solidFill>
                </a:rPr>
                <a:t>H1: Older age is associated with lower stress level and vice versa. </a:t>
              </a:r>
              <a:endParaRPr sz="1200">
                <a:solidFill>
                  <a:srgbClr val="0000FF"/>
                </a:solidFill>
              </a:endParaRPr>
            </a:p>
          </p:txBody>
        </p:sp>
        <p:sp>
          <p:nvSpPr>
            <p:cNvPr id="116" name="Google Shape;116;p21"/>
            <p:cNvSpPr txBox="1"/>
            <p:nvPr/>
          </p:nvSpPr>
          <p:spPr>
            <a:xfrm>
              <a:off x="3664100" y="3474325"/>
              <a:ext cx="5211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00FF"/>
                  </a:solidFill>
                </a:rPr>
                <a:t>Conclusion</a:t>
              </a:r>
              <a:r>
                <a:rPr lang="en" sz="1100">
                  <a:solidFill>
                    <a:srgbClr val="0000FF"/>
                  </a:solidFill>
                </a:rPr>
                <a:t>: </a:t>
              </a:r>
              <a:endParaRPr sz="1100">
                <a:solidFill>
                  <a:srgbClr val="0000FF"/>
                </a:solidFill>
              </a:endParaRPr>
            </a:p>
            <a:p>
              <a:pPr indent="-298450" lvl="0" marL="457200" rtl="0" algn="l">
                <a:spcBef>
                  <a:spcPts val="0"/>
                </a:spcBef>
                <a:spcAft>
                  <a:spcPts val="0"/>
                </a:spcAft>
                <a:buClr>
                  <a:srgbClr val="0000FF"/>
                </a:buClr>
                <a:buSzPts val="1100"/>
                <a:buChar char="●"/>
              </a:pPr>
              <a:r>
                <a:rPr b="1" lang="en" sz="1100">
                  <a:solidFill>
                    <a:srgbClr val="0000FF"/>
                  </a:solidFill>
                </a:rPr>
                <a:t>Layman’s version:</a:t>
              </a:r>
              <a:r>
                <a:rPr lang="en" sz="1100">
                  <a:solidFill>
                    <a:srgbClr val="0000FF"/>
                  </a:solidFill>
                </a:rPr>
                <a:t> there is strong evidence supporting the claim that older age is associated with lower stress level. </a:t>
              </a:r>
              <a:endParaRPr sz="1100">
                <a:solidFill>
                  <a:srgbClr val="0000FF"/>
                </a:solidFill>
              </a:endParaRPr>
            </a:p>
            <a:p>
              <a:pPr indent="-298450" lvl="0" marL="457200" rtl="0" algn="l">
                <a:spcBef>
                  <a:spcPts val="0"/>
                </a:spcBef>
                <a:spcAft>
                  <a:spcPts val="0"/>
                </a:spcAft>
                <a:buClr>
                  <a:srgbClr val="0000FF"/>
                </a:buClr>
                <a:buSzPts val="1100"/>
                <a:buChar char="●"/>
              </a:pPr>
              <a:r>
                <a:rPr b="1" lang="en" sz="1100">
                  <a:solidFill>
                    <a:srgbClr val="0000FF"/>
                  </a:solidFill>
                </a:rPr>
                <a:t>Scientific version: </a:t>
              </a:r>
              <a:r>
                <a:rPr lang="en" sz="1100">
                  <a:solidFill>
                    <a:srgbClr val="0000FF"/>
                  </a:solidFill>
                </a:rPr>
                <a:t>assuming null hypothesis that there is no relationship between age and stress level, the chance of seeing a difference at -0.899 or larger is less than 0.001. We reject the null hypothesis at a significance level of 0.001</a:t>
              </a:r>
              <a:endParaRPr sz="1100">
                <a:solidFill>
                  <a:srgbClr val="0000FF"/>
                </a:solidFill>
              </a:endParaRPr>
            </a:p>
          </p:txBody>
        </p:sp>
      </p:grpSp>
      <p:pic>
        <p:nvPicPr>
          <p:cNvPr id="117" name="Google Shape;117;p21"/>
          <p:cNvPicPr preferRelativeResize="0"/>
          <p:nvPr/>
        </p:nvPicPr>
        <p:blipFill>
          <a:blip r:embed="rId4">
            <a:alphaModFix/>
          </a:blip>
          <a:stretch>
            <a:fillRect/>
          </a:stretch>
        </p:blipFill>
        <p:spPr>
          <a:xfrm>
            <a:off x="5444450" y="1123000"/>
            <a:ext cx="2022705" cy="190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123" name="Google Shape;123;p22"/>
          <p:cNvPicPr preferRelativeResize="0"/>
          <p:nvPr/>
        </p:nvPicPr>
        <p:blipFill>
          <a:blip r:embed="rId4">
            <a:alphaModFix/>
          </a:blip>
          <a:stretch>
            <a:fillRect/>
          </a:stretch>
        </p:blipFill>
        <p:spPr>
          <a:xfrm>
            <a:off x="749525" y="831101"/>
            <a:ext cx="2169150" cy="1869250"/>
          </a:xfrm>
          <a:prstGeom prst="rect">
            <a:avLst/>
          </a:prstGeom>
          <a:noFill/>
          <a:ln>
            <a:noFill/>
          </a:ln>
        </p:spPr>
      </p:pic>
      <p:pic>
        <p:nvPicPr>
          <p:cNvPr id="124" name="Google Shape;124;p22"/>
          <p:cNvPicPr preferRelativeResize="0"/>
          <p:nvPr/>
        </p:nvPicPr>
        <p:blipFill>
          <a:blip r:embed="rId5">
            <a:alphaModFix/>
          </a:blip>
          <a:stretch>
            <a:fillRect/>
          </a:stretch>
        </p:blipFill>
        <p:spPr>
          <a:xfrm>
            <a:off x="860975" y="2833475"/>
            <a:ext cx="1825729" cy="2013550"/>
          </a:xfrm>
          <a:prstGeom prst="rect">
            <a:avLst/>
          </a:prstGeom>
          <a:noFill/>
          <a:ln>
            <a:noFill/>
          </a:ln>
        </p:spPr>
      </p:pic>
      <p:graphicFrame>
        <p:nvGraphicFramePr>
          <p:cNvPr id="125" name="Google Shape;125;p22"/>
          <p:cNvGraphicFramePr/>
          <p:nvPr/>
        </p:nvGraphicFramePr>
        <p:xfrm>
          <a:off x="3188000" y="1131125"/>
          <a:ext cx="3000000" cy="3000000"/>
        </p:xfrm>
        <a:graphic>
          <a:graphicData uri="http://schemas.openxmlformats.org/drawingml/2006/table">
            <a:tbl>
              <a:tblPr>
                <a:solidFill>
                  <a:srgbClr val="FFFFFF"/>
                </a:solidFill>
                <a:tableStyleId>{F160A365-C878-4280-91D2-AB27923DEEC6}</a:tableStyleId>
              </a:tblPr>
              <a:tblGrid>
                <a:gridCol w="895650"/>
                <a:gridCol w="895650"/>
                <a:gridCol w="895650"/>
                <a:gridCol w="895650"/>
                <a:gridCol w="895650"/>
                <a:gridCol w="895650"/>
              </a:tblGrid>
              <a:tr h="438150">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Gender</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Quality of Sleep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Age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Stress Level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Physical Activity Level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Daily Steps average</a:t>
                      </a:r>
                      <a:endParaRPr b="1" sz="1050">
                        <a:solidFill>
                          <a:srgbClr val="1F1F1F"/>
                        </a:solidFill>
                        <a:latin typeface="Roboto"/>
                        <a:ea typeface="Roboto"/>
                        <a:cs typeface="Roboto"/>
                        <a:sym typeface="Roboto"/>
                      </a:endParaRPr>
                    </a:p>
                  </a:txBody>
                  <a:tcPr marT="66675" marB="66675" marR="66675" marL="66675">
                    <a:solidFill>
                      <a:srgbClr val="C9DAF8"/>
                    </a:solidFill>
                  </a:tcPr>
                </a:tc>
              </a:tr>
              <a:tr h="285750">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Female</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9</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52.7812</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3</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30</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5000</a:t>
                      </a:r>
                      <a:endParaRPr sz="1050">
                        <a:solidFill>
                          <a:srgbClr val="1F1F1F"/>
                        </a:solidFill>
                        <a:latin typeface="Roboto"/>
                        <a:ea typeface="Roboto"/>
                        <a:cs typeface="Roboto"/>
                        <a:sym typeface="Roboto"/>
                      </a:endParaRPr>
                    </a:p>
                  </a:txBody>
                  <a:tcPr marT="66675" marB="66675" marR="66675" marL="66675">
                    <a:solidFill>
                      <a:srgbClr val="EFEFEF"/>
                    </a:solidFill>
                  </a:tcPr>
                </a:tc>
              </a:tr>
              <a:tr h="285750">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Male</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7.80645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40.1935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4.80645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74.4194</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6993.55</a:t>
                      </a:r>
                      <a:endParaRPr sz="1050">
                        <a:solidFill>
                          <a:srgbClr val="1F1F1F"/>
                        </a:solidFill>
                        <a:latin typeface="Roboto"/>
                        <a:ea typeface="Roboto"/>
                        <a:cs typeface="Roboto"/>
                        <a:sym typeface="Roboto"/>
                      </a:endParaRPr>
                    </a:p>
                  </a:txBody>
                  <a:tcPr marT="66675" marB="66675" marR="66675" marL="66675">
                    <a:solidFill>
                      <a:srgbClr val="EFEFEF"/>
                    </a:solidFill>
                  </a:tcPr>
                </a:tc>
              </a:tr>
            </a:tbl>
          </a:graphicData>
        </a:graphic>
      </p:graphicFrame>
      <p:sp>
        <p:nvSpPr>
          <p:cNvPr id="126" name="Google Shape;126;p22"/>
          <p:cNvSpPr txBox="1"/>
          <p:nvPr>
            <p:ph type="title"/>
          </p:nvPr>
        </p:nvSpPr>
        <p:spPr>
          <a:xfrm>
            <a:off x="506250" y="284995"/>
            <a:ext cx="81315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891"/>
              <a:buNone/>
            </a:pPr>
            <a:r>
              <a:rPr b="1" lang="en" sz="1798"/>
              <a:t>Exploring the Lifestyles of Engineers (The Least Stressed Occupation) </a:t>
            </a:r>
            <a:endParaRPr b="1" sz="1798"/>
          </a:p>
        </p:txBody>
      </p:sp>
      <p:sp>
        <p:nvSpPr>
          <p:cNvPr id="127" name="Google Shape;127;p22"/>
          <p:cNvSpPr txBox="1"/>
          <p:nvPr/>
        </p:nvSpPr>
        <p:spPr>
          <a:xfrm>
            <a:off x="3075950" y="2833150"/>
            <a:ext cx="5598000" cy="1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are 63 total engineers in this dataset, with the gender makeup being nearly equal. From my previous insight, we find out that engineers are the occupation with the lowest stress level. Out of </a:t>
            </a:r>
            <a:r>
              <a:rPr lang="en">
                <a:solidFill>
                  <a:schemeClr val="dk1"/>
                </a:solidFill>
              </a:rPr>
              <a:t>curiosity</a:t>
            </a:r>
            <a:r>
              <a:rPr lang="en">
                <a:solidFill>
                  <a:schemeClr val="dk1"/>
                </a:solidFill>
              </a:rPr>
              <a:t>, I explored their lifestyle habits. I </a:t>
            </a:r>
            <a:r>
              <a:rPr lang="en">
                <a:solidFill>
                  <a:schemeClr val="dk1"/>
                </a:solidFill>
              </a:rPr>
              <a:t>found</a:t>
            </a:r>
            <a:r>
              <a:rPr lang="en">
                <a:solidFill>
                  <a:schemeClr val="dk1"/>
                </a:solidFill>
              </a:rPr>
              <a:t> that on average, female engineers are older, less stressed, and less physically active than male engineers. Overall, engineers live fairly healthy lifestyles, which explains their lower stress levels.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D1EA"/>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572600" y="218650"/>
            <a:ext cx="5998800" cy="605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200">
                <a:solidFill>
                  <a:schemeClr val="dk1"/>
                </a:solidFill>
              </a:rPr>
              <a:t>Average Female Engineer Data 🛠️ </a:t>
            </a:r>
            <a:endParaRPr b="1" sz="2200">
              <a:solidFill>
                <a:schemeClr val="dk1"/>
              </a:solidFill>
            </a:endParaRPr>
          </a:p>
        </p:txBody>
      </p:sp>
      <p:pic>
        <p:nvPicPr>
          <p:cNvPr id="133" name="Google Shape;133;p23"/>
          <p:cNvPicPr preferRelativeResize="0"/>
          <p:nvPr/>
        </p:nvPicPr>
        <p:blipFill rotWithShape="1">
          <a:blip r:embed="rId4">
            <a:alphaModFix/>
          </a:blip>
          <a:srcRect b="12524" l="14044" r="6967" t="15786"/>
          <a:stretch/>
        </p:blipFill>
        <p:spPr>
          <a:xfrm>
            <a:off x="1550175" y="1220225"/>
            <a:ext cx="1748775" cy="2221999"/>
          </a:xfrm>
          <a:prstGeom prst="rect">
            <a:avLst/>
          </a:prstGeom>
          <a:noFill/>
          <a:ln>
            <a:noFill/>
          </a:ln>
        </p:spPr>
      </p:pic>
      <p:sp>
        <p:nvSpPr>
          <p:cNvPr id="134" name="Google Shape;134;p23"/>
          <p:cNvSpPr txBox="1"/>
          <p:nvPr/>
        </p:nvSpPr>
        <p:spPr>
          <a:xfrm>
            <a:off x="3370800" y="823750"/>
            <a:ext cx="4200600" cy="323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0000FF"/>
                </a:solidFill>
              </a:rPr>
              <a:t>53</a:t>
            </a:r>
            <a:r>
              <a:rPr lang="en" sz="1700">
                <a:solidFill>
                  <a:schemeClr val="dk1"/>
                </a:solidFill>
              </a:rPr>
              <a:t> Years Old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900">
                <a:solidFill>
                  <a:srgbClr val="0000FF"/>
                </a:solidFill>
              </a:rPr>
              <a:t>9</a:t>
            </a:r>
            <a:r>
              <a:rPr b="1" lang="en" sz="1700">
                <a:solidFill>
                  <a:srgbClr val="0000FF"/>
                </a:solidFill>
              </a:rPr>
              <a:t> </a:t>
            </a:r>
            <a:r>
              <a:rPr b="1" lang="en" sz="1100">
                <a:solidFill>
                  <a:srgbClr val="0000FF"/>
                </a:solidFill>
              </a:rPr>
              <a:t>out of</a:t>
            </a:r>
            <a:r>
              <a:rPr b="1" lang="en" sz="1700">
                <a:solidFill>
                  <a:srgbClr val="0000FF"/>
                </a:solidFill>
              </a:rPr>
              <a:t> </a:t>
            </a:r>
            <a:r>
              <a:rPr b="1" lang="en" sz="1900">
                <a:solidFill>
                  <a:srgbClr val="0000FF"/>
                </a:solidFill>
              </a:rPr>
              <a:t>10</a:t>
            </a:r>
            <a:r>
              <a:rPr b="1" lang="en" sz="1700">
                <a:solidFill>
                  <a:schemeClr val="dk1"/>
                </a:solidFill>
              </a:rPr>
              <a:t> </a:t>
            </a:r>
            <a:r>
              <a:rPr lang="en" sz="1700">
                <a:solidFill>
                  <a:schemeClr val="dk1"/>
                </a:solidFill>
              </a:rPr>
              <a:t>Sleep Quality Score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900">
                <a:solidFill>
                  <a:srgbClr val="0000FF"/>
                </a:solidFill>
              </a:rPr>
              <a:t>3</a:t>
            </a:r>
            <a:r>
              <a:rPr b="1" lang="en" sz="1700">
                <a:solidFill>
                  <a:srgbClr val="0000FF"/>
                </a:solidFill>
              </a:rPr>
              <a:t> </a:t>
            </a:r>
            <a:r>
              <a:rPr b="1" lang="en" sz="1100">
                <a:solidFill>
                  <a:srgbClr val="0000FF"/>
                </a:solidFill>
              </a:rPr>
              <a:t>out of</a:t>
            </a:r>
            <a:r>
              <a:rPr b="1" lang="en" sz="1700">
                <a:solidFill>
                  <a:srgbClr val="0000FF"/>
                </a:solidFill>
              </a:rPr>
              <a:t> </a:t>
            </a:r>
            <a:r>
              <a:rPr b="1" lang="en" sz="1900">
                <a:solidFill>
                  <a:srgbClr val="0000FF"/>
                </a:solidFill>
              </a:rPr>
              <a:t>10</a:t>
            </a:r>
            <a:r>
              <a:rPr lang="en" sz="1700">
                <a:solidFill>
                  <a:schemeClr val="dk1"/>
                </a:solidFill>
              </a:rPr>
              <a:t> Stress Level Score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5000</a:t>
            </a:r>
            <a:r>
              <a:rPr lang="en" sz="1700">
                <a:solidFill>
                  <a:schemeClr val="dk1"/>
                </a:solidFill>
              </a:rPr>
              <a:t> Daily Steps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30</a:t>
            </a:r>
            <a:r>
              <a:rPr lang="en" sz="1700">
                <a:solidFill>
                  <a:schemeClr val="dk1"/>
                </a:solidFill>
              </a:rPr>
              <a:t> Physical Activity Level</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Normal</a:t>
            </a:r>
            <a:r>
              <a:rPr lang="en" sz="1700">
                <a:solidFill>
                  <a:schemeClr val="dk1"/>
                </a:solidFill>
              </a:rPr>
              <a:t> Weight (BMI 18.5-24.9) </a:t>
            </a:r>
            <a:endParaRPr sz="1700">
              <a:solidFill>
                <a:schemeClr val="dk1"/>
              </a:solidFill>
            </a:endParaRPr>
          </a:p>
        </p:txBody>
      </p:sp>
      <p:sp>
        <p:nvSpPr>
          <p:cNvPr id="135" name="Google Shape;135;p23"/>
          <p:cNvSpPr txBox="1"/>
          <p:nvPr/>
        </p:nvSpPr>
        <p:spPr>
          <a:xfrm>
            <a:off x="388650" y="4029100"/>
            <a:ext cx="8366700" cy="80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Female engineers are one of the least stressed individuals in this dataset. They also live relatively healthy lifestyles with a high overall sleep quality score, a normal level of daily physical activity, and normal weight BMI category. </a:t>
            </a:r>
            <a:endParaRPr>
              <a:solidFill>
                <a:schemeClr val="dk1"/>
              </a:solidFill>
            </a:endParaRPr>
          </a:p>
        </p:txBody>
      </p:sp>
      <p:sp>
        <p:nvSpPr>
          <p:cNvPr id="136" name="Google Shape;136;p23"/>
          <p:cNvSpPr txBox="1"/>
          <p:nvPr/>
        </p:nvSpPr>
        <p:spPr>
          <a:xfrm>
            <a:off x="1517211" y="3386850"/>
            <a:ext cx="181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hlinkClick r:id="rId5"/>
              </a:rPr>
              <a:t>https://iheartcraftythings.com/cartoon-woman-drawing.html</a:t>
            </a:r>
            <a:endParaRPr sz="800"/>
          </a:p>
          <a:p>
            <a:pPr indent="0" lvl="0" marL="0" rtl="0" algn="l">
              <a:spcBef>
                <a:spcPts val="0"/>
              </a:spcBef>
              <a:spcAft>
                <a:spcPts val="0"/>
              </a:spcAft>
              <a:buNone/>
            </a:pPr>
            <a:r>
              <a:t/>
            </a:r>
            <a:endParaRPr sz="800"/>
          </a:p>
        </p:txBody>
      </p:sp>
      <p:sp>
        <p:nvSpPr>
          <p:cNvPr id="137" name="Google Shape;137;p23"/>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
        <p:nvSpPr>
          <p:cNvPr id="138" name="Google Shape;138;p23"/>
          <p:cNvSpPr txBox="1"/>
          <p:nvPr/>
        </p:nvSpPr>
        <p:spPr>
          <a:xfrm>
            <a:off x="4727200" y="3706000"/>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hlink"/>
                </a:solidFill>
                <a:hlinkClick r:id="rId6"/>
              </a:rPr>
              <a:t>Link to source</a:t>
            </a:r>
            <a:endParaRPr sz="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Insights</a:t>
            </a:r>
            <a:endParaRPr/>
          </a:p>
        </p:txBody>
      </p:sp>
      <p:sp>
        <p:nvSpPr>
          <p:cNvPr id="144" name="Google Shape;144;p24"/>
          <p:cNvSpPr txBox="1"/>
          <p:nvPr>
            <p:ph idx="1" type="body"/>
          </p:nvPr>
        </p:nvSpPr>
        <p:spPr>
          <a:xfrm>
            <a:off x="311700" y="884925"/>
            <a:ext cx="8071800" cy="1133400"/>
          </a:xfrm>
          <a:prstGeom prst="rect">
            <a:avLst/>
          </a:prstGeom>
        </p:spPr>
        <p:txBody>
          <a:bodyPr anchorCtr="0" anchor="t" bIns="91425" lIns="91425" spcFirstLastPara="1" rIns="91425" wrap="square" tIns="91425">
            <a:noAutofit/>
          </a:bodyPr>
          <a:lstStyle/>
          <a:p>
            <a:pPr indent="-316230" lvl="1" marL="914400" rtl="0" algn="l">
              <a:lnSpc>
                <a:spcPct val="95000"/>
              </a:lnSpc>
              <a:spcBef>
                <a:spcPts val="0"/>
              </a:spcBef>
              <a:spcAft>
                <a:spcPts val="0"/>
              </a:spcAft>
              <a:buClr>
                <a:srgbClr val="695D46"/>
              </a:buClr>
              <a:buSzPts val="1380"/>
              <a:buFont typeface="Open Sans"/>
              <a:buChar char="○"/>
            </a:pPr>
            <a:r>
              <a:rPr lang="en" sz="1380">
                <a:solidFill>
                  <a:srgbClr val="695D46"/>
                </a:solidFill>
                <a:latin typeface="Open Sans"/>
                <a:ea typeface="Open Sans"/>
                <a:cs typeface="Open Sans"/>
                <a:sym typeface="Open Sans"/>
              </a:rPr>
              <a:t>Based off of previous feedback, I decided to separate my data from my curious question “Does Gender Impact the Doctor Lifestyle?” This made my data look a lot easier to read as well as made it clear that men face higher stress levels and poorer sleep quality compared to the women within the data. </a:t>
            </a:r>
            <a:endParaRPr b="1" sz="1380"/>
          </a:p>
        </p:txBody>
      </p:sp>
      <p:sp>
        <p:nvSpPr>
          <p:cNvPr id="145" name="Google Shape;145;p2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46" name="Google Shape;146;p24"/>
          <p:cNvPicPr preferRelativeResize="0"/>
          <p:nvPr/>
        </p:nvPicPr>
        <p:blipFill>
          <a:blip r:embed="rId3">
            <a:alphaModFix/>
          </a:blip>
          <a:stretch>
            <a:fillRect/>
          </a:stretch>
        </p:blipFill>
        <p:spPr>
          <a:xfrm>
            <a:off x="4831822" y="2195148"/>
            <a:ext cx="3808528" cy="2326749"/>
          </a:xfrm>
          <a:prstGeom prst="rect">
            <a:avLst/>
          </a:prstGeom>
          <a:noFill/>
          <a:ln>
            <a:noFill/>
          </a:ln>
        </p:spPr>
      </p:pic>
      <p:pic>
        <p:nvPicPr>
          <p:cNvPr id="147" name="Google Shape;147;p24"/>
          <p:cNvPicPr preferRelativeResize="0"/>
          <p:nvPr/>
        </p:nvPicPr>
        <p:blipFill>
          <a:blip r:embed="rId4">
            <a:alphaModFix/>
          </a:blip>
          <a:stretch>
            <a:fillRect/>
          </a:stretch>
        </p:blipFill>
        <p:spPr>
          <a:xfrm>
            <a:off x="500818" y="2195150"/>
            <a:ext cx="3792832" cy="2326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153" name="Google Shape;153;p25"/>
          <p:cNvSpPr txBox="1"/>
          <p:nvPr>
            <p:ph idx="1" type="body"/>
          </p:nvPr>
        </p:nvSpPr>
        <p:spPr>
          <a:xfrm>
            <a:off x="311700" y="884925"/>
            <a:ext cx="8089800" cy="1133400"/>
          </a:xfrm>
          <a:prstGeom prst="rect">
            <a:avLst/>
          </a:prstGeom>
        </p:spPr>
        <p:txBody>
          <a:bodyPr anchorCtr="0" anchor="t" bIns="91425" lIns="91425" spcFirstLastPara="1" rIns="91425" wrap="square" tIns="91425">
            <a:noAutofit/>
          </a:bodyPr>
          <a:lstStyle/>
          <a:p>
            <a:pPr indent="-335280" lvl="1" marL="9144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Last week, after collection my data insights for this project, I came up with a new curious question, “Does Gender impact all Job Fields?” Based off of these two graphs, it seems that women face better sleep quality but also have lower stress levels. </a:t>
            </a:r>
            <a:r>
              <a:rPr lang="en" sz="1679">
                <a:solidFill>
                  <a:srgbClr val="695D46"/>
                </a:solidFill>
                <a:latin typeface="Open Sans"/>
                <a:ea typeface="Open Sans"/>
                <a:cs typeface="Open Sans"/>
                <a:sym typeface="Open Sans"/>
              </a:rPr>
              <a:t>This could be because according to my previous research, women face gender disparities when it comes to career advancements, therefore, they have less opportunities to get these higher level careers.</a:t>
            </a:r>
            <a:r>
              <a:rPr lang="en" sz="1679">
                <a:solidFill>
                  <a:srgbClr val="695D46"/>
                </a:solidFill>
                <a:latin typeface="Open Sans"/>
                <a:ea typeface="Open Sans"/>
                <a:cs typeface="Open Sans"/>
                <a:sym typeface="Open Sans"/>
              </a:rPr>
              <a:t> </a:t>
            </a:r>
            <a:endParaRPr sz="1679">
              <a:solidFill>
                <a:srgbClr val="695D46"/>
              </a:solidFill>
              <a:latin typeface="Open Sans"/>
              <a:ea typeface="Open Sans"/>
              <a:cs typeface="Open Sans"/>
              <a:sym typeface="Open Sans"/>
            </a:endParaRPr>
          </a:p>
        </p:txBody>
      </p:sp>
      <p:sp>
        <p:nvSpPr>
          <p:cNvPr id="154" name="Google Shape;154;p25"/>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55" name="Google Shape;155;p25"/>
          <p:cNvPicPr preferRelativeResize="0"/>
          <p:nvPr/>
        </p:nvPicPr>
        <p:blipFill>
          <a:blip r:embed="rId4">
            <a:alphaModFix/>
          </a:blip>
          <a:stretch>
            <a:fillRect/>
          </a:stretch>
        </p:blipFill>
        <p:spPr>
          <a:xfrm>
            <a:off x="453400" y="3080475"/>
            <a:ext cx="3486127" cy="2131925"/>
          </a:xfrm>
          <a:prstGeom prst="rect">
            <a:avLst/>
          </a:prstGeom>
          <a:noFill/>
          <a:ln>
            <a:noFill/>
          </a:ln>
        </p:spPr>
      </p:pic>
      <p:pic>
        <p:nvPicPr>
          <p:cNvPr id="156" name="Google Shape;156;p25"/>
          <p:cNvPicPr preferRelativeResize="0"/>
          <p:nvPr/>
        </p:nvPicPr>
        <p:blipFill>
          <a:blip r:embed="rId5">
            <a:alphaModFix/>
          </a:blip>
          <a:stretch>
            <a:fillRect/>
          </a:stretch>
        </p:blipFill>
        <p:spPr>
          <a:xfrm>
            <a:off x="5489700" y="3080475"/>
            <a:ext cx="3654300" cy="2217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116950" y="354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Estimation: STEM Stress Levels</a:t>
            </a:r>
            <a:endParaRPr/>
          </a:p>
        </p:txBody>
      </p:sp>
      <p:sp>
        <p:nvSpPr>
          <p:cNvPr id="162" name="Google Shape;162;p26"/>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63" name="Google Shape;163;p26"/>
          <p:cNvPicPr preferRelativeResize="0"/>
          <p:nvPr/>
        </p:nvPicPr>
        <p:blipFill>
          <a:blip r:embed="rId4">
            <a:alphaModFix/>
          </a:blip>
          <a:stretch>
            <a:fillRect/>
          </a:stretch>
        </p:blipFill>
        <p:spPr>
          <a:xfrm>
            <a:off x="5220602" y="292500"/>
            <a:ext cx="3549674" cy="2662256"/>
          </a:xfrm>
          <a:prstGeom prst="rect">
            <a:avLst/>
          </a:prstGeom>
          <a:noFill/>
          <a:ln>
            <a:noFill/>
          </a:ln>
        </p:spPr>
      </p:pic>
      <p:pic>
        <p:nvPicPr>
          <p:cNvPr id="164" name="Google Shape;164;p26"/>
          <p:cNvPicPr preferRelativeResize="0"/>
          <p:nvPr/>
        </p:nvPicPr>
        <p:blipFill>
          <a:blip r:embed="rId5">
            <a:alphaModFix/>
          </a:blip>
          <a:stretch>
            <a:fillRect/>
          </a:stretch>
        </p:blipFill>
        <p:spPr>
          <a:xfrm>
            <a:off x="426825" y="2506323"/>
            <a:ext cx="3149700" cy="2121626"/>
          </a:xfrm>
          <a:prstGeom prst="rect">
            <a:avLst/>
          </a:prstGeom>
          <a:noFill/>
          <a:ln>
            <a:noFill/>
          </a:ln>
        </p:spPr>
      </p:pic>
      <p:sp>
        <p:nvSpPr>
          <p:cNvPr id="165" name="Google Shape;165;p26"/>
          <p:cNvSpPr txBox="1"/>
          <p:nvPr/>
        </p:nvSpPr>
        <p:spPr>
          <a:xfrm>
            <a:off x="125800" y="779425"/>
            <a:ext cx="4460100" cy="3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highlight>
                  <a:srgbClr val="FFFFFF"/>
                </a:highlight>
              </a:rPr>
              <a:t>I am interested to know if STEM fields have high stress levels compared to Non-STEM</a:t>
            </a:r>
            <a:endParaRPr sz="1300">
              <a:highlight>
                <a:srgbClr val="FFFFFF"/>
              </a:highlight>
            </a:endParaRPr>
          </a:p>
          <a:p>
            <a:pPr indent="0" lvl="0" marL="0" rtl="0" algn="l">
              <a:spcBef>
                <a:spcPts val="0"/>
              </a:spcBef>
              <a:spcAft>
                <a:spcPts val="0"/>
              </a:spcAft>
              <a:buNone/>
            </a:pPr>
            <a:r>
              <a:rPr lang="en" sz="1300">
                <a:highlight>
                  <a:srgbClr val="FFFFFF"/>
                </a:highlight>
              </a:rPr>
              <a:t>I plan to analyze </a:t>
            </a:r>
            <a:r>
              <a:rPr b="1" lang="en" sz="1300">
                <a:highlight>
                  <a:srgbClr val="FFFFFF"/>
                </a:highlight>
              </a:rPr>
              <a:t>Stress Levels</a:t>
            </a:r>
            <a:r>
              <a:rPr b="1" lang="en" sz="1300">
                <a:highlight>
                  <a:srgbClr val="FFFFFF"/>
                </a:highlight>
              </a:rPr>
              <a:t> </a:t>
            </a:r>
            <a:r>
              <a:rPr lang="en" sz="1300">
                <a:highlight>
                  <a:srgbClr val="FFFFFF"/>
                </a:highlight>
              </a:rPr>
              <a:t>which describe the average stress levels each person experiences on a scale from 1 being not stressed at all to 10 being very stressed.</a:t>
            </a:r>
            <a:endParaRPr sz="1300">
              <a:highlight>
                <a:srgbClr val="FFFFFF"/>
              </a:highlight>
            </a:endParaRPr>
          </a:p>
          <a:p>
            <a:pPr indent="0" lvl="0" marL="0" rtl="0" algn="l">
              <a:spcBef>
                <a:spcPts val="0"/>
              </a:spcBef>
              <a:spcAft>
                <a:spcPts val="0"/>
              </a:spcAft>
              <a:buNone/>
            </a:pPr>
            <a:r>
              <a:rPr lang="en" sz="1300">
                <a:highlight>
                  <a:srgbClr val="FFFFFF"/>
                </a:highlight>
              </a:rPr>
              <a:t>My parameter of interest is </a:t>
            </a:r>
            <a:r>
              <a:rPr b="1" lang="en" sz="1300">
                <a:highlight>
                  <a:srgbClr val="FFFFFF"/>
                </a:highlight>
              </a:rPr>
              <a:t>Mean</a:t>
            </a:r>
            <a:endParaRPr sz="1600">
              <a:solidFill>
                <a:srgbClr val="695D46"/>
              </a:solidFill>
              <a:latin typeface="Open Sans"/>
              <a:ea typeface="Open Sans"/>
              <a:cs typeface="Open Sans"/>
              <a:sym typeface="Open Sans"/>
            </a:endParaRPr>
          </a:p>
        </p:txBody>
      </p:sp>
      <p:sp>
        <p:nvSpPr>
          <p:cNvPr id="166" name="Google Shape;166;p26"/>
          <p:cNvSpPr txBox="1"/>
          <p:nvPr/>
        </p:nvSpPr>
        <p:spPr>
          <a:xfrm>
            <a:off x="3992660" y="3141650"/>
            <a:ext cx="4511100" cy="1785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(5.21, 5.79)</a:t>
            </a:r>
            <a:r>
              <a:rPr lang="en" sz="1100">
                <a:highlight>
                  <a:srgbClr val="FFFFFF"/>
                </a:highlight>
              </a:rPr>
              <a:t> meaning that STEM fields are estimated to face average stress levels</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(5.21, 5.76) </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Conclusion: After analysing the data, average stress levels are between 5-6, meaning that most are stressed but not too stressed. </a:t>
            </a:r>
            <a:endParaRPr sz="1100">
              <a:highlight>
                <a:srgbClr val="FFFFFF"/>
              </a:highlight>
            </a:endParaRPr>
          </a:p>
          <a:p>
            <a:pPr indent="0" lvl="0" marL="457200" rtl="0" algn="l">
              <a:spcBef>
                <a:spcPts val="0"/>
              </a:spcBef>
              <a:spcAft>
                <a:spcPts val="0"/>
              </a:spcAft>
              <a:buNone/>
            </a:pPr>
            <a:r>
              <a:t/>
            </a:r>
            <a:endParaRPr sz="1600">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116950" y="354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Estimation: Non-STEM Stress Levels</a:t>
            </a:r>
            <a:endParaRPr/>
          </a:p>
        </p:txBody>
      </p:sp>
      <p:sp>
        <p:nvSpPr>
          <p:cNvPr id="172" name="Google Shape;172;p27"/>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73" name="Google Shape;173;p27"/>
          <p:cNvPicPr preferRelativeResize="0"/>
          <p:nvPr/>
        </p:nvPicPr>
        <p:blipFill rotWithShape="1">
          <a:blip r:embed="rId3">
            <a:alphaModFix/>
          </a:blip>
          <a:srcRect b="0" l="0" r="21519" t="0"/>
          <a:stretch/>
        </p:blipFill>
        <p:spPr>
          <a:xfrm>
            <a:off x="717850" y="2018375"/>
            <a:ext cx="3642302" cy="2802625"/>
          </a:xfrm>
          <a:prstGeom prst="rect">
            <a:avLst/>
          </a:prstGeom>
          <a:noFill/>
          <a:ln>
            <a:noFill/>
          </a:ln>
        </p:spPr>
      </p:pic>
      <p:pic>
        <p:nvPicPr>
          <p:cNvPr id="174" name="Google Shape;174;p27"/>
          <p:cNvPicPr preferRelativeResize="0"/>
          <p:nvPr/>
        </p:nvPicPr>
        <p:blipFill>
          <a:blip r:embed="rId4">
            <a:alphaModFix/>
          </a:blip>
          <a:stretch>
            <a:fillRect/>
          </a:stretch>
        </p:blipFill>
        <p:spPr>
          <a:xfrm>
            <a:off x="5611625" y="266850"/>
            <a:ext cx="3428901" cy="2248050"/>
          </a:xfrm>
          <a:prstGeom prst="rect">
            <a:avLst/>
          </a:prstGeom>
          <a:noFill/>
          <a:ln>
            <a:noFill/>
          </a:ln>
        </p:spPr>
      </p:pic>
      <p:sp>
        <p:nvSpPr>
          <p:cNvPr id="175" name="Google Shape;175;p27"/>
          <p:cNvSpPr txBox="1"/>
          <p:nvPr/>
        </p:nvSpPr>
        <p:spPr>
          <a:xfrm>
            <a:off x="257175" y="820475"/>
            <a:ext cx="4460100" cy="3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highlight>
                  <a:srgbClr val="FFFFFF"/>
                </a:highlight>
              </a:rPr>
              <a:t>I am interested to know if STEM fields have high stress levels compared to Non-STEM</a:t>
            </a:r>
            <a:endParaRPr sz="1100">
              <a:highlight>
                <a:srgbClr val="FFFFFF"/>
              </a:highlight>
            </a:endParaRPr>
          </a:p>
          <a:p>
            <a:pPr indent="0" lvl="0" marL="0" rtl="0" algn="l">
              <a:spcBef>
                <a:spcPts val="0"/>
              </a:spcBef>
              <a:spcAft>
                <a:spcPts val="0"/>
              </a:spcAft>
              <a:buNone/>
            </a:pPr>
            <a:r>
              <a:rPr lang="en" sz="1100">
                <a:highlight>
                  <a:srgbClr val="FFFFFF"/>
                </a:highlight>
              </a:rPr>
              <a:t>I plan to analyze </a:t>
            </a:r>
            <a:r>
              <a:rPr b="1" lang="en" sz="1100">
                <a:highlight>
                  <a:srgbClr val="FFFFFF"/>
                </a:highlight>
              </a:rPr>
              <a:t>Stress Levels </a:t>
            </a:r>
            <a:r>
              <a:rPr lang="en" sz="1100">
                <a:highlight>
                  <a:srgbClr val="FFFFFF"/>
                </a:highlight>
              </a:rPr>
              <a:t>which describe the average stress levels each person experiences on a scale from 1 being not stressed at all to 10 being very stressed.</a:t>
            </a:r>
            <a:endParaRPr sz="1100">
              <a:highlight>
                <a:srgbClr val="FFFFFF"/>
              </a:highlight>
            </a:endParaRPr>
          </a:p>
          <a:p>
            <a:pPr indent="0" lvl="0" marL="0" rtl="0" algn="l">
              <a:spcBef>
                <a:spcPts val="0"/>
              </a:spcBef>
              <a:spcAft>
                <a:spcPts val="0"/>
              </a:spcAft>
              <a:buNone/>
            </a:pPr>
            <a:r>
              <a:rPr lang="en" sz="1100">
                <a:highlight>
                  <a:srgbClr val="FFFFFF"/>
                </a:highlight>
              </a:rPr>
              <a:t>My parameter of interest is </a:t>
            </a:r>
            <a:r>
              <a:rPr b="1" lang="en" sz="1100">
                <a:highlight>
                  <a:srgbClr val="FFFFFF"/>
                </a:highlight>
              </a:rPr>
              <a:t>Mean</a:t>
            </a:r>
            <a:endParaRPr>
              <a:solidFill>
                <a:srgbClr val="695D46"/>
              </a:solidFill>
              <a:latin typeface="Open Sans"/>
              <a:ea typeface="Open Sans"/>
              <a:cs typeface="Open Sans"/>
              <a:sym typeface="Open Sans"/>
            </a:endParaRPr>
          </a:p>
        </p:txBody>
      </p:sp>
      <p:sp>
        <p:nvSpPr>
          <p:cNvPr id="176" name="Google Shape;176;p27"/>
          <p:cNvSpPr txBox="1"/>
          <p:nvPr/>
        </p:nvSpPr>
        <p:spPr>
          <a:xfrm>
            <a:off x="4360160" y="2821400"/>
            <a:ext cx="4511100" cy="1954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 sz="1100">
                <a:highlight>
                  <a:srgbClr val="FFFFFF"/>
                </a:highlight>
              </a:rPr>
              <a:t>95% Confidence Interval of Sample Mean </a:t>
            </a:r>
            <a:endParaRPr sz="1100">
              <a:highlight>
                <a:srgbClr val="FFFFFF"/>
              </a:highlight>
            </a:endParaRPr>
          </a:p>
          <a:p>
            <a:pPr indent="0" lvl="0" marL="457200" rtl="0" algn="l">
              <a:spcBef>
                <a:spcPts val="0"/>
              </a:spcBef>
              <a:spcAft>
                <a:spcPts val="0"/>
              </a:spcAft>
              <a:buNone/>
            </a:pPr>
            <a:r>
              <a:rPr lang="en" sz="1100">
                <a:highlight>
                  <a:srgbClr val="FFFFFF"/>
                </a:highlight>
              </a:rPr>
              <a:t>(5.05, 5.43)</a:t>
            </a:r>
            <a:r>
              <a:rPr lang="en" sz="1100">
                <a:highlight>
                  <a:srgbClr val="FFFFFF"/>
                </a:highlight>
              </a:rPr>
              <a:t> meaning that Non-STEM fields are estimated to face average stress levels</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(5.05, 5.44)</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Conclusion: After analysing the data, average stress levels are between 5-6, meaning that most are stressed but not too stressed. Overall, both STEM and Non-STEM stress levels are similar to each other despite have </a:t>
            </a:r>
            <a:r>
              <a:rPr lang="en" sz="1100">
                <a:highlight>
                  <a:srgbClr val="FFFFFF"/>
                </a:highlight>
              </a:rPr>
              <a:t>differing</a:t>
            </a:r>
            <a:r>
              <a:rPr lang="en" sz="1100">
                <a:highlight>
                  <a:srgbClr val="FFFFFF"/>
                </a:highlight>
              </a:rPr>
              <a:t> graphs. </a:t>
            </a:r>
            <a:endParaRPr sz="1100">
              <a:highlight>
                <a:srgbClr val="FFFFFF"/>
              </a:highlight>
            </a:endParaRPr>
          </a:p>
          <a:p>
            <a:pPr indent="0" lvl="0" marL="457200" rtl="0" algn="l">
              <a:spcBef>
                <a:spcPts val="0"/>
              </a:spcBef>
              <a:spcAft>
                <a:spcPts val="0"/>
              </a:spcAft>
              <a:buNone/>
            </a:pPr>
            <a:r>
              <a:t/>
            </a:r>
            <a:endParaRPr sz="1600">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311700" y="1337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020"/>
              <a:t>Progress</a:t>
            </a:r>
            <a:endParaRPr sz="2020"/>
          </a:p>
        </p:txBody>
      </p:sp>
      <p:sp>
        <p:nvSpPr>
          <p:cNvPr id="182" name="Google Shape;182;p28"/>
          <p:cNvSpPr txBox="1"/>
          <p:nvPr/>
        </p:nvSpPr>
        <p:spPr>
          <a:xfrm>
            <a:off x="0" y="0"/>
            <a:ext cx="2765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and Car Mangana</a:t>
            </a:r>
            <a:endParaRPr sz="1100">
              <a:solidFill>
                <a:schemeClr val="dk1"/>
              </a:solidFill>
            </a:endParaRPr>
          </a:p>
        </p:txBody>
      </p:sp>
      <p:sp>
        <p:nvSpPr>
          <p:cNvPr id="183" name="Google Shape;183;p28"/>
          <p:cNvSpPr txBox="1"/>
          <p:nvPr>
            <p:ph idx="1" type="body"/>
          </p:nvPr>
        </p:nvSpPr>
        <p:spPr>
          <a:xfrm>
            <a:off x="280950" y="594300"/>
            <a:ext cx="8582100" cy="3762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390">
                <a:solidFill>
                  <a:schemeClr val="dk1"/>
                </a:solidFill>
              </a:rPr>
              <a:t>This week, Car and Brittany answered the following curious questions:</a:t>
            </a:r>
            <a:endParaRPr sz="1390">
              <a:solidFill>
                <a:schemeClr val="dk1"/>
              </a:solidFill>
            </a:endParaRPr>
          </a:p>
          <a:p>
            <a:pPr indent="-316865" lvl="0" marL="457200" rtl="0" algn="l">
              <a:spcBef>
                <a:spcPts val="1200"/>
              </a:spcBef>
              <a:spcAft>
                <a:spcPts val="0"/>
              </a:spcAft>
              <a:buClr>
                <a:schemeClr val="dk1"/>
              </a:buClr>
              <a:buSzPts val="1390"/>
              <a:buChar char="●"/>
            </a:pPr>
            <a:r>
              <a:rPr lang="en" sz="1300">
                <a:solidFill>
                  <a:schemeClr val="dk1"/>
                </a:solidFill>
              </a:rPr>
              <a:t>Any correlation between age and stress levels?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What are engineers’ lifestyles like?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Does Gender impact all Job Fields?</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lnSpc>
                <a:spcPct val="95000"/>
              </a:lnSpc>
              <a:spcBef>
                <a:spcPts val="0"/>
              </a:spcBef>
              <a:spcAft>
                <a:spcPts val="0"/>
              </a:spcAft>
              <a:buSzPts val="935"/>
              <a:buNone/>
            </a:pPr>
            <a:r>
              <a:rPr lang="en" sz="1390">
                <a:solidFill>
                  <a:schemeClr val="dk1"/>
                </a:solidFill>
              </a:rPr>
              <a:t>Brittany didn’t face many major obstacles, but she struggled to come up with new questions to answer.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 also didn't face any major obstacles, however, she struggled to do the estimation on her own as it’s a new skill she had just learned.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Carlyn and Brittany both contributed to the project this week. They filled out the spreadsheet and put their names on the slides that they covered in this update.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next week, the plan is to: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Start working on the Final Deliverable (Brainstorming, outlining, drafting, etc.)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Create the presentation or video</a:t>
            </a:r>
            <a:endParaRPr sz="139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189" name="Google Shape;189;p29"/>
          <p:cNvSpPr txBox="1"/>
          <p:nvPr>
            <p:ph idx="1" type="body"/>
          </p:nvPr>
        </p:nvSpPr>
        <p:spPr>
          <a:xfrm>
            <a:off x="280950" y="1303800"/>
            <a:ext cx="8582100" cy="38397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a:solidFill>
                  <a:schemeClr val="dk1"/>
                </a:solidFill>
                <a:latin typeface="Open Sans"/>
                <a:ea typeface="Open Sans"/>
                <a:cs typeface="Open Sans"/>
                <a:sym typeface="Open Sans"/>
              </a:rPr>
              <a:t>The feedback we </a:t>
            </a:r>
            <a:r>
              <a:rPr lang="en">
                <a:solidFill>
                  <a:schemeClr val="dk1"/>
                </a:solidFill>
                <a:latin typeface="Open Sans"/>
                <a:ea typeface="Open Sans"/>
                <a:cs typeface="Open Sans"/>
                <a:sym typeface="Open Sans"/>
              </a:rPr>
              <a:t>received</a:t>
            </a:r>
            <a:r>
              <a:rPr lang="en">
                <a:solidFill>
                  <a:schemeClr val="dk1"/>
                </a:solidFill>
                <a:latin typeface="Open Sans"/>
                <a:ea typeface="Open Sans"/>
                <a:cs typeface="Open Sans"/>
                <a:sym typeface="Open Sans"/>
              </a:rPr>
              <a:t> was really helpful in teaching us how to read our data better. We also were able to take the feedback we were told and generate better insights using the data we’ve already collected. With the new methods we’ve learned like permutation and estimation, we were able to learn new things about our data set. We’d love to hear what data we should reduce down in order to make our final project look more put together. </a:t>
            </a:r>
            <a:endParaRPr>
              <a:solidFill>
                <a:schemeClr val="dk1"/>
              </a:solidFill>
              <a:latin typeface="Open Sans"/>
              <a:ea typeface="Open Sans"/>
              <a:cs typeface="Open Sans"/>
              <a:sym typeface="Open Sans"/>
            </a:endParaRPr>
          </a:p>
          <a:p>
            <a:pPr indent="0" lvl="0" marL="0" rtl="0" algn="l">
              <a:spcBef>
                <a:spcPts val="1600"/>
              </a:spcBef>
              <a:spcAft>
                <a:spcPts val="0"/>
              </a:spcAft>
              <a:buNone/>
            </a:pPr>
            <a:r>
              <a:t/>
            </a:r>
            <a:endParaRPr>
              <a:solidFill>
                <a:schemeClr val="dk1"/>
              </a:solidFill>
              <a:latin typeface="Open Sans"/>
              <a:ea typeface="Open Sans"/>
              <a:cs typeface="Open Sans"/>
              <a:sym typeface="Open Sans"/>
            </a:endParaRPr>
          </a:p>
          <a:p>
            <a:pPr indent="0" lvl="0" marL="0" rtl="0" algn="l">
              <a:spcBef>
                <a:spcPts val="1600"/>
              </a:spcBef>
              <a:spcAft>
                <a:spcPts val="1200"/>
              </a:spcAft>
              <a:buNone/>
            </a:pPr>
            <a:r>
              <a:t/>
            </a:r>
            <a:endParaRPr b="1"/>
          </a:p>
        </p:txBody>
      </p:sp>
      <p:sp>
        <p:nvSpPr>
          <p:cNvPr id="190" name="Google Shape;190;p29"/>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a:t>
            </a:r>
            <a:r>
              <a:rPr lang="en"/>
              <a:t>3</a:t>
            </a:r>
            <a:endParaRPr/>
          </a:p>
        </p:txBody>
      </p:sp>
      <p:sp>
        <p:nvSpPr>
          <p:cNvPr id="196" name="Google Shape;196;p30"/>
          <p:cNvSpPr txBox="1"/>
          <p:nvPr>
            <p:ph idx="1" type="subTitle"/>
          </p:nvPr>
        </p:nvSpPr>
        <p:spPr>
          <a:xfrm>
            <a:off x="311700" y="2834125"/>
            <a:ext cx="8520600" cy="984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sz="2300"/>
              <a:t>By Brittany Huynh and Carlyn Mangana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04/20/2025</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561750" y="297638"/>
            <a:ext cx="8131500" cy="109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Data Insight: Overweight and </a:t>
            </a:r>
            <a:r>
              <a:rPr b="1" lang="en" sz="2220"/>
              <a:t>O</a:t>
            </a:r>
            <a:r>
              <a:rPr b="1" lang="en" sz="2220"/>
              <a:t>bese people sleep less and get poorer quality sleep than people with Normal weight.  </a:t>
            </a:r>
            <a:endParaRPr b="1" sz="2220"/>
          </a:p>
        </p:txBody>
      </p:sp>
      <p:sp>
        <p:nvSpPr>
          <p:cNvPr id="202" name="Google Shape;202;p31"/>
          <p:cNvSpPr txBox="1"/>
          <p:nvPr>
            <p:ph idx="1" type="body"/>
          </p:nvPr>
        </p:nvSpPr>
        <p:spPr>
          <a:xfrm>
            <a:off x="280950" y="2902463"/>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The two bar charts show the relationship between BMI category, Sleep Duration average and Quality of Sleep average. The scatter plot shows the relationship between Sleep Duration and Quality of Sleep – the pattern reveals that longer Sleep Duration is linked to higher Quality of Sleep score. The bar charts show that on average, people in the Overweight and Obese BMI category have lower sleep duration and poorer quality of </a:t>
            </a:r>
            <a:r>
              <a:rPr lang="en" sz="1300">
                <a:solidFill>
                  <a:schemeClr val="dk1"/>
                </a:solidFill>
              </a:rPr>
              <a:t>sleep</a:t>
            </a:r>
            <a:r>
              <a:rPr lang="en" sz="1300">
                <a:solidFill>
                  <a:schemeClr val="dk1"/>
                </a:solidFill>
              </a:rPr>
              <a:t> than those in the Normal weight BMI category. </a:t>
            </a:r>
            <a:r>
              <a:rPr lang="en" sz="1300" u="sng">
                <a:solidFill>
                  <a:schemeClr val="hlink"/>
                </a:solidFill>
                <a:hlinkClick r:id="rId4"/>
              </a:rPr>
              <a:t>This article</a:t>
            </a:r>
            <a:r>
              <a:rPr lang="en" sz="1300">
                <a:solidFill>
                  <a:schemeClr val="dk1"/>
                </a:solidFill>
              </a:rPr>
              <a:t> written by bariatric surgeon, </a:t>
            </a:r>
            <a:r>
              <a:rPr lang="en" sz="1300">
                <a:solidFill>
                  <a:schemeClr val="dk1"/>
                </a:solidFill>
              </a:rPr>
              <a:t>Muhammad Ghanem, </a:t>
            </a:r>
            <a:r>
              <a:rPr lang="en" sz="1300">
                <a:solidFill>
                  <a:schemeClr val="dk1"/>
                </a:solidFill>
              </a:rPr>
              <a:t>claims that poor sleep quality slows metabolism and increases appetite and cravings for junk food. The bar charts reflect the statement that sleep is very important, especially when it comes to weight management. This finding makes me wonder</a:t>
            </a:r>
            <a:r>
              <a:rPr lang="en" sz="1300">
                <a:solidFill>
                  <a:schemeClr val="dk1"/>
                </a:solidFill>
              </a:rPr>
              <a:t> whether there is a correlation</a:t>
            </a:r>
            <a:r>
              <a:rPr lang="en" sz="1300">
                <a:solidFill>
                  <a:schemeClr val="dk1"/>
                </a:solidFill>
              </a:rPr>
              <a:t> between occupation and sleep quality. </a:t>
            </a:r>
            <a:endParaRPr sz="1300">
              <a:solidFill>
                <a:schemeClr val="dk1"/>
              </a:solidFill>
            </a:endParaRPr>
          </a:p>
          <a:p>
            <a:pPr indent="0" lvl="0" marL="0" rtl="0" algn="l">
              <a:lnSpc>
                <a:spcPct val="95000"/>
              </a:lnSpc>
              <a:spcBef>
                <a:spcPts val="1600"/>
              </a:spcBef>
              <a:spcAft>
                <a:spcPts val="1200"/>
              </a:spcAft>
              <a:buSzPts val="688"/>
              <a:buNone/>
            </a:pPr>
            <a:r>
              <a:t/>
            </a:r>
            <a:endParaRPr b="1" sz="1200"/>
          </a:p>
        </p:txBody>
      </p:sp>
      <p:sp>
        <p:nvSpPr>
          <p:cNvPr id="203" name="Google Shape;203;p31"/>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204" name="Google Shape;204;p31"/>
          <p:cNvPicPr preferRelativeResize="0"/>
          <p:nvPr/>
        </p:nvPicPr>
        <p:blipFill>
          <a:blip r:embed="rId5">
            <a:alphaModFix/>
          </a:blip>
          <a:stretch>
            <a:fillRect/>
          </a:stretch>
        </p:blipFill>
        <p:spPr>
          <a:xfrm>
            <a:off x="1983213" y="1269013"/>
            <a:ext cx="2469803" cy="1500984"/>
          </a:xfrm>
          <a:prstGeom prst="rect">
            <a:avLst/>
          </a:prstGeom>
          <a:noFill/>
          <a:ln>
            <a:noFill/>
          </a:ln>
        </p:spPr>
      </p:pic>
      <p:pic>
        <p:nvPicPr>
          <p:cNvPr id="205" name="Google Shape;205;p31"/>
          <p:cNvPicPr preferRelativeResize="0"/>
          <p:nvPr/>
        </p:nvPicPr>
        <p:blipFill>
          <a:blip r:embed="rId6">
            <a:alphaModFix/>
          </a:blip>
          <a:stretch>
            <a:fillRect/>
          </a:stretch>
        </p:blipFill>
        <p:spPr>
          <a:xfrm>
            <a:off x="7152534" y="1269013"/>
            <a:ext cx="1486579" cy="1572000"/>
          </a:xfrm>
          <a:prstGeom prst="rect">
            <a:avLst/>
          </a:prstGeom>
          <a:noFill/>
          <a:ln>
            <a:noFill/>
          </a:ln>
        </p:spPr>
      </p:pic>
      <p:pic>
        <p:nvPicPr>
          <p:cNvPr id="206" name="Google Shape;206;p31"/>
          <p:cNvPicPr preferRelativeResize="0"/>
          <p:nvPr/>
        </p:nvPicPr>
        <p:blipFill>
          <a:blip r:embed="rId7">
            <a:alphaModFix/>
          </a:blip>
          <a:stretch>
            <a:fillRect/>
          </a:stretch>
        </p:blipFill>
        <p:spPr>
          <a:xfrm>
            <a:off x="4562717" y="1269013"/>
            <a:ext cx="2480123" cy="1500984"/>
          </a:xfrm>
          <a:prstGeom prst="rect">
            <a:avLst/>
          </a:prstGeom>
          <a:noFill/>
          <a:ln>
            <a:noFill/>
          </a:ln>
        </p:spPr>
      </p:pic>
      <p:graphicFrame>
        <p:nvGraphicFramePr>
          <p:cNvPr id="207" name="Google Shape;207;p31"/>
          <p:cNvGraphicFramePr/>
          <p:nvPr/>
        </p:nvGraphicFramePr>
        <p:xfrm>
          <a:off x="504888" y="1269013"/>
          <a:ext cx="3000000" cy="3000000"/>
        </p:xfrm>
        <a:graphic>
          <a:graphicData uri="http://schemas.openxmlformats.org/drawingml/2006/table">
            <a:tbl>
              <a:tblPr>
                <a:solidFill>
                  <a:srgbClr val="FFFFFF"/>
                </a:solidFill>
                <a:tableStyleId>{F160A365-C878-4280-91D2-AB27923DEEC6}</a:tableStyleId>
              </a:tblPr>
              <a:tblGrid>
                <a:gridCol w="815150"/>
                <a:gridCol w="399875"/>
              </a:tblGrid>
              <a:tr h="262375">
                <a:tc>
                  <a:txBody>
                    <a:bodyPr/>
                    <a:lstStyle/>
                    <a:p>
                      <a:pPr indent="0" lvl="0" marL="0" rtl="0" algn="ctr">
                        <a:lnSpc>
                          <a:spcPct val="115000"/>
                        </a:lnSpc>
                        <a:spcBef>
                          <a:spcPts val="0"/>
                        </a:spcBef>
                        <a:spcAft>
                          <a:spcPts val="0"/>
                        </a:spcAft>
                        <a:buNone/>
                      </a:pPr>
                      <a:r>
                        <a:rPr b="1" lang="en" sz="750">
                          <a:solidFill>
                            <a:srgbClr val="1F1F1F"/>
                          </a:solidFill>
                          <a:highlight>
                            <a:srgbClr val="FFFFFF"/>
                          </a:highlight>
                          <a:latin typeface="Roboto"/>
                          <a:ea typeface="Roboto"/>
                          <a:cs typeface="Roboto"/>
                          <a:sym typeface="Roboto"/>
                        </a:rPr>
                        <a:t>BMI Category</a:t>
                      </a:r>
                      <a:endParaRPr b="1"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ctr">
                        <a:lnSpc>
                          <a:spcPct val="115000"/>
                        </a:lnSpc>
                        <a:spcBef>
                          <a:spcPts val="0"/>
                        </a:spcBef>
                        <a:spcAft>
                          <a:spcPts val="0"/>
                        </a:spcAft>
                        <a:buNone/>
                      </a:pPr>
                      <a:r>
                        <a:rPr b="1" lang="en" sz="750">
                          <a:solidFill>
                            <a:srgbClr val="1F1F1F"/>
                          </a:solidFill>
                          <a:highlight>
                            <a:srgbClr val="FFFFFF"/>
                          </a:highlight>
                          <a:latin typeface="Roboto"/>
                          <a:ea typeface="Roboto"/>
                          <a:cs typeface="Roboto"/>
                          <a:sym typeface="Roboto"/>
                        </a:rPr>
                        <a:t>count</a:t>
                      </a:r>
                      <a:endParaRPr b="1"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Normal</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195</a:t>
                      </a:r>
                      <a:endParaRPr sz="750">
                        <a:solidFill>
                          <a:srgbClr val="1F1F1F"/>
                        </a:solidFill>
                        <a:highlight>
                          <a:srgbClr val="FFFFFF"/>
                        </a:highlight>
                        <a:latin typeface="Roboto"/>
                        <a:ea typeface="Roboto"/>
                        <a:cs typeface="Roboto"/>
                        <a:sym typeface="Roboto"/>
                      </a:endParaRPr>
                    </a:p>
                  </a:txBody>
                  <a:tcPr marT="66675" marB="66675" marR="66675" marL="66675"/>
                </a:tc>
              </a:tr>
              <a:tr h="35282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Normal Weight</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21</a:t>
                      </a:r>
                      <a:endParaRPr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Obese</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10</a:t>
                      </a:r>
                      <a:endParaRPr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Overweight</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148</a:t>
                      </a:r>
                      <a:endParaRPr sz="750">
                        <a:solidFill>
                          <a:srgbClr val="1F1F1F"/>
                        </a:solidFill>
                        <a:highlight>
                          <a:srgbClr val="FFFFFF"/>
                        </a:highlight>
                        <a:latin typeface="Roboto"/>
                        <a:ea typeface="Roboto"/>
                        <a:cs typeface="Roboto"/>
                        <a:sym typeface="Roboto"/>
                      </a:endParaRPr>
                    </a:p>
                  </a:txBody>
                  <a:tcPr marT="66675" marB="66675" marR="66675" marL="6667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type="title"/>
          </p:nvPr>
        </p:nvSpPr>
        <p:spPr>
          <a:xfrm>
            <a:off x="553950" y="649600"/>
            <a:ext cx="8131500" cy="109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4594"/>
              <a:buNone/>
            </a:pPr>
            <a:r>
              <a:rPr b="1" lang="en" sz="2220"/>
              <a:t>Data Insight: Engineers Sleep the Most, Sales Representatives Sleep the Least – Stress L</a:t>
            </a:r>
            <a:r>
              <a:rPr b="1" lang="en" sz="2220"/>
              <a:t>evels Reflect Sleep Durations. </a:t>
            </a:r>
            <a:r>
              <a:rPr b="1" lang="en" sz="2220"/>
              <a:t>  </a:t>
            </a:r>
            <a:endParaRPr b="1" sz="2220"/>
          </a:p>
        </p:txBody>
      </p:sp>
      <p:sp>
        <p:nvSpPr>
          <p:cNvPr id="213" name="Google Shape;213;p32"/>
          <p:cNvSpPr txBox="1"/>
          <p:nvPr>
            <p:ph idx="1" type="body"/>
          </p:nvPr>
        </p:nvSpPr>
        <p:spPr>
          <a:xfrm>
            <a:off x="458550" y="3627788"/>
            <a:ext cx="8211300" cy="86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This overlaid bar chart shows each occupation’s Sleep Duration average vs. Stress Level </a:t>
            </a:r>
            <a:r>
              <a:rPr lang="en" sz="1300">
                <a:solidFill>
                  <a:schemeClr val="dk1"/>
                </a:solidFill>
              </a:rPr>
              <a:t>average. The data reveals that the occupations with higher sleep durations tend to be less stressed than those with lower sleep durations. The data is making me reconsider my major, maybe I should switch to engineering </a:t>
            </a:r>
            <a:r>
              <a:rPr lang="en" sz="1200">
                <a:solidFill>
                  <a:srgbClr val="474747"/>
                </a:solidFill>
                <a:highlight>
                  <a:srgbClr val="FFFFFF"/>
                </a:highlight>
                <a:latin typeface="Roboto"/>
                <a:ea typeface="Roboto"/>
                <a:cs typeface="Roboto"/>
                <a:sym typeface="Roboto"/>
              </a:rPr>
              <a:t>😆</a:t>
            </a:r>
            <a:r>
              <a:rPr lang="en" sz="1300">
                <a:solidFill>
                  <a:schemeClr val="dk1"/>
                </a:solidFill>
              </a:rPr>
              <a:t>.    </a:t>
            </a:r>
            <a:endParaRPr sz="1300">
              <a:solidFill>
                <a:schemeClr val="dk1"/>
              </a:solidFill>
            </a:endParaRPr>
          </a:p>
          <a:p>
            <a:pPr indent="0" lvl="0" marL="0" rtl="0" algn="l">
              <a:lnSpc>
                <a:spcPct val="95000"/>
              </a:lnSpc>
              <a:spcBef>
                <a:spcPts val="1600"/>
              </a:spcBef>
              <a:spcAft>
                <a:spcPts val="1200"/>
              </a:spcAft>
              <a:buSzPts val="688"/>
              <a:buNone/>
            </a:pPr>
            <a:r>
              <a:t/>
            </a:r>
            <a:endParaRPr b="1" sz="1200"/>
          </a:p>
        </p:txBody>
      </p:sp>
      <p:sp>
        <p:nvSpPr>
          <p:cNvPr id="214" name="Google Shape;214;p32"/>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215" name="Google Shape;215;p32"/>
          <p:cNvPicPr preferRelativeResize="0"/>
          <p:nvPr/>
        </p:nvPicPr>
        <p:blipFill>
          <a:blip r:embed="rId4">
            <a:alphaModFix/>
          </a:blip>
          <a:stretch>
            <a:fillRect/>
          </a:stretch>
        </p:blipFill>
        <p:spPr>
          <a:xfrm>
            <a:off x="951288" y="1482588"/>
            <a:ext cx="4397101" cy="1924950"/>
          </a:xfrm>
          <a:prstGeom prst="rect">
            <a:avLst/>
          </a:prstGeom>
          <a:noFill/>
          <a:ln>
            <a:noFill/>
          </a:ln>
        </p:spPr>
      </p:pic>
      <p:pic>
        <p:nvPicPr>
          <p:cNvPr id="216" name="Google Shape;216;p32"/>
          <p:cNvPicPr preferRelativeResize="0"/>
          <p:nvPr/>
        </p:nvPicPr>
        <p:blipFill>
          <a:blip r:embed="rId5">
            <a:alphaModFix/>
          </a:blip>
          <a:stretch>
            <a:fillRect/>
          </a:stretch>
        </p:blipFill>
        <p:spPr>
          <a:xfrm>
            <a:off x="5868637" y="1468602"/>
            <a:ext cx="2095484" cy="1924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311700" y="2850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1920"/>
              <a:t>Permutation Test: Quality of Sleep vs. Stress Level </a:t>
            </a:r>
            <a:endParaRPr b="1" sz="1920"/>
          </a:p>
        </p:txBody>
      </p:sp>
      <p:sp>
        <p:nvSpPr>
          <p:cNvPr id="222" name="Google Shape;222;p33"/>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223" name="Google Shape;223;p33"/>
          <p:cNvPicPr preferRelativeResize="0"/>
          <p:nvPr/>
        </p:nvPicPr>
        <p:blipFill>
          <a:blip r:embed="rId4">
            <a:alphaModFix/>
          </a:blip>
          <a:stretch>
            <a:fillRect/>
          </a:stretch>
        </p:blipFill>
        <p:spPr>
          <a:xfrm>
            <a:off x="5890975" y="1286275"/>
            <a:ext cx="2059850" cy="1964525"/>
          </a:xfrm>
          <a:prstGeom prst="rect">
            <a:avLst/>
          </a:prstGeom>
          <a:noFill/>
          <a:ln>
            <a:noFill/>
          </a:ln>
        </p:spPr>
      </p:pic>
      <p:grpSp>
        <p:nvGrpSpPr>
          <p:cNvPr id="224" name="Google Shape;224;p33"/>
          <p:cNvGrpSpPr/>
          <p:nvPr/>
        </p:nvGrpSpPr>
        <p:grpSpPr>
          <a:xfrm>
            <a:off x="1193175" y="717225"/>
            <a:ext cx="4514725" cy="2533575"/>
            <a:chOff x="2926750" y="701850"/>
            <a:chExt cx="4514725" cy="2533575"/>
          </a:xfrm>
        </p:grpSpPr>
        <p:grpSp>
          <p:nvGrpSpPr>
            <p:cNvPr id="225" name="Google Shape;225;p33"/>
            <p:cNvGrpSpPr/>
            <p:nvPr/>
          </p:nvGrpSpPr>
          <p:grpSpPr>
            <a:xfrm>
              <a:off x="4010375" y="701850"/>
              <a:ext cx="3431100" cy="2533575"/>
              <a:chOff x="4434750" y="1017725"/>
              <a:chExt cx="3431100" cy="2533575"/>
            </a:xfrm>
          </p:grpSpPr>
          <p:pic>
            <p:nvPicPr>
              <p:cNvPr id="226" name="Google Shape;226;p33"/>
              <p:cNvPicPr preferRelativeResize="0"/>
              <p:nvPr/>
            </p:nvPicPr>
            <p:blipFill>
              <a:blip r:embed="rId5">
                <a:alphaModFix/>
              </a:blip>
              <a:stretch>
                <a:fillRect/>
              </a:stretch>
            </p:blipFill>
            <p:spPr>
              <a:xfrm>
                <a:off x="4538400" y="1525625"/>
                <a:ext cx="2938199" cy="2025675"/>
              </a:xfrm>
              <a:prstGeom prst="rect">
                <a:avLst/>
              </a:prstGeom>
              <a:noFill/>
              <a:ln>
                <a:noFill/>
              </a:ln>
            </p:spPr>
          </p:pic>
          <p:sp>
            <p:nvSpPr>
              <p:cNvPr id="227" name="Google Shape;227;p33"/>
              <p:cNvSpPr txBox="1"/>
              <p:nvPr/>
            </p:nvSpPr>
            <p:spPr>
              <a:xfrm>
                <a:off x="4434750" y="1017725"/>
                <a:ext cx="343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Observed correlation: -0.898752031004</a:t>
                </a:r>
                <a:endParaRPr sz="1050">
                  <a:solidFill>
                    <a:schemeClr val="dk1"/>
                  </a:solidFill>
                  <a:highlight>
                    <a:srgbClr val="FFFFFF"/>
                  </a:highlight>
                </a:endParaRPr>
              </a:p>
              <a:p>
                <a:pPr indent="0" lvl="0" marL="0" rtl="0" algn="l">
                  <a:spcBef>
                    <a:spcPts val="0"/>
                  </a:spcBef>
                  <a:spcAft>
                    <a:spcPts val="0"/>
                  </a:spcAft>
                  <a:buNone/>
                </a:pPr>
                <a:r>
                  <a:rPr lang="en" sz="1050">
                    <a:solidFill>
                      <a:schemeClr val="dk1"/>
                    </a:solidFill>
                    <a:highlight>
                      <a:srgbClr val="FFFFFF"/>
                    </a:highlight>
                  </a:rPr>
                  <a:t>p-value&lt;0.001</a:t>
                </a:r>
                <a:endParaRPr>
                  <a:solidFill>
                    <a:schemeClr val="dk1"/>
                  </a:solidFill>
                </a:endParaRPr>
              </a:p>
            </p:txBody>
          </p:sp>
        </p:grpSp>
        <p:cxnSp>
          <p:nvCxnSpPr>
            <p:cNvPr id="228" name="Google Shape;228;p33"/>
            <p:cNvCxnSpPr/>
            <p:nvPr/>
          </p:nvCxnSpPr>
          <p:spPr>
            <a:xfrm flipH="1">
              <a:off x="2926750" y="1062225"/>
              <a:ext cx="1500" cy="1885800"/>
            </a:xfrm>
            <a:prstGeom prst="straightConnector1">
              <a:avLst/>
            </a:prstGeom>
            <a:noFill/>
            <a:ln cap="flat" cmpd="sng" w="28575">
              <a:solidFill>
                <a:srgbClr val="FF0000"/>
              </a:solidFill>
              <a:prstDash val="solid"/>
              <a:round/>
              <a:headEnd len="med" w="med" type="none"/>
              <a:tailEnd len="med" w="med" type="triangle"/>
            </a:ln>
          </p:spPr>
        </p:cxnSp>
      </p:grpSp>
      <p:grpSp>
        <p:nvGrpSpPr>
          <p:cNvPr id="229" name="Google Shape;229;p33"/>
          <p:cNvGrpSpPr/>
          <p:nvPr/>
        </p:nvGrpSpPr>
        <p:grpSpPr>
          <a:xfrm>
            <a:off x="311700" y="3497425"/>
            <a:ext cx="8426700" cy="1015800"/>
            <a:chOff x="449300" y="3497425"/>
            <a:chExt cx="8426700" cy="1015800"/>
          </a:xfrm>
        </p:grpSpPr>
        <p:sp>
          <p:nvSpPr>
            <p:cNvPr id="230" name="Google Shape;230;p33"/>
            <p:cNvSpPr txBox="1"/>
            <p:nvPr/>
          </p:nvSpPr>
          <p:spPr>
            <a:xfrm>
              <a:off x="449300" y="3605125"/>
              <a:ext cx="32148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FF"/>
                  </a:solidFill>
                </a:rPr>
                <a:t>H0: there is no association between Stress Level and Quality of Sleep</a:t>
              </a:r>
              <a:endParaRPr sz="1000">
                <a:solidFill>
                  <a:srgbClr val="0000FF"/>
                </a:solidFill>
              </a:endParaRPr>
            </a:p>
            <a:p>
              <a:pPr indent="0" lvl="0" marL="0" rtl="0" algn="l">
                <a:spcBef>
                  <a:spcPts val="0"/>
                </a:spcBef>
                <a:spcAft>
                  <a:spcPts val="0"/>
                </a:spcAft>
                <a:buNone/>
              </a:pPr>
              <a:r>
                <a:rPr lang="en" sz="1000">
                  <a:solidFill>
                    <a:srgbClr val="0000FF"/>
                  </a:solidFill>
                </a:rPr>
                <a:t> </a:t>
              </a:r>
              <a:endParaRPr sz="1000">
                <a:solidFill>
                  <a:srgbClr val="0000FF"/>
                </a:solidFill>
              </a:endParaRPr>
            </a:p>
            <a:p>
              <a:pPr indent="0" lvl="0" marL="0" rtl="0" algn="l">
                <a:spcBef>
                  <a:spcPts val="0"/>
                </a:spcBef>
                <a:spcAft>
                  <a:spcPts val="0"/>
                </a:spcAft>
                <a:buNone/>
              </a:pPr>
              <a:r>
                <a:rPr lang="en" sz="1000">
                  <a:solidFill>
                    <a:srgbClr val="0000FF"/>
                  </a:solidFill>
                </a:rPr>
                <a:t>H1: Higher sleep quality leads to lower stress levels </a:t>
              </a:r>
              <a:endParaRPr sz="1000">
                <a:solidFill>
                  <a:srgbClr val="0000FF"/>
                </a:solidFill>
              </a:endParaRPr>
            </a:p>
          </p:txBody>
        </p:sp>
        <p:sp>
          <p:nvSpPr>
            <p:cNvPr id="231" name="Google Shape;231;p33"/>
            <p:cNvSpPr txBox="1"/>
            <p:nvPr/>
          </p:nvSpPr>
          <p:spPr>
            <a:xfrm>
              <a:off x="3664100" y="3497425"/>
              <a:ext cx="5211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0000FF"/>
                  </a:solidFill>
                </a:rPr>
                <a:t>Conclusion: </a:t>
              </a:r>
              <a:endParaRPr sz="900">
                <a:solidFill>
                  <a:srgbClr val="0000FF"/>
                </a:solidFill>
              </a:endParaRPr>
            </a:p>
            <a:p>
              <a:pPr indent="-285750" lvl="0" marL="457200" rtl="0" algn="l">
                <a:spcBef>
                  <a:spcPts val="0"/>
                </a:spcBef>
                <a:spcAft>
                  <a:spcPts val="0"/>
                </a:spcAft>
                <a:buClr>
                  <a:srgbClr val="0000FF"/>
                </a:buClr>
                <a:buSzPts val="900"/>
                <a:buChar char="●"/>
              </a:pPr>
              <a:r>
                <a:rPr b="1" lang="en" sz="900">
                  <a:solidFill>
                    <a:srgbClr val="0000FF"/>
                  </a:solidFill>
                </a:rPr>
                <a:t>Layman’s version:</a:t>
              </a:r>
              <a:r>
                <a:rPr lang="en" sz="900">
                  <a:solidFill>
                    <a:srgbClr val="0000FF"/>
                  </a:solidFill>
                </a:rPr>
                <a:t> there is strong evidence supporting the claim that higher sleep quality leads to lower stress levels. </a:t>
              </a:r>
              <a:endParaRPr sz="900">
                <a:solidFill>
                  <a:srgbClr val="0000FF"/>
                </a:solidFill>
              </a:endParaRPr>
            </a:p>
            <a:p>
              <a:pPr indent="-285750" lvl="0" marL="457200" rtl="0" algn="l">
                <a:spcBef>
                  <a:spcPts val="0"/>
                </a:spcBef>
                <a:spcAft>
                  <a:spcPts val="0"/>
                </a:spcAft>
                <a:buClr>
                  <a:srgbClr val="0000FF"/>
                </a:buClr>
                <a:buSzPts val="900"/>
                <a:buChar char="●"/>
              </a:pPr>
              <a:r>
                <a:rPr b="1" lang="en" sz="900">
                  <a:solidFill>
                    <a:srgbClr val="0000FF"/>
                  </a:solidFill>
                </a:rPr>
                <a:t>Scientific version: </a:t>
              </a:r>
              <a:r>
                <a:rPr lang="en" sz="900">
                  <a:solidFill>
                    <a:srgbClr val="0000FF"/>
                  </a:solidFill>
                </a:rPr>
                <a:t>assuming null hypothesis that there is no relationship between stress level and quality of sleep, the chance of seeing a difference at -0.899 or larger is less than 0.001. We reject the null hypothesis at a significance level of 0.001</a:t>
              </a:r>
              <a:endParaRPr sz="900">
                <a:solidFill>
                  <a:srgbClr val="0000FF"/>
                </a:solidFill>
              </a:endParaRPr>
            </a:p>
          </p:txBody>
        </p:sp>
      </p:grpSp>
      <p:sp>
        <p:nvSpPr>
          <p:cNvPr id="232" name="Google Shape;232;p33"/>
          <p:cNvSpPr txBox="1"/>
          <p:nvPr/>
        </p:nvSpPr>
        <p:spPr>
          <a:xfrm>
            <a:off x="557525" y="2968950"/>
            <a:ext cx="12963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-0.898752031004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4"/>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38" name="Google Shape;238;p34"/>
          <p:cNvSpPr txBox="1"/>
          <p:nvPr>
            <p:ph idx="1" type="body"/>
          </p:nvPr>
        </p:nvSpPr>
        <p:spPr>
          <a:xfrm>
            <a:off x="311700" y="884925"/>
            <a:ext cx="8691600" cy="1133400"/>
          </a:xfrm>
          <a:prstGeom prst="rect">
            <a:avLst/>
          </a:prstGeom>
        </p:spPr>
        <p:txBody>
          <a:bodyPr anchorCtr="0" anchor="t" bIns="91425" lIns="91425" spcFirstLastPara="1" rIns="91425" wrap="square" tIns="91425">
            <a:noAutofit/>
          </a:bodyPr>
          <a:lstStyle/>
          <a:p>
            <a:pPr indent="-316230" lvl="1" marL="914400" rtl="0" algn="l">
              <a:lnSpc>
                <a:spcPct val="95000"/>
              </a:lnSpc>
              <a:spcBef>
                <a:spcPts val="0"/>
              </a:spcBef>
              <a:spcAft>
                <a:spcPts val="0"/>
              </a:spcAft>
              <a:buClr>
                <a:srgbClr val="695D46"/>
              </a:buClr>
              <a:buSzPts val="1380"/>
              <a:buFont typeface="Open Sans"/>
              <a:buChar char="○"/>
            </a:pPr>
            <a:r>
              <a:rPr lang="en" sz="1380">
                <a:solidFill>
                  <a:srgbClr val="695D46"/>
                </a:solidFill>
                <a:latin typeface="Open Sans"/>
                <a:ea typeface="Open Sans"/>
                <a:cs typeface="Open Sans"/>
                <a:sym typeface="Open Sans"/>
              </a:rPr>
              <a:t>This graph shows the average stress level and sleep </a:t>
            </a:r>
            <a:r>
              <a:rPr lang="en" sz="1380">
                <a:solidFill>
                  <a:srgbClr val="695D46"/>
                </a:solidFill>
                <a:latin typeface="Open Sans"/>
                <a:ea typeface="Open Sans"/>
                <a:cs typeface="Open Sans"/>
                <a:sym typeface="Open Sans"/>
              </a:rPr>
              <a:t>quality for both female doctors and male doctors indicating that female doctors sleep better than male doctors but have more stress on them. This made me question why this was and a part of me was considering that it could be because within the data table there were far more male doctors than female doctors, however, I wanted to dig deeper and get more insightful answers. </a:t>
            </a:r>
            <a:endParaRPr b="1" sz="1380"/>
          </a:p>
        </p:txBody>
      </p:sp>
      <p:sp>
        <p:nvSpPr>
          <p:cNvPr id="239" name="Google Shape;239;p3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240" name="Google Shape;240;p34"/>
          <p:cNvPicPr preferRelativeResize="0"/>
          <p:nvPr/>
        </p:nvPicPr>
        <p:blipFill>
          <a:blip r:embed="rId4">
            <a:alphaModFix/>
          </a:blip>
          <a:stretch>
            <a:fillRect/>
          </a:stretch>
        </p:blipFill>
        <p:spPr>
          <a:xfrm>
            <a:off x="955613" y="2200350"/>
            <a:ext cx="7232773" cy="2760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46" name="Google Shape;246;p35"/>
          <p:cNvSpPr txBox="1"/>
          <p:nvPr>
            <p:ph idx="1" type="body"/>
          </p:nvPr>
        </p:nvSpPr>
        <p:spPr>
          <a:xfrm>
            <a:off x="311700" y="884925"/>
            <a:ext cx="8691600" cy="1133400"/>
          </a:xfrm>
          <a:prstGeom prst="rect">
            <a:avLst/>
          </a:prstGeom>
        </p:spPr>
        <p:txBody>
          <a:bodyPr anchorCtr="0" anchor="t" bIns="91425" lIns="91425" spcFirstLastPara="1" rIns="91425" wrap="square" tIns="91425">
            <a:noAutofit/>
          </a:bodyPr>
          <a:lstStyle/>
          <a:p>
            <a:pPr indent="-335280" lvl="1" marL="9144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This article that I found explained that female doctors have a higher workload compared to male doctors but also </a:t>
            </a:r>
            <a:r>
              <a:rPr lang="en" sz="1679">
                <a:solidFill>
                  <a:srgbClr val="695D46"/>
                </a:solidFill>
                <a:latin typeface="Open Sans"/>
                <a:ea typeface="Open Sans"/>
                <a:cs typeface="Open Sans"/>
                <a:sym typeface="Open Sans"/>
              </a:rPr>
              <a:t>receive</a:t>
            </a:r>
            <a:r>
              <a:rPr lang="en" sz="1679">
                <a:solidFill>
                  <a:srgbClr val="695D46"/>
                </a:solidFill>
                <a:latin typeface="Open Sans"/>
                <a:ea typeface="Open Sans"/>
                <a:cs typeface="Open Sans"/>
                <a:sym typeface="Open Sans"/>
              </a:rPr>
              <a:t> fewer resources and less control over their workload and schedules. It also reported that women lack in leadership roles and face a compensation </a:t>
            </a:r>
            <a:r>
              <a:rPr lang="en" sz="1679">
                <a:solidFill>
                  <a:srgbClr val="695D46"/>
                </a:solidFill>
                <a:latin typeface="Open Sans"/>
                <a:ea typeface="Open Sans"/>
                <a:cs typeface="Open Sans"/>
                <a:sym typeface="Open Sans"/>
              </a:rPr>
              <a:t>disparity</a:t>
            </a:r>
            <a:r>
              <a:rPr lang="en" sz="1679">
                <a:solidFill>
                  <a:srgbClr val="695D46"/>
                </a:solidFill>
                <a:latin typeface="Open Sans"/>
                <a:ea typeface="Open Sans"/>
                <a:cs typeface="Open Sans"/>
                <a:sym typeface="Open Sans"/>
              </a:rPr>
              <a:t> which could explain why there were fewer female doctors than male doctors. There are also less rate of career advancements for them and this may cause lower self-compassion and higher stress levels. This ties into my theory that the reason there was less female doctors than male doctors within the data was because of there being gender inequality within the work field, causing it to impact the two differing genders differently. This caused me to ask another curious question, </a:t>
            </a:r>
            <a:endParaRPr sz="1679">
              <a:solidFill>
                <a:srgbClr val="695D46"/>
              </a:solidFill>
              <a:latin typeface="Open Sans"/>
              <a:ea typeface="Open Sans"/>
              <a:cs typeface="Open Sans"/>
              <a:sym typeface="Open Sans"/>
            </a:endParaRPr>
          </a:p>
          <a:p>
            <a:pPr indent="-335280" lvl="2" marL="13716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Does this impact the doctor field or does this result happen in all job fields?</a:t>
            </a:r>
            <a:endParaRPr sz="1679">
              <a:solidFill>
                <a:srgbClr val="695D46"/>
              </a:solidFill>
              <a:latin typeface="Open Sans"/>
              <a:ea typeface="Open Sans"/>
              <a:cs typeface="Open Sans"/>
              <a:sym typeface="Open Sans"/>
            </a:endParaRPr>
          </a:p>
          <a:p>
            <a:pPr indent="-322580" lvl="0" marL="457200" rtl="0" algn="l">
              <a:lnSpc>
                <a:spcPct val="95000"/>
              </a:lnSpc>
              <a:spcBef>
                <a:spcPts val="0"/>
              </a:spcBef>
              <a:spcAft>
                <a:spcPts val="0"/>
              </a:spcAft>
              <a:buClr>
                <a:srgbClr val="695D46"/>
              </a:buClr>
              <a:buSzPts val="1480"/>
              <a:buFont typeface="Open Sans"/>
              <a:buChar char="●"/>
            </a:pPr>
            <a:r>
              <a:rPr lang="en" sz="1679">
                <a:solidFill>
                  <a:srgbClr val="695D46"/>
                </a:solidFill>
                <a:latin typeface="Open Sans"/>
                <a:ea typeface="Open Sans"/>
                <a:cs typeface="Open Sans"/>
                <a:sym typeface="Open Sans"/>
              </a:rPr>
              <a:t>Source: </a:t>
            </a:r>
            <a:r>
              <a:rPr lang="en" sz="1400" u="sng">
                <a:solidFill>
                  <a:srgbClr val="1155CC"/>
                </a:solidFill>
                <a:latin typeface="Open Sans"/>
                <a:ea typeface="Open Sans"/>
                <a:cs typeface="Open Sans"/>
                <a:sym typeface="Open Sans"/>
                <a:hlinkClick r:id="rId4">
                  <a:extLst>
                    <a:ext uri="{A12FA001-AC4F-418D-AE19-62706E023703}">
                      <ahyp:hlinkClr val="tx"/>
                    </a:ext>
                  </a:extLst>
                </a:hlinkClick>
              </a:rPr>
              <a:t>Gender Differences in Physician Burnout: Driving Factors and Potential Solutions</a:t>
            </a:r>
            <a:endParaRPr sz="1679">
              <a:solidFill>
                <a:srgbClr val="695D46"/>
              </a:solidFill>
              <a:latin typeface="Open Sans"/>
              <a:ea typeface="Open Sans"/>
              <a:cs typeface="Open Sans"/>
              <a:sym typeface="Open Sans"/>
            </a:endParaRPr>
          </a:p>
        </p:txBody>
      </p:sp>
      <p:sp>
        <p:nvSpPr>
          <p:cNvPr id="247" name="Google Shape;247;p35"/>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53" name="Google Shape;253;p36"/>
          <p:cNvSpPr txBox="1"/>
          <p:nvPr>
            <p:ph idx="1" type="body"/>
          </p:nvPr>
        </p:nvSpPr>
        <p:spPr>
          <a:xfrm>
            <a:off x="311700" y="1152475"/>
            <a:ext cx="4260300" cy="3521700"/>
          </a:xfrm>
          <a:prstGeom prst="rect">
            <a:avLst/>
          </a:prstGeom>
        </p:spPr>
        <p:txBody>
          <a:bodyPr anchorCtr="0" anchor="t" bIns="91425" lIns="91425" spcFirstLastPara="1" rIns="91425" wrap="square" tIns="91425">
            <a:noAutofit/>
          </a:bodyPr>
          <a:lstStyle/>
          <a:p>
            <a:pPr indent="-309880" lvl="1" marL="914400" rtl="0" algn="l">
              <a:lnSpc>
                <a:spcPct val="95000"/>
              </a:lnSpc>
              <a:spcBef>
                <a:spcPts val="0"/>
              </a:spcBef>
              <a:spcAft>
                <a:spcPts val="0"/>
              </a:spcAft>
              <a:buClr>
                <a:srgbClr val="695D46"/>
              </a:buClr>
              <a:buSzPts val="1280"/>
              <a:buFont typeface="Open Sans"/>
              <a:buChar char="○"/>
            </a:pPr>
            <a:r>
              <a:rPr lang="en" sz="1280">
                <a:solidFill>
                  <a:srgbClr val="695D46"/>
                </a:solidFill>
                <a:latin typeface="Open Sans"/>
                <a:ea typeface="Open Sans"/>
                <a:cs typeface="Open Sans"/>
                <a:sym typeface="Open Sans"/>
              </a:rPr>
              <a:t>This graph shows the difference between those with STEM jobs as well as those in non-STEM job fields. The STEM jobs are based off of the table so they include those who are Software Engineers, Nurses, Doctors, Scientists, and Engineers. The non-STEM jobs are those who are anything outside of those fields in the data table. According to the data, it seems that for the most part they have similar stress levels as I took the average stress level of both those who are in non-STEM and those who are in STEM. This could be due to the fact that despite Lawyer being a non-STEM job, it still has those in the profession working 24/7 on cases and being stressed. This </a:t>
            </a:r>
            <a:r>
              <a:rPr lang="en" sz="1280">
                <a:solidFill>
                  <a:srgbClr val="695D46"/>
                </a:solidFill>
                <a:latin typeface="Open Sans"/>
                <a:ea typeface="Open Sans"/>
                <a:cs typeface="Open Sans"/>
                <a:sym typeface="Open Sans"/>
              </a:rPr>
              <a:t>would</a:t>
            </a:r>
            <a:r>
              <a:rPr lang="en" sz="1280">
                <a:solidFill>
                  <a:srgbClr val="695D46"/>
                </a:solidFill>
                <a:latin typeface="Open Sans"/>
                <a:ea typeface="Open Sans"/>
                <a:cs typeface="Open Sans"/>
                <a:sym typeface="Open Sans"/>
              </a:rPr>
              <a:t> be </a:t>
            </a:r>
            <a:r>
              <a:rPr lang="en" sz="1280">
                <a:solidFill>
                  <a:srgbClr val="695D46"/>
                </a:solidFill>
                <a:latin typeface="Open Sans"/>
                <a:ea typeface="Open Sans"/>
                <a:cs typeface="Open Sans"/>
                <a:sym typeface="Open Sans"/>
              </a:rPr>
              <a:t>something</a:t>
            </a:r>
            <a:r>
              <a:rPr lang="en" sz="1280">
                <a:solidFill>
                  <a:srgbClr val="695D46"/>
                </a:solidFill>
                <a:latin typeface="Open Sans"/>
                <a:ea typeface="Open Sans"/>
                <a:cs typeface="Open Sans"/>
                <a:sym typeface="Open Sans"/>
              </a:rPr>
              <a:t> we would take into account when making our final research insights. </a:t>
            </a:r>
            <a:endParaRPr b="1" sz="1280"/>
          </a:p>
        </p:txBody>
      </p:sp>
      <p:sp>
        <p:nvSpPr>
          <p:cNvPr id="254" name="Google Shape;254;p36"/>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255" name="Google Shape;255;p36"/>
          <p:cNvPicPr preferRelativeResize="0"/>
          <p:nvPr/>
        </p:nvPicPr>
        <p:blipFill rotWithShape="1">
          <a:blip r:embed="rId4">
            <a:alphaModFix/>
          </a:blip>
          <a:srcRect b="0" l="5258" r="5329" t="0"/>
          <a:stretch/>
        </p:blipFill>
        <p:spPr>
          <a:xfrm>
            <a:off x="4851375" y="1650125"/>
            <a:ext cx="3815575" cy="2144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7"/>
          <p:cNvSpPr txBox="1"/>
          <p:nvPr>
            <p:ph type="title"/>
          </p:nvPr>
        </p:nvSpPr>
        <p:spPr>
          <a:xfrm>
            <a:off x="311700" y="1337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020"/>
              <a:t>Progress</a:t>
            </a:r>
            <a:endParaRPr sz="2020"/>
          </a:p>
        </p:txBody>
      </p:sp>
      <p:sp>
        <p:nvSpPr>
          <p:cNvPr id="261" name="Google Shape;261;p37"/>
          <p:cNvSpPr txBox="1"/>
          <p:nvPr/>
        </p:nvSpPr>
        <p:spPr>
          <a:xfrm>
            <a:off x="0" y="0"/>
            <a:ext cx="27651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and Car Mangana</a:t>
            </a:r>
            <a:endParaRPr sz="1100">
              <a:solidFill>
                <a:schemeClr val="dk1"/>
              </a:solidFill>
            </a:endParaRPr>
          </a:p>
        </p:txBody>
      </p:sp>
      <p:sp>
        <p:nvSpPr>
          <p:cNvPr id="262" name="Google Shape;262;p37"/>
          <p:cNvSpPr txBox="1"/>
          <p:nvPr>
            <p:ph idx="1" type="body"/>
          </p:nvPr>
        </p:nvSpPr>
        <p:spPr>
          <a:xfrm>
            <a:off x="280950" y="594300"/>
            <a:ext cx="8582100" cy="4549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390">
                <a:solidFill>
                  <a:schemeClr val="dk1"/>
                </a:solidFill>
              </a:rPr>
              <a:t>This week, Car and Brittany answered the following curious questions from the previous Mini-Update #1:</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Is there any correlation between sleep and BMI category? (Plus permutation test)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Does gender impact the doctor lifestyle?</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How do the stress levels compare between STEM jobs and those who are not?</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Brittany</a:t>
            </a:r>
            <a:r>
              <a:rPr lang="en" sz="1390">
                <a:solidFill>
                  <a:schemeClr val="dk1"/>
                </a:solidFill>
              </a:rPr>
              <a:t> came up with another curious question: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Occupation vs. sleep, any patterns or trends?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Brittany didn’t have any major obstacles this week. Brittany used previous labs and class slides to help her write code. Car also didn’t have any major obstacles and used previous code from labs and google to help further her research.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Carlyn and Brittany both contributed to the project this week. They filled out the spreadsheet and put their names on the slides that they covered in this update.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next week, the plan is to: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Answer 2-3 more curious questions</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Come up with new questions and insights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Start working on the Final Deliverable (Brainstorming, outlining, drafting, etc.) </a:t>
            </a:r>
            <a:endParaRPr sz="139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268" name="Google Shape;268;p38"/>
          <p:cNvSpPr txBox="1"/>
          <p:nvPr>
            <p:ph idx="1" type="body"/>
          </p:nvPr>
        </p:nvSpPr>
        <p:spPr>
          <a:xfrm>
            <a:off x="280950" y="1303800"/>
            <a:ext cx="8582100" cy="38397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a:solidFill>
                  <a:schemeClr val="dk1"/>
                </a:solidFill>
                <a:latin typeface="Open Sans"/>
                <a:ea typeface="Open Sans"/>
                <a:cs typeface="Open Sans"/>
                <a:sym typeface="Open Sans"/>
              </a:rPr>
              <a:t>The feedback that we received was to have 2-3 data insights per week, therefore we each did about 2-3 insights to further our research. We also worked on providing more questions within our research so that we can keep branching out further than the data table. </a:t>
            </a:r>
            <a:r>
              <a:rPr lang="en">
                <a:solidFill>
                  <a:schemeClr val="dk1"/>
                </a:solidFill>
                <a:latin typeface="Open Sans"/>
                <a:ea typeface="Open Sans"/>
                <a:cs typeface="Open Sans"/>
                <a:sym typeface="Open Sans"/>
              </a:rPr>
              <a:t>We would love to learn more about how to further use our data to create more important insights and questions that can aid our data story in the future! We would also love </a:t>
            </a:r>
            <a:r>
              <a:rPr lang="en">
                <a:solidFill>
                  <a:schemeClr val="dk1"/>
                </a:solidFill>
                <a:latin typeface="Open Sans"/>
                <a:ea typeface="Open Sans"/>
                <a:cs typeface="Open Sans"/>
                <a:sym typeface="Open Sans"/>
              </a:rPr>
              <a:t>to</a:t>
            </a:r>
            <a:r>
              <a:rPr lang="en">
                <a:solidFill>
                  <a:schemeClr val="dk1"/>
                </a:solidFill>
                <a:latin typeface="Open Sans"/>
                <a:ea typeface="Open Sans"/>
                <a:cs typeface="Open Sans"/>
                <a:sym typeface="Open Sans"/>
              </a:rPr>
              <a:t> learn more methods to get the most out of our data. </a:t>
            </a:r>
            <a:endParaRPr>
              <a:solidFill>
                <a:schemeClr val="dk1"/>
              </a:solidFill>
              <a:latin typeface="Open Sans"/>
              <a:ea typeface="Open Sans"/>
              <a:cs typeface="Open Sans"/>
              <a:sym typeface="Open Sans"/>
            </a:endParaRPr>
          </a:p>
          <a:p>
            <a:pPr indent="0" lvl="0" marL="0" rtl="0" algn="l">
              <a:spcBef>
                <a:spcPts val="1600"/>
              </a:spcBef>
              <a:spcAft>
                <a:spcPts val="1200"/>
              </a:spcAft>
              <a:buNone/>
            </a:pPr>
            <a:r>
              <a:t/>
            </a:r>
            <a:endParaRPr b="1"/>
          </a:p>
        </p:txBody>
      </p:sp>
      <p:sp>
        <p:nvSpPr>
          <p:cNvPr id="269" name="Google Shape;269;p38"/>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a:t>
            </a:r>
            <a:r>
              <a:rPr lang="en"/>
              <a:t>2</a:t>
            </a:r>
            <a:endParaRPr/>
          </a:p>
        </p:txBody>
      </p:sp>
      <p:sp>
        <p:nvSpPr>
          <p:cNvPr id="275" name="Google Shape;275;p39"/>
          <p:cNvSpPr txBox="1"/>
          <p:nvPr>
            <p:ph idx="1" type="subTitle"/>
          </p:nvPr>
        </p:nvSpPr>
        <p:spPr>
          <a:xfrm>
            <a:off x="311700" y="2834125"/>
            <a:ext cx="8520600" cy="984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sz="2300"/>
              <a:t>By Brittany Huynh and Carlyn Mangana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04/13/2025</a:t>
            </a:r>
            <a:endParaRPr sz="23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81" name="Google Shape;281;p40"/>
          <p:cNvSpPr txBox="1"/>
          <p:nvPr>
            <p:ph idx="1" type="body"/>
          </p:nvPr>
        </p:nvSpPr>
        <p:spPr>
          <a:xfrm>
            <a:off x="311700" y="1152475"/>
            <a:ext cx="4260300" cy="3521700"/>
          </a:xfrm>
          <a:prstGeom prst="rect">
            <a:avLst/>
          </a:prstGeom>
        </p:spPr>
        <p:txBody>
          <a:bodyPr anchorCtr="0" anchor="t" bIns="91425" lIns="91425" spcFirstLastPara="1" rIns="91425" wrap="square" tIns="91425">
            <a:noAutofit/>
          </a:bodyPr>
          <a:lstStyle/>
          <a:p>
            <a:pPr indent="-309880" lvl="1" marL="914400" rtl="0" algn="l">
              <a:lnSpc>
                <a:spcPct val="95000"/>
              </a:lnSpc>
              <a:spcBef>
                <a:spcPts val="0"/>
              </a:spcBef>
              <a:spcAft>
                <a:spcPts val="0"/>
              </a:spcAft>
              <a:buClr>
                <a:srgbClr val="695D46"/>
              </a:buClr>
              <a:buSzPts val="1280"/>
              <a:buFont typeface="Open Sans"/>
              <a:buChar char="○"/>
            </a:pPr>
            <a:r>
              <a:rPr lang="en" sz="1280">
                <a:solidFill>
                  <a:srgbClr val="695D46"/>
                </a:solidFill>
                <a:latin typeface="Open Sans"/>
                <a:ea typeface="Open Sans"/>
                <a:cs typeface="Open Sans"/>
                <a:sym typeface="Open Sans"/>
              </a:rPr>
              <a:t>This graph shows the various job fields within the data table and how the average physical activity of each job field. The physical activity is on a scale of 0-100, 0 being no physical activity and 100 being very active. Based off of the data results, </a:t>
            </a:r>
            <a:r>
              <a:rPr lang="en" sz="1280">
                <a:solidFill>
                  <a:srgbClr val="695D46"/>
                </a:solidFill>
                <a:latin typeface="Open Sans"/>
                <a:ea typeface="Open Sans"/>
                <a:cs typeface="Open Sans"/>
                <a:sym typeface="Open Sans"/>
              </a:rPr>
              <a:t>it seems that healthcare workers have the highest physical activity average. This could be due to the fact that doctors and nurses are always </a:t>
            </a:r>
            <a:r>
              <a:rPr lang="en" sz="1280">
                <a:solidFill>
                  <a:srgbClr val="695D46"/>
                </a:solidFill>
                <a:latin typeface="Open Sans"/>
                <a:ea typeface="Open Sans"/>
                <a:cs typeface="Open Sans"/>
                <a:sym typeface="Open Sans"/>
              </a:rPr>
              <a:t>on their feet running around hospitals to tend to those in need. It seems that service workers are the lowest in physical activity average it could indicate that sales representatives these days usually work from home to raise their sales, meaning they don’t need to walk around as much. </a:t>
            </a:r>
            <a:endParaRPr b="1" sz="1280"/>
          </a:p>
        </p:txBody>
      </p:sp>
      <p:pic>
        <p:nvPicPr>
          <p:cNvPr id="282" name="Google Shape;282;p40"/>
          <p:cNvPicPr preferRelativeResize="0"/>
          <p:nvPr/>
        </p:nvPicPr>
        <p:blipFill>
          <a:blip r:embed="rId3">
            <a:alphaModFix/>
          </a:blip>
          <a:stretch>
            <a:fillRect/>
          </a:stretch>
        </p:blipFill>
        <p:spPr>
          <a:xfrm>
            <a:off x="4957600" y="1461076"/>
            <a:ext cx="3707246" cy="2070000"/>
          </a:xfrm>
          <a:prstGeom prst="rect">
            <a:avLst/>
          </a:prstGeom>
          <a:noFill/>
          <a:ln>
            <a:noFill/>
          </a:ln>
        </p:spPr>
      </p:pic>
      <p:sp>
        <p:nvSpPr>
          <p:cNvPr id="283" name="Google Shape;283;p40"/>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592500" y="1909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Data Insight: Doctors and Nurses are more physically active than all other occupations on average. </a:t>
            </a:r>
            <a:endParaRPr b="1" sz="2220"/>
          </a:p>
        </p:txBody>
      </p:sp>
      <p:sp>
        <p:nvSpPr>
          <p:cNvPr id="289" name="Google Shape;289;p41"/>
          <p:cNvSpPr txBox="1"/>
          <p:nvPr>
            <p:ph idx="1" type="body"/>
          </p:nvPr>
        </p:nvSpPr>
        <p:spPr>
          <a:xfrm>
            <a:off x="280950" y="3095000"/>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These bar graphs show the Daily Steps average and Physical Activity Level average of Doctors, Nurses, and all other occupations. These graphs are used to answer my curious question, “Are doctors more physically active than non-doctors?” This insight is similar to Car’s insight on the previous slide. The data shows that both doctors and nurses are more physically active than all other occupations in the dataset, including workers in sales, engineering, education, and more. It’s a well-known fact that moderate amounts of daily physical activity improve well-being, boost heart health, and help maintain a healthy weight. However, </a:t>
            </a:r>
            <a:r>
              <a:rPr lang="en" sz="1300" u="sng">
                <a:solidFill>
                  <a:schemeClr val="hlink"/>
                </a:solidFill>
                <a:hlinkClick r:id="rId3"/>
              </a:rPr>
              <a:t>this article</a:t>
            </a:r>
            <a:r>
              <a:rPr lang="en" sz="1300">
                <a:solidFill>
                  <a:schemeClr val="dk1"/>
                </a:solidFill>
              </a:rPr>
              <a:t> claims that healthcare workers experienced significant burnout and stress, especially during the height of the COVID-19 pandemic. </a:t>
            </a:r>
            <a:r>
              <a:rPr lang="en" sz="1300">
                <a:solidFill>
                  <a:schemeClr val="dk1"/>
                </a:solidFill>
              </a:rPr>
              <a:t>This leads to me to pose another question, how do the stress levels of doctors and nurses compare to all other occupations in this dataset?</a:t>
            </a:r>
            <a:r>
              <a:rPr lang="en" sz="1200">
                <a:solidFill>
                  <a:schemeClr val="dk1"/>
                </a:solidFill>
              </a:rPr>
              <a:t>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pic>
        <p:nvPicPr>
          <p:cNvPr id="290" name="Google Shape;290;p41"/>
          <p:cNvPicPr preferRelativeResize="0"/>
          <p:nvPr/>
        </p:nvPicPr>
        <p:blipFill>
          <a:blip r:embed="rId4">
            <a:alphaModFix/>
          </a:blip>
          <a:stretch>
            <a:fillRect/>
          </a:stretch>
        </p:blipFill>
        <p:spPr>
          <a:xfrm>
            <a:off x="1545850" y="1103825"/>
            <a:ext cx="3007348" cy="1905000"/>
          </a:xfrm>
          <a:prstGeom prst="rect">
            <a:avLst/>
          </a:prstGeom>
          <a:noFill/>
          <a:ln>
            <a:noFill/>
          </a:ln>
        </p:spPr>
      </p:pic>
      <p:pic>
        <p:nvPicPr>
          <p:cNvPr id="291" name="Google Shape;291;p41"/>
          <p:cNvPicPr preferRelativeResize="0"/>
          <p:nvPr/>
        </p:nvPicPr>
        <p:blipFill>
          <a:blip r:embed="rId5">
            <a:alphaModFix/>
          </a:blip>
          <a:stretch>
            <a:fillRect/>
          </a:stretch>
        </p:blipFill>
        <p:spPr>
          <a:xfrm>
            <a:off x="4590804" y="1103825"/>
            <a:ext cx="3007346" cy="1904995"/>
          </a:xfrm>
          <a:prstGeom prst="rect">
            <a:avLst/>
          </a:prstGeom>
          <a:noFill/>
          <a:ln>
            <a:noFill/>
          </a:ln>
        </p:spPr>
      </p:pic>
      <p:sp>
        <p:nvSpPr>
          <p:cNvPr id="292" name="Google Shape;292;p41"/>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type="title"/>
          </p:nvPr>
        </p:nvSpPr>
        <p:spPr>
          <a:xfrm>
            <a:off x="561750" y="3320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Data Insight: Being a doctor is the most stressful occupation (according to this dataset). </a:t>
            </a:r>
            <a:endParaRPr b="1" sz="2120"/>
          </a:p>
        </p:txBody>
      </p:sp>
      <p:sp>
        <p:nvSpPr>
          <p:cNvPr id="298" name="Google Shape;298;p42"/>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299" name="Google Shape;299;p42"/>
          <p:cNvPicPr preferRelativeResize="0"/>
          <p:nvPr/>
        </p:nvPicPr>
        <p:blipFill>
          <a:blip r:embed="rId3">
            <a:alphaModFix/>
          </a:blip>
          <a:stretch>
            <a:fillRect/>
          </a:stretch>
        </p:blipFill>
        <p:spPr>
          <a:xfrm>
            <a:off x="2882986" y="1110600"/>
            <a:ext cx="3378025" cy="1984400"/>
          </a:xfrm>
          <a:prstGeom prst="rect">
            <a:avLst/>
          </a:prstGeom>
          <a:noFill/>
          <a:ln>
            <a:noFill/>
          </a:ln>
        </p:spPr>
      </p:pic>
      <p:sp>
        <p:nvSpPr>
          <p:cNvPr id="300" name="Google Shape;300;p42"/>
          <p:cNvSpPr txBox="1"/>
          <p:nvPr>
            <p:ph idx="1" type="body"/>
          </p:nvPr>
        </p:nvSpPr>
        <p:spPr>
          <a:xfrm>
            <a:off x="280950" y="3147925"/>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This graph shows that doctors experienced the highest Stress Level on average compared to nurses and all other occupations. This insight proves the claim from </a:t>
            </a:r>
            <a:r>
              <a:rPr lang="en" sz="1300" u="sng">
                <a:solidFill>
                  <a:schemeClr val="hlink"/>
                </a:solidFill>
                <a:hlinkClick r:id="rId4"/>
              </a:rPr>
              <a:t>the article</a:t>
            </a:r>
            <a:r>
              <a:rPr lang="en" sz="1300">
                <a:solidFill>
                  <a:schemeClr val="dk1"/>
                </a:solidFill>
              </a:rPr>
              <a:t> in the previous slide that says healthcare workers experience burnout and stress. Doctors’ stress is likely due to physical demands of the job, such as excessive workloads. Doctors are paid extremely well, but does the high salary make up for the stressful nature of the job? Although doctors experience the most stress, nurses’ average stress levels are lower than all other occupations combined.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type="title"/>
          </p:nvPr>
        </p:nvSpPr>
        <p:spPr>
          <a:xfrm>
            <a:off x="311700" y="17035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020"/>
              <a:t>Progress</a:t>
            </a:r>
            <a:endParaRPr sz="2020"/>
          </a:p>
        </p:txBody>
      </p:sp>
      <p:sp>
        <p:nvSpPr>
          <p:cNvPr id="306" name="Google Shape;306;p43"/>
          <p:cNvSpPr txBox="1"/>
          <p:nvPr>
            <p:ph idx="1" type="body"/>
          </p:nvPr>
        </p:nvSpPr>
        <p:spPr>
          <a:xfrm>
            <a:off x="280950" y="654875"/>
            <a:ext cx="8582100" cy="4178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390">
                <a:solidFill>
                  <a:schemeClr val="dk1"/>
                </a:solidFill>
              </a:rPr>
              <a:t>This week, Car and I answered the following curious questions from the previous Mini-Update #1:</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How do differing job fields impact physical activity levels?</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Are doctors more physically active than non-doctors?</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I came up with another curious question: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How do the stress levels of doctors and nurses compare to all other occupations?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obstacles, I had trouble figuring out some code, but I contacted Carl on Discord for help. Some other resources I used include the textbook, AI, and previous labs and homeworks.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Carlyn and I both contributed to the project this week. We filled out the spreadsheet and put our names on the slides that we covered in this update.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next week, our plan is to: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Answer 2-3 more curious questions</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Ask professor or TA’s in class for suggestions on how to come up with more creative ways to analyze the dataset using different types of graphs (we only used bar charts this week, maybe we should try other plots in the future?)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Come up with new questions and insights </a:t>
            </a:r>
            <a:endParaRPr sz="1390">
              <a:solidFill>
                <a:schemeClr val="dk1"/>
              </a:solidFill>
            </a:endParaRPr>
          </a:p>
        </p:txBody>
      </p:sp>
      <p:sp>
        <p:nvSpPr>
          <p:cNvPr id="307" name="Google Shape;307;p43"/>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313" name="Google Shape;313;p44"/>
          <p:cNvSpPr txBox="1"/>
          <p:nvPr>
            <p:ph idx="1" type="body"/>
          </p:nvPr>
        </p:nvSpPr>
        <p:spPr>
          <a:xfrm>
            <a:off x="311700" y="1152475"/>
            <a:ext cx="8582100" cy="38397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a:solidFill>
                  <a:schemeClr val="dk1"/>
                </a:solidFill>
                <a:latin typeface="Open Sans"/>
                <a:ea typeface="Open Sans"/>
                <a:cs typeface="Open Sans"/>
                <a:sym typeface="Open Sans"/>
              </a:rPr>
              <a:t>The feedback that we received was that we were missing our data profile so we addressed it by adding a data profile to the mini update #1. The feedback did seem useful as it helped us evaluate our data better and made us realize that we should be cleaning and filtering like values and those that are null. Additional feedback that could benefit us is how to expand upon our questions as well as simplify our methods to extract this information. It would also be helpful if we could get some guidance on how to create more questions to get more information out of our data. </a:t>
            </a:r>
            <a:endParaRPr>
              <a:solidFill>
                <a:schemeClr val="dk1"/>
              </a:solidFill>
              <a:latin typeface="Open Sans"/>
              <a:ea typeface="Open Sans"/>
              <a:cs typeface="Open Sans"/>
              <a:sym typeface="Open Sans"/>
            </a:endParaRPr>
          </a:p>
          <a:p>
            <a:pPr indent="0" lvl="0" marL="0" rtl="0" algn="l">
              <a:spcBef>
                <a:spcPts val="1600"/>
              </a:spcBef>
              <a:spcAft>
                <a:spcPts val="1200"/>
              </a:spcAft>
              <a:buNone/>
            </a:pPr>
            <a:r>
              <a:t/>
            </a:r>
            <a:endParaRPr b="1"/>
          </a:p>
        </p:txBody>
      </p:sp>
      <p:sp>
        <p:nvSpPr>
          <p:cNvPr id="314" name="Google Shape;314;p4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#1 </a:t>
            </a:r>
            <a:endParaRPr/>
          </a:p>
        </p:txBody>
      </p:sp>
      <p:sp>
        <p:nvSpPr>
          <p:cNvPr id="320" name="Google Shape;320;p4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300"/>
              <a:t>By Brittany Huynh and Carlyn Mangana</a:t>
            </a:r>
            <a:endParaRPr sz="23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326" name="Google Shape;326;p46"/>
          <p:cNvSpPr txBox="1"/>
          <p:nvPr>
            <p:ph idx="1" type="body"/>
          </p:nvPr>
        </p:nvSpPr>
        <p:spPr>
          <a:xfrm>
            <a:off x="311700" y="1152475"/>
            <a:ext cx="8582100" cy="3839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091"/>
              <a:t>People choose their careers based off of many factors such as salary, hours, and even the reputation of certain companies. However, a big factor that people choose their careers on is lifestyle as it can impact their performance and passion for their career. Lifestyles can be impacted by the type of job a person has. Having a heavy work flow can lead to getting less sleep and sleeping worse. Being too busy with a job and not having time to get physical activity can lead to an unhealthy </a:t>
            </a:r>
            <a:r>
              <a:rPr lang="en" sz="2091"/>
              <a:t>lifestyle</a:t>
            </a:r>
            <a:r>
              <a:rPr lang="en" sz="2091"/>
              <a:t> which may deter people from certain jobs that are too demanding. </a:t>
            </a:r>
            <a:br>
              <a:rPr b="1" lang="en"/>
            </a:br>
            <a:endParaRPr b="1"/>
          </a:p>
          <a:p>
            <a:pPr indent="0" lvl="0" marL="0" rtl="0" algn="l">
              <a:spcBef>
                <a:spcPts val="1200"/>
              </a:spcBef>
              <a:spcAft>
                <a:spcPts val="1200"/>
              </a:spcAft>
              <a:buNone/>
            </a:pPr>
            <a:r>
              <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315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 Data Profile</a:t>
            </a:r>
            <a:endParaRPr/>
          </a:p>
          <a:p>
            <a:pPr indent="0" lvl="0" marL="0" rtl="0" algn="l">
              <a:spcBef>
                <a:spcPts val="0"/>
              </a:spcBef>
              <a:spcAft>
                <a:spcPts val="0"/>
              </a:spcAft>
              <a:buNone/>
            </a:pPr>
            <a:r>
              <a:t/>
            </a:r>
            <a:endParaRPr/>
          </a:p>
        </p:txBody>
      </p:sp>
      <p:graphicFrame>
        <p:nvGraphicFramePr>
          <p:cNvPr id="332" name="Google Shape;332;p47"/>
          <p:cNvGraphicFramePr/>
          <p:nvPr/>
        </p:nvGraphicFramePr>
        <p:xfrm>
          <a:off x="311704" y="1517225"/>
          <a:ext cx="3000000" cy="3000000"/>
        </p:xfrm>
        <a:graphic>
          <a:graphicData uri="http://schemas.openxmlformats.org/drawingml/2006/table">
            <a:tbl>
              <a:tblPr>
                <a:noFill/>
                <a:tableStyleId>{BA7AF24E-F94E-4A8A-87FC-174C720197C3}</a:tableStyleId>
              </a:tblPr>
              <a:tblGrid>
                <a:gridCol w="1557625"/>
                <a:gridCol w="1557625"/>
                <a:gridCol w="2016675"/>
                <a:gridCol w="1333425"/>
                <a:gridCol w="2055250"/>
              </a:tblGrid>
              <a:tr h="536475">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43000">
                <a:tc>
                  <a:txBody>
                    <a:bodyPr/>
                    <a:lstStyle/>
                    <a:p>
                      <a:pPr indent="0" lvl="0" marL="0" rtl="0" algn="l">
                        <a:spcBef>
                          <a:spcPts val="0"/>
                        </a:spcBef>
                        <a:spcAft>
                          <a:spcPts val="0"/>
                        </a:spcAft>
                        <a:buNone/>
                      </a:pPr>
                      <a:r>
                        <a:rPr lang="en"/>
                        <a:t>Person ID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43000">
                <a:tc>
                  <a:txBody>
                    <a:bodyPr/>
                    <a:lstStyle/>
                    <a:p>
                      <a:pPr indent="0" lvl="0" marL="0" rtl="0" algn="l">
                        <a:spcBef>
                          <a:spcPts val="0"/>
                        </a:spcBef>
                        <a:spcAft>
                          <a:spcPts val="0"/>
                        </a:spcAft>
                        <a:buNone/>
                      </a:pPr>
                      <a:r>
                        <a:rPr lang="en"/>
                        <a:t>Gender</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String</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43000">
                <a:tc>
                  <a:txBody>
                    <a:bodyPr/>
                    <a:lstStyle/>
                    <a:p>
                      <a:pPr indent="0" lvl="0" marL="0" rtl="0" algn="l">
                        <a:spcBef>
                          <a:spcPts val="0"/>
                        </a:spcBef>
                        <a:spcAft>
                          <a:spcPts val="0"/>
                        </a:spcAft>
                        <a:buNone/>
                      </a:pPr>
                      <a:r>
                        <a:rPr lang="en"/>
                        <a:t>Age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43000">
                <a:tc>
                  <a:txBody>
                    <a:bodyPr/>
                    <a:lstStyle/>
                    <a:p>
                      <a:pPr indent="0" lvl="0" marL="0" rtl="0" algn="l">
                        <a:spcBef>
                          <a:spcPts val="0"/>
                        </a:spcBef>
                        <a:spcAft>
                          <a:spcPts val="0"/>
                        </a:spcAft>
                        <a:buNone/>
                      </a:pPr>
                      <a:r>
                        <a:rPr lang="en"/>
                        <a:t>Occupation</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String</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43000">
                <a:tc>
                  <a:txBody>
                    <a:bodyPr/>
                    <a:lstStyle/>
                    <a:p>
                      <a:pPr indent="0" lvl="0" marL="0" rtl="0" algn="l">
                        <a:spcBef>
                          <a:spcPts val="0"/>
                        </a:spcBef>
                        <a:spcAft>
                          <a:spcPts val="0"/>
                        </a:spcAft>
                        <a:buNone/>
                      </a:pPr>
                      <a:r>
                        <a:rPr lang="en"/>
                        <a:t>Sleep Duration</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Float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888475">
                <a:tc>
                  <a:txBody>
                    <a:bodyPr/>
                    <a:lstStyle/>
                    <a:p>
                      <a:pPr indent="0" lvl="0" marL="0" rtl="0" algn="l">
                        <a:spcBef>
                          <a:spcPts val="0"/>
                        </a:spcBef>
                        <a:spcAft>
                          <a:spcPts val="0"/>
                        </a:spcAft>
                        <a:buNone/>
                      </a:pPr>
                      <a:r>
                        <a:rPr lang="en"/>
                        <a:t>Quality of Sleep</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No</a:t>
                      </a:r>
                      <a:endParaRPr/>
                    </a:p>
                  </a:txBody>
                  <a:tcPr marT="91425" marB="91425" marR="91425" marL="91425"/>
                </a:tc>
              </a:tr>
            </a:tbl>
          </a:graphicData>
        </a:graphic>
      </p:graphicFrame>
      <p:sp>
        <p:nvSpPr>
          <p:cNvPr id="333" name="Google Shape;333;p47"/>
          <p:cNvSpPr txBox="1"/>
          <p:nvPr/>
        </p:nvSpPr>
        <p:spPr>
          <a:xfrm>
            <a:off x="1591500" y="908550"/>
            <a:ext cx="596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This dataset has 374 rows and 13 columns </a:t>
            </a:r>
            <a:endParaRPr sz="1800">
              <a:solidFill>
                <a:schemeClr val="dk2"/>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graphicFrame>
        <p:nvGraphicFramePr>
          <p:cNvPr id="339" name="Google Shape;339;p48"/>
          <p:cNvGraphicFramePr/>
          <p:nvPr/>
        </p:nvGraphicFramePr>
        <p:xfrm>
          <a:off x="381000" y="1152475"/>
          <a:ext cx="3000000" cy="3000000"/>
        </p:xfrm>
        <a:graphic>
          <a:graphicData uri="http://schemas.openxmlformats.org/drawingml/2006/table">
            <a:tbl>
              <a:tblPr>
                <a:noFill/>
                <a:tableStyleId>{BA7AF24E-F94E-4A8A-87FC-174C720197C3}</a:tableStyleId>
              </a:tblPr>
              <a:tblGrid>
                <a:gridCol w="1447800"/>
                <a:gridCol w="1447800"/>
                <a:gridCol w="1447800"/>
                <a:gridCol w="1447800"/>
                <a:gridCol w="2590800"/>
              </a:tblGrid>
              <a:tr h="381000">
                <a:tc>
                  <a:txBody>
                    <a:bodyPr/>
                    <a:lstStyle/>
                    <a:p>
                      <a:pPr indent="0" lvl="0" marL="0" rtl="0" algn="l">
                        <a:spcBef>
                          <a:spcPts val="0"/>
                        </a:spcBef>
                        <a:spcAft>
                          <a:spcPts val="0"/>
                        </a:spcAft>
                        <a:buNone/>
                      </a:pPr>
                      <a:r>
                        <a:rPr lang="en"/>
                        <a:t>Column Name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Has missing value?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Data Type(Discrete or numeric or free text)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Useful?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Need cleaning or processing?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Physical Activity Level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Numeric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Stress Level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Numeric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BMI Category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String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Blood Pressure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Numeric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graphicFrame>
        <p:nvGraphicFramePr>
          <p:cNvPr id="344" name="Google Shape;344;p49"/>
          <p:cNvGraphicFramePr/>
          <p:nvPr/>
        </p:nvGraphicFramePr>
        <p:xfrm>
          <a:off x="287875" y="1459313"/>
          <a:ext cx="3000000" cy="3000000"/>
        </p:xfrm>
        <a:graphic>
          <a:graphicData uri="http://schemas.openxmlformats.org/drawingml/2006/table">
            <a:tbl>
              <a:tblPr>
                <a:noFill/>
                <a:tableStyleId>{BA7AF24E-F94E-4A8A-87FC-174C720197C3}</a:tableStyleId>
              </a:tblPr>
              <a:tblGrid>
                <a:gridCol w="1447800"/>
                <a:gridCol w="1447800"/>
                <a:gridCol w="1447800"/>
                <a:gridCol w="1447800"/>
                <a:gridCol w="2649400"/>
              </a:tblGrid>
              <a:tr h="889300">
                <a:tc>
                  <a:txBody>
                    <a:bodyPr/>
                    <a:lstStyle/>
                    <a:p>
                      <a:pPr indent="0" lvl="0" marL="0" rtl="0" algn="l">
                        <a:spcBef>
                          <a:spcPts val="0"/>
                        </a:spcBef>
                        <a:spcAft>
                          <a:spcPts val="0"/>
                        </a:spcAft>
                        <a:buNone/>
                      </a:pPr>
                      <a:r>
                        <a:rPr lang="en"/>
                        <a:t>Column Name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Has missing value?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Data Type(Discrete or numeric or free text)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Useful?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Need cleaning or processing?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0000">
                <a:tc>
                  <a:txBody>
                    <a:bodyPr/>
                    <a:lstStyle/>
                    <a:p>
                      <a:pPr indent="0" lvl="0" marL="0" rtl="0" algn="l">
                        <a:spcBef>
                          <a:spcPts val="0"/>
                        </a:spcBef>
                        <a:spcAft>
                          <a:spcPts val="0"/>
                        </a:spcAft>
                        <a:buNone/>
                      </a:pPr>
                      <a:r>
                        <a:rPr lang="en"/>
                        <a:t>Heart Rate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Numeric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0000">
                <a:tc>
                  <a:txBody>
                    <a:bodyPr/>
                    <a:lstStyle/>
                    <a:p>
                      <a:pPr indent="0" lvl="0" marL="0" rtl="0" algn="l">
                        <a:spcBef>
                          <a:spcPts val="0"/>
                        </a:spcBef>
                        <a:spcAft>
                          <a:spcPts val="0"/>
                        </a:spcAft>
                        <a:buNone/>
                      </a:pPr>
                      <a:r>
                        <a:rPr lang="en"/>
                        <a:t>Daily Steps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Numeric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0000">
                <a:tc>
                  <a:txBody>
                    <a:bodyPr/>
                    <a:lstStyle/>
                    <a:p>
                      <a:pPr indent="0" lvl="0" marL="0" rtl="0" algn="l">
                        <a:spcBef>
                          <a:spcPts val="0"/>
                        </a:spcBef>
                        <a:spcAft>
                          <a:spcPts val="0"/>
                        </a:spcAft>
                        <a:buNone/>
                      </a:pPr>
                      <a:r>
                        <a:rPr lang="en"/>
                        <a:t>Sleep Disorder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String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Yes </a:t>
                      </a:r>
                      <a:r>
                        <a:rPr lang="en">
                          <a:solidFill>
                            <a:schemeClr val="dk1"/>
                          </a:solidFill>
                        </a:rPr>
                        <a:t>(to remove missing values)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Curious Questions </a:t>
            </a:r>
            <a:endParaRPr/>
          </a:p>
        </p:txBody>
      </p:sp>
      <p:sp>
        <p:nvSpPr>
          <p:cNvPr id="350" name="Google Shape;35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arenR"/>
            </a:pPr>
            <a:r>
              <a:rPr lang="en" sz="2200"/>
              <a:t>How do differing job fields impact physical activity levels?</a:t>
            </a:r>
            <a:endParaRPr sz="2200"/>
          </a:p>
          <a:p>
            <a:pPr indent="-368300" lvl="0" marL="457200" rtl="0" algn="l">
              <a:spcBef>
                <a:spcPts val="0"/>
              </a:spcBef>
              <a:spcAft>
                <a:spcPts val="0"/>
              </a:spcAft>
              <a:buSzPts val="2200"/>
              <a:buAutoNum type="arabicParenR"/>
            </a:pPr>
            <a:r>
              <a:rPr lang="en" sz="2200"/>
              <a:t>Does gender impact the doctor lifestyle?</a:t>
            </a:r>
            <a:endParaRPr sz="2200"/>
          </a:p>
          <a:p>
            <a:pPr indent="-368300" lvl="0" marL="457200" rtl="0" algn="l">
              <a:spcBef>
                <a:spcPts val="0"/>
              </a:spcBef>
              <a:spcAft>
                <a:spcPts val="0"/>
              </a:spcAft>
              <a:buSzPts val="2200"/>
              <a:buAutoNum type="arabicParenR"/>
            </a:pPr>
            <a:r>
              <a:rPr lang="en" sz="2200"/>
              <a:t>How do the stress levels compare between STEM jobs and those who are not?</a:t>
            </a:r>
            <a:endParaRPr sz="2200"/>
          </a:p>
          <a:p>
            <a:pPr indent="-368300" lvl="0" marL="457200" rtl="0" algn="l">
              <a:spcBef>
                <a:spcPts val="0"/>
              </a:spcBef>
              <a:spcAft>
                <a:spcPts val="0"/>
              </a:spcAft>
              <a:buSzPts val="2200"/>
              <a:buAutoNum type="arabicParenR"/>
            </a:pPr>
            <a:r>
              <a:rPr lang="en" sz="2200"/>
              <a:t>Are doctors more physically active than non-doctors?</a:t>
            </a:r>
            <a:endParaRPr sz="2200"/>
          </a:p>
          <a:p>
            <a:pPr indent="-368300" lvl="0" marL="457200" rtl="0" algn="l">
              <a:spcBef>
                <a:spcPts val="0"/>
              </a:spcBef>
              <a:spcAft>
                <a:spcPts val="0"/>
              </a:spcAft>
              <a:buSzPts val="2200"/>
              <a:buAutoNum type="arabicParenR"/>
            </a:pPr>
            <a:r>
              <a:rPr lang="en" sz="2200"/>
              <a:t>Which occupation(s) have the highest Daily Step count?  </a:t>
            </a:r>
            <a:endParaRPr sz="2200"/>
          </a:p>
          <a:p>
            <a:pPr indent="-368300" lvl="0" marL="457200" rtl="0" algn="l">
              <a:spcBef>
                <a:spcPts val="0"/>
              </a:spcBef>
              <a:spcAft>
                <a:spcPts val="0"/>
              </a:spcAft>
              <a:buSzPts val="2200"/>
              <a:buAutoNum type="arabicParenR"/>
            </a:pPr>
            <a:r>
              <a:rPr lang="en" sz="2200"/>
              <a:t>Does Quality of Sleep correlate with BMI Category? </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Audience and Communication Goal </a:t>
            </a:r>
            <a:endParaRPr/>
          </a:p>
        </p:txBody>
      </p:sp>
      <p:sp>
        <p:nvSpPr>
          <p:cNvPr id="356" name="Google Shape;356;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Audience: </a:t>
            </a:r>
            <a:r>
              <a:rPr lang="en">
                <a:solidFill>
                  <a:schemeClr val="dk1"/>
                </a:solidFill>
              </a:rPr>
              <a:t>Young adults who are interested in learning more about lifestyle habits (physical activity and sleep behaviors) and correlations between occupation, stress level, and sleep quality. </a:t>
            </a:r>
            <a:endParaRPr b="1">
              <a:solidFill>
                <a:schemeClr val="dk1"/>
              </a:solidFill>
            </a:endParaRPr>
          </a:p>
          <a:p>
            <a:pPr indent="0" lvl="0" marL="0" rtl="0" algn="l">
              <a:spcBef>
                <a:spcPts val="1200"/>
              </a:spcBef>
              <a:spcAft>
                <a:spcPts val="1200"/>
              </a:spcAft>
              <a:buNone/>
            </a:pPr>
            <a:r>
              <a:rPr b="1" lang="en">
                <a:solidFill>
                  <a:schemeClr val="dk1"/>
                </a:solidFill>
              </a:rPr>
              <a:t>Communication Goal:</a:t>
            </a:r>
            <a:r>
              <a:rPr lang="en">
                <a:solidFill>
                  <a:schemeClr val="dk1"/>
                </a:solidFill>
              </a:rPr>
              <a:t> Broaden perspective on career paths vs. lifestyle choices, improve understanding of stress levels, activity levels, </a:t>
            </a:r>
            <a:r>
              <a:rPr lang="en">
                <a:solidFill>
                  <a:schemeClr val="dk1"/>
                </a:solidFill>
              </a:rPr>
              <a:t>sleep</a:t>
            </a:r>
            <a:r>
              <a:rPr lang="en">
                <a:solidFill>
                  <a:schemeClr val="dk1"/>
                </a:solidFill>
              </a:rPr>
              <a:t> levels, weight and their relationship with occupation  </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52"/>
          <p:cNvPicPr preferRelativeResize="0"/>
          <p:nvPr/>
        </p:nvPicPr>
        <p:blipFill>
          <a:blip r:embed="rId4">
            <a:alphaModFix/>
          </a:blip>
          <a:stretch>
            <a:fillRect/>
          </a:stretch>
        </p:blipFill>
        <p:spPr>
          <a:xfrm>
            <a:off x="258625" y="531175"/>
            <a:ext cx="6004849" cy="3503800"/>
          </a:xfrm>
          <a:prstGeom prst="rect">
            <a:avLst/>
          </a:prstGeom>
          <a:noFill/>
          <a:ln>
            <a:noFill/>
          </a:ln>
        </p:spPr>
      </p:pic>
      <p:sp>
        <p:nvSpPr>
          <p:cNvPr id="362" name="Google Shape;362;p52"/>
          <p:cNvSpPr txBox="1"/>
          <p:nvPr>
            <p:ph idx="1" type="body"/>
          </p:nvPr>
        </p:nvSpPr>
        <p:spPr>
          <a:xfrm>
            <a:off x="6556900" y="692475"/>
            <a:ext cx="2187600" cy="350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created a google colab so that we could both work on the data and figure out what questions we wanted to ask based off of the data table.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