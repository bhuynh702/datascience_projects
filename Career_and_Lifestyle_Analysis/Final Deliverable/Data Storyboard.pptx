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4397D5-4F5E-4B2D-ACB5-DD2F99D5D432}">
  <a:tblStyle styleId="{F24397D5-4F5E-4B2D-ACB5-DD2F99D5D4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6425b0a1e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6425b0a1e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63e8bba48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63e8bba48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63e8bba48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63e8bba48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63e8bba4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63e8bba4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63e8bba48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63e8bba48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63e8bba48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63e8bba48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6425b0a1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6425b0a1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6425b0a1e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6425b0a1e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6425b0a1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36425b0a1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63e8bba48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63e8bba48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hyperlink" Target="https://my.clevelandclinic.org/health/articles/9464-body-mass-index-bmi#:~:text=What%20is%20a%20healthy%20BMI,of%20developing%20certain%20medical%20conditions" TargetMode="External"/><Relationship Id="rId5" Type="http://schemas.openxmlformats.org/officeDocument/2006/relationships/hyperlink" Target="https://www.istockphoto.com/vector/fat-office-worker-at-his-desk-gm163855785-13816944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hyperlink" Target="https://iheartcraftythings.com/cartoon-woman-drawing.html" TargetMode="External"/><Relationship Id="rId5" Type="http://schemas.openxmlformats.org/officeDocument/2006/relationships/hyperlink" Target="https://my.clevelandclinic.org/health/articles/9464-body-mass-index-bmi#:~:text=What%20is%20a%20healthy%20BMI,of%20developing%20certain%20medical%20condi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97600" y="834550"/>
            <a:ext cx="4344900" cy="22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Georgia"/>
                <a:ea typeface="Georgia"/>
                <a:cs typeface="Georgia"/>
                <a:sym typeface="Georgia"/>
              </a:rPr>
              <a:t>How to Know What Career is Best For You</a:t>
            </a:r>
            <a:endParaRPr b="1" sz="48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27456" r="25937" t="0"/>
          <a:stretch/>
        </p:blipFill>
        <p:spPr>
          <a:xfrm>
            <a:off x="4948750" y="0"/>
            <a:ext cx="41952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6375" y="888900"/>
            <a:ext cx="5651226" cy="37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12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920">
                <a:latin typeface="Georgia"/>
                <a:ea typeface="Georgia"/>
                <a:cs typeface="Georgia"/>
                <a:sym typeface="Georgia"/>
              </a:rPr>
              <a:t>Which occupations are the most stressed?</a:t>
            </a:r>
            <a:endParaRPr b="1" sz="192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85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920">
                <a:latin typeface="Georgia"/>
                <a:ea typeface="Georgia"/>
                <a:cs typeface="Georgia"/>
                <a:sym typeface="Georgia"/>
              </a:rPr>
              <a:t>Permutation Test: Quality of Sleep vs. Stress Level </a:t>
            </a:r>
            <a:endParaRPr b="1" sz="192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0975" y="1286275"/>
            <a:ext cx="2059850" cy="1964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15"/>
          <p:cNvGrpSpPr/>
          <p:nvPr/>
        </p:nvGrpSpPr>
        <p:grpSpPr>
          <a:xfrm>
            <a:off x="1193175" y="717225"/>
            <a:ext cx="4514725" cy="2533575"/>
            <a:chOff x="2926750" y="701850"/>
            <a:chExt cx="4514725" cy="2533575"/>
          </a:xfrm>
        </p:grpSpPr>
        <p:grpSp>
          <p:nvGrpSpPr>
            <p:cNvPr id="69" name="Google Shape;69;p15"/>
            <p:cNvGrpSpPr/>
            <p:nvPr/>
          </p:nvGrpSpPr>
          <p:grpSpPr>
            <a:xfrm>
              <a:off x="4010375" y="701850"/>
              <a:ext cx="3431100" cy="2533575"/>
              <a:chOff x="4434750" y="1017725"/>
              <a:chExt cx="3431100" cy="2533575"/>
            </a:xfrm>
          </p:grpSpPr>
          <p:pic>
            <p:nvPicPr>
              <p:cNvPr id="70" name="Google Shape;70;p1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538400" y="1525625"/>
                <a:ext cx="2938199" cy="20256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" name="Google Shape;71;p15"/>
              <p:cNvSpPr txBox="1"/>
              <p:nvPr/>
            </p:nvSpPr>
            <p:spPr>
              <a:xfrm>
                <a:off x="4434750" y="1017725"/>
                <a:ext cx="34311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50">
                    <a:solidFill>
                      <a:schemeClr val="dk1"/>
                    </a:solidFill>
                    <a:highlight>
                      <a:srgbClr val="FFFFFF"/>
                    </a:highlight>
                  </a:rPr>
                  <a:t>Observed correlation: -0.898752031004</a:t>
                </a:r>
                <a:endParaRPr sz="1050">
                  <a:solidFill>
                    <a:schemeClr val="dk1"/>
                  </a:solidFill>
                  <a:highlight>
                    <a:srgbClr val="FFFFFF"/>
                  </a:highlight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50">
                    <a:solidFill>
                      <a:schemeClr val="dk1"/>
                    </a:solidFill>
                    <a:highlight>
                      <a:srgbClr val="FFFFFF"/>
                    </a:highlight>
                  </a:rPr>
                  <a:t>p-value&lt;0.001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cxnSp>
          <p:nvCxnSpPr>
            <p:cNvPr id="72" name="Google Shape;72;p15"/>
            <p:cNvCxnSpPr/>
            <p:nvPr/>
          </p:nvCxnSpPr>
          <p:spPr>
            <a:xfrm flipH="1">
              <a:off x="2926750" y="1062225"/>
              <a:ext cx="1500" cy="1885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3" name="Google Shape;73;p15"/>
          <p:cNvGrpSpPr/>
          <p:nvPr/>
        </p:nvGrpSpPr>
        <p:grpSpPr>
          <a:xfrm>
            <a:off x="311700" y="3497425"/>
            <a:ext cx="8426700" cy="1015800"/>
            <a:chOff x="449300" y="3497425"/>
            <a:chExt cx="8426700" cy="1015800"/>
          </a:xfrm>
        </p:grpSpPr>
        <p:sp>
          <p:nvSpPr>
            <p:cNvPr id="74" name="Google Shape;74;p15"/>
            <p:cNvSpPr txBox="1"/>
            <p:nvPr/>
          </p:nvSpPr>
          <p:spPr>
            <a:xfrm>
              <a:off x="449300" y="3605125"/>
              <a:ext cx="32148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0000FF"/>
                  </a:solidFill>
                </a:rPr>
                <a:t>H0: there is no association between Stress Level and Quality of Sleep</a:t>
              </a:r>
              <a:endParaRPr sz="1000">
                <a:solidFill>
                  <a:srgbClr val="0000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0000FF"/>
                  </a:solidFill>
                </a:rPr>
                <a:t> </a:t>
              </a:r>
              <a:endParaRPr sz="1000">
                <a:solidFill>
                  <a:srgbClr val="0000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0000FF"/>
                  </a:solidFill>
                </a:rPr>
                <a:t>H1: Higher sleep quality leads to lower stress levels </a:t>
              </a:r>
              <a:endParaRPr sz="1000">
                <a:solidFill>
                  <a:srgbClr val="0000FF"/>
                </a:solidFill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3664100" y="3497425"/>
              <a:ext cx="52119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0000FF"/>
                  </a:solidFill>
                </a:rPr>
                <a:t>Conclusion: </a:t>
              </a:r>
              <a:endParaRPr sz="900">
                <a:solidFill>
                  <a:srgbClr val="0000FF"/>
                </a:solidFill>
              </a:endParaRPr>
            </a:p>
            <a:p>
              <a:pPr indent="-2857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900"/>
                <a:buChar char="●"/>
              </a:pPr>
              <a:r>
                <a:rPr b="1" lang="en" sz="900">
                  <a:solidFill>
                    <a:srgbClr val="0000FF"/>
                  </a:solidFill>
                </a:rPr>
                <a:t>Layman’s version:</a:t>
              </a:r>
              <a:r>
                <a:rPr lang="en" sz="900">
                  <a:solidFill>
                    <a:srgbClr val="0000FF"/>
                  </a:solidFill>
                </a:rPr>
                <a:t> there is strong evidence supporting the claim that higher sleep quality leads to lower stress levels. </a:t>
              </a:r>
              <a:endParaRPr sz="900">
                <a:solidFill>
                  <a:srgbClr val="0000FF"/>
                </a:solidFill>
              </a:endParaRPr>
            </a:p>
            <a:p>
              <a:pPr indent="-2857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900"/>
                <a:buChar char="●"/>
              </a:pPr>
              <a:r>
                <a:rPr b="1" lang="en" sz="900">
                  <a:solidFill>
                    <a:srgbClr val="0000FF"/>
                  </a:solidFill>
                </a:rPr>
                <a:t>Scientific version: </a:t>
              </a:r>
              <a:r>
                <a:rPr lang="en" sz="900">
                  <a:solidFill>
                    <a:srgbClr val="0000FF"/>
                  </a:solidFill>
                </a:rPr>
                <a:t>assuming null hypothesis that there is no relationship between stress level and quality of sleep, the chance of seeing a difference at -0.899 or larger is less than 0.001. We reject the null hypothesis at a significance level of 0.001</a:t>
              </a:r>
              <a:endParaRPr sz="900">
                <a:solidFill>
                  <a:srgbClr val="0000FF"/>
                </a:solidFill>
              </a:endParaRPr>
            </a:p>
          </p:txBody>
        </p:sp>
      </p:grpSp>
      <p:sp>
        <p:nvSpPr>
          <p:cNvPr id="76" name="Google Shape;76;p15"/>
          <p:cNvSpPr txBox="1"/>
          <p:nvPr/>
        </p:nvSpPr>
        <p:spPr>
          <a:xfrm>
            <a:off x="557525" y="2968950"/>
            <a:ext cx="1296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-0.898752031004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570925" y="224395"/>
            <a:ext cx="81315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Permutation Test: Age vs. Stress Level</a:t>
            </a:r>
            <a:endParaRPr b="1" sz="2220"/>
          </a:p>
        </p:txBody>
      </p:sp>
      <p:cxnSp>
        <p:nvCxnSpPr>
          <p:cNvPr id="82" name="Google Shape;82;p16"/>
          <p:cNvCxnSpPr/>
          <p:nvPr/>
        </p:nvCxnSpPr>
        <p:spPr>
          <a:xfrm>
            <a:off x="1138000" y="1123000"/>
            <a:ext cx="2100" cy="1593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5368" y="1157800"/>
            <a:ext cx="2630286" cy="1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271150" y="2648100"/>
            <a:ext cx="1735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-0.898752031004</a:t>
            </a:r>
            <a:endParaRPr sz="900"/>
          </a:p>
        </p:txBody>
      </p:sp>
      <p:sp>
        <p:nvSpPr>
          <p:cNvPr id="85" name="Google Shape;85;p16"/>
          <p:cNvSpPr txBox="1"/>
          <p:nvPr/>
        </p:nvSpPr>
        <p:spPr>
          <a:xfrm>
            <a:off x="2145600" y="649900"/>
            <a:ext cx="34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Observed correlation: -0.898752031004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p-value&lt;0.001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86" name="Google Shape;86;p16"/>
          <p:cNvGrpSpPr/>
          <p:nvPr/>
        </p:nvGrpSpPr>
        <p:grpSpPr>
          <a:xfrm>
            <a:off x="358650" y="3385950"/>
            <a:ext cx="8426700" cy="1369800"/>
            <a:chOff x="449300" y="3474325"/>
            <a:chExt cx="8426700" cy="1369800"/>
          </a:xfrm>
        </p:grpSpPr>
        <p:sp>
          <p:nvSpPr>
            <p:cNvPr id="87" name="Google Shape;87;p16"/>
            <p:cNvSpPr txBox="1"/>
            <p:nvPr/>
          </p:nvSpPr>
          <p:spPr>
            <a:xfrm>
              <a:off x="449300" y="3605125"/>
              <a:ext cx="32148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</a:rPr>
                <a:t>H0: there is no association between Age and Stress Level</a:t>
              </a:r>
              <a:endParaRPr sz="1200">
                <a:solidFill>
                  <a:srgbClr val="0000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</a:rPr>
                <a:t> </a:t>
              </a:r>
              <a:endParaRPr sz="1200">
                <a:solidFill>
                  <a:srgbClr val="0000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</a:rPr>
                <a:t>H1: Older age is associated with lower stress level and vice versa. </a:t>
              </a:r>
              <a:endParaRPr sz="1200">
                <a:solidFill>
                  <a:srgbClr val="0000FF"/>
                </a:solidFill>
              </a:endParaRPr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3664100" y="3474325"/>
              <a:ext cx="5211900" cy="13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FF"/>
                  </a:solidFill>
                </a:rPr>
                <a:t>Conclusion: </a:t>
              </a:r>
              <a:endParaRPr sz="1100">
                <a:solidFill>
                  <a:srgbClr val="0000FF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100"/>
                <a:buChar char="●"/>
              </a:pPr>
              <a:r>
                <a:rPr b="1" lang="en" sz="1100">
                  <a:solidFill>
                    <a:srgbClr val="0000FF"/>
                  </a:solidFill>
                </a:rPr>
                <a:t>Layman’s version:</a:t>
              </a:r>
              <a:r>
                <a:rPr lang="en" sz="1100">
                  <a:solidFill>
                    <a:srgbClr val="0000FF"/>
                  </a:solidFill>
                </a:rPr>
                <a:t> there is strong evidence supporting the claim that older age is associated with lower stress level. </a:t>
              </a:r>
              <a:endParaRPr sz="1100">
                <a:solidFill>
                  <a:srgbClr val="0000FF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100"/>
                <a:buChar char="●"/>
              </a:pPr>
              <a:r>
                <a:rPr b="1" lang="en" sz="1100">
                  <a:solidFill>
                    <a:srgbClr val="0000FF"/>
                  </a:solidFill>
                </a:rPr>
                <a:t>Scientific version: </a:t>
              </a:r>
              <a:r>
                <a:rPr lang="en" sz="1100">
                  <a:solidFill>
                    <a:srgbClr val="0000FF"/>
                  </a:solidFill>
                </a:rPr>
                <a:t>assuming null hypothesis that there is no relationship between age and stress level, the chance of seeing a difference at -0.899 or larger is less than 0.001. We reject the null hypothesis at a significance level of 0.001</a:t>
              </a:r>
              <a:endParaRPr sz="1100">
                <a:solidFill>
                  <a:srgbClr val="0000FF"/>
                </a:solidFill>
              </a:endParaRPr>
            </a:p>
          </p:txBody>
        </p:sp>
      </p:grpSp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4450" y="1123000"/>
            <a:ext cx="2022705" cy="19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561750" y="297638"/>
            <a:ext cx="8131500" cy="10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Data Insight: Overweight and Obese people sleep less and get poorer quality sleep than people with Normal weight.  </a:t>
            </a:r>
            <a:endParaRPr b="1" sz="2220"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1233" y="1269026"/>
            <a:ext cx="2906630" cy="166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063" y="1398052"/>
            <a:ext cx="2219824" cy="23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5162" y="3097604"/>
            <a:ext cx="2918776" cy="16648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" name="Google Shape;98;p17"/>
          <p:cNvGraphicFramePr/>
          <p:nvPr/>
        </p:nvGraphicFramePr>
        <p:xfrm>
          <a:off x="3324963" y="166651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{F24397D5-4F5E-4B2D-ACB5-DD2F99D5D432}</a:tableStyleId>
              </a:tblPr>
              <a:tblGrid>
                <a:gridCol w="1208400"/>
                <a:gridCol w="592775"/>
              </a:tblGrid>
              <a:tr h="340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BMI Category</a:t>
                      </a:r>
                      <a:endParaRPr b="1" sz="7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6675" marB="66675" marR="66675" marL="6667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</a:t>
                      </a:r>
                      <a:endParaRPr b="1" sz="7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6675" marB="66675" marR="66675" marL="66675">
                    <a:solidFill>
                      <a:srgbClr val="CFE2F3"/>
                    </a:solidFill>
                  </a:tcPr>
                </a:tc>
              </a:tr>
              <a:tr h="340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Normal</a:t>
                      </a:r>
                      <a:endParaRPr sz="7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6675" marB="66675" marR="66675" marL="6667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195</a:t>
                      </a:r>
                      <a:endParaRPr sz="7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6675" marB="66675" marR="66675" marL="66675">
                    <a:solidFill>
                      <a:srgbClr val="EFEFEF"/>
                    </a:solidFill>
                  </a:tcPr>
                </a:tc>
              </a:tr>
              <a:tr h="4499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Normal Weight</a:t>
                      </a:r>
                      <a:endParaRPr sz="7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6675" marB="66675" marR="66675" marL="6667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7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6675" marB="66675" marR="66675" marL="66675">
                    <a:solidFill>
                      <a:srgbClr val="EFEFEF"/>
                    </a:solidFill>
                  </a:tcPr>
                </a:tc>
              </a:tr>
              <a:tr h="340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Obese</a:t>
                      </a:r>
                      <a:endParaRPr sz="7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6675" marB="66675" marR="66675" marL="6667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7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6675" marB="66675" marR="66675" marL="66675">
                    <a:solidFill>
                      <a:srgbClr val="EFEFEF"/>
                    </a:solidFill>
                  </a:tcPr>
                </a:tc>
              </a:tr>
              <a:tr h="340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Overweight</a:t>
                      </a:r>
                      <a:endParaRPr sz="7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6675" marB="66675" marR="66675" marL="6667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148</a:t>
                      </a:r>
                      <a:endParaRPr sz="75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6675" marB="66675" marR="66675" marL="6667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673" y="754250"/>
            <a:ext cx="6120676" cy="404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>
            <p:ph type="title"/>
          </p:nvPr>
        </p:nvSpPr>
        <p:spPr>
          <a:xfrm>
            <a:off x="451800" y="181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920"/>
              <a:t>How</a:t>
            </a:r>
            <a:r>
              <a:rPr b="1" lang="en" sz="1920"/>
              <a:t> do Daily Steps correlate with Stress Levels?</a:t>
            </a:r>
            <a:endParaRPr b="1" sz="19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506250" y="185645"/>
            <a:ext cx="81315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/>
              <a:t>Permutation Test: Daily Steps vs. Stress Level</a:t>
            </a:r>
            <a:endParaRPr b="1" sz="2220"/>
          </a:p>
        </p:txBody>
      </p:sp>
      <p:sp>
        <p:nvSpPr>
          <p:cNvPr id="110" name="Google Shape;110;p19"/>
          <p:cNvSpPr txBox="1"/>
          <p:nvPr/>
        </p:nvSpPr>
        <p:spPr>
          <a:xfrm>
            <a:off x="1721113" y="801425"/>
            <a:ext cx="34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Observed correlation: 0.186828954459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p-value&lt;0.001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1" name="Google Shape;111;p19"/>
          <p:cNvGrpSpPr/>
          <p:nvPr/>
        </p:nvGrpSpPr>
        <p:grpSpPr>
          <a:xfrm>
            <a:off x="358650" y="3385950"/>
            <a:ext cx="8426700" cy="1369800"/>
            <a:chOff x="449300" y="3474325"/>
            <a:chExt cx="8426700" cy="1369800"/>
          </a:xfrm>
        </p:grpSpPr>
        <p:sp>
          <p:nvSpPr>
            <p:cNvPr id="112" name="Google Shape;112;p19"/>
            <p:cNvSpPr txBox="1"/>
            <p:nvPr/>
          </p:nvSpPr>
          <p:spPr>
            <a:xfrm>
              <a:off x="449300" y="3605125"/>
              <a:ext cx="32148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</a:rPr>
                <a:t>H0: there is no association between Daily Steps and Stress Level</a:t>
              </a:r>
              <a:endParaRPr sz="1200">
                <a:solidFill>
                  <a:srgbClr val="0000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</a:rPr>
                <a:t> </a:t>
              </a:r>
              <a:endParaRPr sz="1200">
                <a:solidFill>
                  <a:srgbClr val="0000F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</a:rPr>
                <a:t>H1: Higher Daily Steps is associated with lower Stress Level and vice versa. </a:t>
              </a:r>
              <a:endParaRPr sz="1200">
                <a:solidFill>
                  <a:srgbClr val="0000FF"/>
                </a:solidFill>
              </a:endParaRPr>
            </a:p>
          </p:txBody>
        </p:sp>
        <p:sp>
          <p:nvSpPr>
            <p:cNvPr id="113" name="Google Shape;113;p19"/>
            <p:cNvSpPr txBox="1"/>
            <p:nvPr/>
          </p:nvSpPr>
          <p:spPr>
            <a:xfrm>
              <a:off x="3664100" y="3474325"/>
              <a:ext cx="5211900" cy="136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0000FF"/>
                  </a:solidFill>
                </a:rPr>
                <a:t>Conclusion: </a:t>
              </a:r>
              <a:endParaRPr sz="1100">
                <a:solidFill>
                  <a:srgbClr val="0000FF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100"/>
                <a:buChar char="●"/>
              </a:pPr>
              <a:r>
                <a:rPr b="1" lang="en" sz="1100">
                  <a:solidFill>
                    <a:srgbClr val="0000FF"/>
                  </a:solidFill>
                </a:rPr>
                <a:t>Layman’s version:</a:t>
              </a:r>
              <a:r>
                <a:rPr lang="en" sz="1100">
                  <a:solidFill>
                    <a:srgbClr val="0000FF"/>
                  </a:solidFill>
                </a:rPr>
                <a:t> there is strong evidence supporting the claim that higher daily step count is associated with lower stress level. </a:t>
              </a:r>
              <a:endParaRPr sz="1100">
                <a:solidFill>
                  <a:srgbClr val="0000FF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100"/>
                <a:buChar char="●"/>
              </a:pPr>
              <a:r>
                <a:rPr b="1" lang="en" sz="1100">
                  <a:solidFill>
                    <a:srgbClr val="0000FF"/>
                  </a:solidFill>
                </a:rPr>
                <a:t>Scientific version: </a:t>
              </a:r>
              <a:r>
                <a:rPr lang="en" sz="1100">
                  <a:solidFill>
                    <a:srgbClr val="0000FF"/>
                  </a:solidFill>
                </a:rPr>
                <a:t>assuming null hypothesis that there is no relationship between daily steps and stress level, the chance of seeing a difference at 0.186 or larger is less than 0.001. We reject the null hypothesis at a significance level of 0.001</a:t>
              </a:r>
              <a:endParaRPr sz="1100">
                <a:solidFill>
                  <a:srgbClr val="0000FF"/>
                </a:solidFill>
              </a:endParaRPr>
            </a:p>
          </p:txBody>
        </p:sp>
      </p:grp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363" y="1235887"/>
            <a:ext cx="2127411" cy="198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5225" y="1274525"/>
            <a:ext cx="2789765" cy="1923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9"/>
          <p:cNvCxnSpPr/>
          <p:nvPr/>
        </p:nvCxnSpPr>
        <p:spPr>
          <a:xfrm>
            <a:off x="4570938" y="1304300"/>
            <a:ext cx="2100" cy="1593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9"/>
          <p:cNvSpPr txBox="1"/>
          <p:nvPr/>
        </p:nvSpPr>
        <p:spPr>
          <a:xfrm>
            <a:off x="3704088" y="2829400"/>
            <a:ext cx="1735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0.186828954459</a:t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25" y="1776900"/>
            <a:ext cx="3486127" cy="21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1900" y="1733937"/>
            <a:ext cx="3654300" cy="221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>
            <p:ph type="title"/>
          </p:nvPr>
        </p:nvSpPr>
        <p:spPr>
          <a:xfrm>
            <a:off x="520425" y="50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920"/>
              <a:t>How Gender Impacts Average Sleep and Stress Levels in ALL Fields</a:t>
            </a:r>
            <a:endParaRPr b="1" sz="19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1572600" y="218650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Average Male Salesperson Data </a:t>
            </a:r>
            <a:r>
              <a:rPr b="1" lang="en" sz="2200">
                <a:solidFill>
                  <a:schemeClr val="dk1"/>
                </a:solidFill>
              </a:rPr>
              <a:t>👨🏻‍💼</a:t>
            </a:r>
            <a:endParaRPr b="1" sz="2200">
              <a:solidFill>
                <a:schemeClr val="dk1"/>
              </a:solidFill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0" y="0"/>
            <a:ext cx="1362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By Brittany Huynh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9825" y="1293651"/>
            <a:ext cx="2133900" cy="191073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3549975" y="823750"/>
            <a:ext cx="4200600" cy="3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FF"/>
                </a:solidFill>
              </a:rPr>
              <a:t>35</a:t>
            </a:r>
            <a:r>
              <a:rPr lang="en" sz="1700">
                <a:solidFill>
                  <a:schemeClr val="dk1"/>
                </a:solidFill>
              </a:rPr>
              <a:t> Years Old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FF"/>
                </a:solidFill>
              </a:rPr>
              <a:t>5</a:t>
            </a:r>
            <a:r>
              <a:rPr b="1" lang="en" sz="1700">
                <a:solidFill>
                  <a:srgbClr val="0000FF"/>
                </a:solidFill>
              </a:rPr>
              <a:t> </a:t>
            </a:r>
            <a:r>
              <a:rPr b="1" lang="en" sz="1100">
                <a:solidFill>
                  <a:srgbClr val="0000FF"/>
                </a:solidFill>
              </a:rPr>
              <a:t>out of</a:t>
            </a:r>
            <a:r>
              <a:rPr b="1" lang="en" sz="1700">
                <a:solidFill>
                  <a:srgbClr val="0000FF"/>
                </a:solidFill>
              </a:rPr>
              <a:t> </a:t>
            </a:r>
            <a:r>
              <a:rPr b="1" lang="en" sz="1900">
                <a:solidFill>
                  <a:srgbClr val="0000FF"/>
                </a:solidFill>
              </a:rPr>
              <a:t>10</a:t>
            </a:r>
            <a:r>
              <a:rPr b="1" lang="en" sz="1700">
                <a:solidFill>
                  <a:schemeClr val="dk1"/>
                </a:solidFill>
              </a:rPr>
              <a:t> </a:t>
            </a:r>
            <a:r>
              <a:rPr lang="en" sz="1700">
                <a:solidFill>
                  <a:schemeClr val="dk1"/>
                </a:solidFill>
              </a:rPr>
              <a:t>Sleep Quality Score 💤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FF"/>
                </a:solidFill>
              </a:rPr>
              <a:t>7.5</a:t>
            </a:r>
            <a:r>
              <a:rPr b="1" lang="en" sz="1700">
                <a:solidFill>
                  <a:srgbClr val="0000FF"/>
                </a:solidFill>
              </a:rPr>
              <a:t> </a:t>
            </a:r>
            <a:r>
              <a:rPr b="1" lang="en" sz="1100">
                <a:solidFill>
                  <a:srgbClr val="0000FF"/>
                </a:solidFill>
              </a:rPr>
              <a:t>out of</a:t>
            </a:r>
            <a:r>
              <a:rPr b="1" lang="en" sz="1700">
                <a:solidFill>
                  <a:srgbClr val="0000FF"/>
                </a:solidFill>
              </a:rPr>
              <a:t> </a:t>
            </a:r>
            <a:r>
              <a:rPr b="1" lang="en" sz="1900">
                <a:solidFill>
                  <a:srgbClr val="0000FF"/>
                </a:solidFill>
              </a:rPr>
              <a:t>10</a:t>
            </a:r>
            <a:r>
              <a:rPr lang="en" sz="1700">
                <a:solidFill>
                  <a:schemeClr val="dk1"/>
                </a:solidFill>
              </a:rPr>
              <a:t> Stress Level Score </a:t>
            </a:r>
            <a:r>
              <a:rPr lang="en" sz="1700">
                <a:solidFill>
                  <a:schemeClr val="dk1"/>
                </a:solidFill>
              </a:rPr>
              <a:t>🧘🏻‍♂️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FF"/>
                </a:solidFill>
              </a:rPr>
              <a:t>45</a:t>
            </a:r>
            <a:r>
              <a:rPr b="1" lang="en" sz="1700">
                <a:solidFill>
                  <a:srgbClr val="0000FF"/>
                </a:solidFill>
              </a:rPr>
              <a:t>00</a:t>
            </a:r>
            <a:r>
              <a:rPr lang="en" sz="1700">
                <a:solidFill>
                  <a:schemeClr val="dk1"/>
                </a:solidFill>
              </a:rPr>
              <a:t> Daily Steps </a:t>
            </a:r>
            <a:r>
              <a:rPr lang="en" sz="1700">
                <a:solidFill>
                  <a:schemeClr val="dk1"/>
                </a:solidFill>
              </a:rPr>
              <a:t>🏃🏻‍♂️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FF"/>
                </a:solidFill>
              </a:rPr>
              <a:t>37.5</a:t>
            </a:r>
            <a:r>
              <a:rPr lang="en" sz="1700">
                <a:solidFill>
                  <a:schemeClr val="dk1"/>
                </a:solidFill>
              </a:rPr>
              <a:t> Physical Activity Level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FF"/>
                </a:solidFill>
              </a:rPr>
              <a:t>Over</a:t>
            </a:r>
            <a:r>
              <a:rPr lang="en" sz="1700">
                <a:solidFill>
                  <a:schemeClr val="dk1"/>
                </a:solidFill>
              </a:rPr>
              <a:t>w</a:t>
            </a:r>
            <a:r>
              <a:rPr lang="en" sz="1700">
                <a:solidFill>
                  <a:schemeClr val="dk1"/>
                </a:solidFill>
              </a:rPr>
              <a:t>eight (BMI </a:t>
            </a:r>
            <a:r>
              <a:rPr lang="en" sz="1700">
                <a:solidFill>
                  <a:schemeClr val="dk1"/>
                </a:solidFill>
              </a:rPr>
              <a:t>25 to 29.9</a:t>
            </a:r>
            <a:r>
              <a:rPr lang="en" sz="1700">
                <a:solidFill>
                  <a:schemeClr val="dk1"/>
                </a:solidFill>
              </a:rPr>
              <a:t>)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4727200" y="37060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4"/>
              </a:rPr>
              <a:t>Link to source</a:t>
            </a:r>
            <a:endParaRPr sz="800"/>
          </a:p>
        </p:txBody>
      </p:sp>
      <p:sp>
        <p:nvSpPr>
          <p:cNvPr id="134" name="Google Shape;134;p21"/>
          <p:cNvSpPr txBox="1"/>
          <p:nvPr/>
        </p:nvSpPr>
        <p:spPr>
          <a:xfrm>
            <a:off x="388650" y="4029100"/>
            <a:ext cx="83667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Male Salespersons</a:t>
            </a:r>
            <a:r>
              <a:rPr lang="en">
                <a:solidFill>
                  <a:schemeClr val="dk1"/>
                </a:solidFill>
              </a:rPr>
              <a:t> are the most stressed individuals in this dataset. They live relatively unhealthy lifestyles with a low overall sleep quality score, a low-normal level of daily physical activity, and are overweight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(Based on the data of 32 male salespersons)</a:t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1461925" y="3158538"/>
            <a:ext cx="2249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5"/>
              </a:rPr>
              <a:t>https://www.istockphoto.com/vector/fat-office-worker-at-his-desk-gm163855785-13816944</a:t>
            </a: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D1E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1572600" y="218650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Average Female Engineer Data 🛠️ </a:t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 b="12524" l="14044" r="6967" t="15786"/>
          <a:stretch/>
        </p:blipFill>
        <p:spPr>
          <a:xfrm>
            <a:off x="1550175" y="1220225"/>
            <a:ext cx="1748775" cy="222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3370800" y="823750"/>
            <a:ext cx="4200600" cy="3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FF"/>
                </a:solidFill>
              </a:rPr>
              <a:t>53</a:t>
            </a:r>
            <a:r>
              <a:rPr lang="en" sz="1700">
                <a:solidFill>
                  <a:schemeClr val="dk1"/>
                </a:solidFill>
              </a:rPr>
              <a:t> Years Old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FF"/>
                </a:solidFill>
              </a:rPr>
              <a:t>9</a:t>
            </a:r>
            <a:r>
              <a:rPr b="1" lang="en" sz="1700">
                <a:solidFill>
                  <a:srgbClr val="0000FF"/>
                </a:solidFill>
              </a:rPr>
              <a:t> </a:t>
            </a:r>
            <a:r>
              <a:rPr b="1" lang="en" sz="1100">
                <a:solidFill>
                  <a:srgbClr val="0000FF"/>
                </a:solidFill>
              </a:rPr>
              <a:t>out of</a:t>
            </a:r>
            <a:r>
              <a:rPr b="1" lang="en" sz="1700">
                <a:solidFill>
                  <a:srgbClr val="0000FF"/>
                </a:solidFill>
              </a:rPr>
              <a:t> </a:t>
            </a:r>
            <a:r>
              <a:rPr b="1" lang="en" sz="1900">
                <a:solidFill>
                  <a:srgbClr val="0000FF"/>
                </a:solidFill>
              </a:rPr>
              <a:t>10</a:t>
            </a:r>
            <a:r>
              <a:rPr b="1" lang="en" sz="1700">
                <a:solidFill>
                  <a:schemeClr val="dk1"/>
                </a:solidFill>
              </a:rPr>
              <a:t> </a:t>
            </a:r>
            <a:r>
              <a:rPr lang="en" sz="1700">
                <a:solidFill>
                  <a:schemeClr val="dk1"/>
                </a:solidFill>
              </a:rPr>
              <a:t>Sleep Quality Score 💤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FF"/>
                </a:solidFill>
              </a:rPr>
              <a:t>3</a:t>
            </a:r>
            <a:r>
              <a:rPr b="1" lang="en" sz="1700">
                <a:solidFill>
                  <a:srgbClr val="0000FF"/>
                </a:solidFill>
              </a:rPr>
              <a:t> </a:t>
            </a:r>
            <a:r>
              <a:rPr b="1" lang="en" sz="1100">
                <a:solidFill>
                  <a:srgbClr val="0000FF"/>
                </a:solidFill>
              </a:rPr>
              <a:t>out of</a:t>
            </a:r>
            <a:r>
              <a:rPr b="1" lang="en" sz="1700">
                <a:solidFill>
                  <a:srgbClr val="0000FF"/>
                </a:solidFill>
              </a:rPr>
              <a:t> </a:t>
            </a:r>
            <a:r>
              <a:rPr b="1" lang="en" sz="1900">
                <a:solidFill>
                  <a:srgbClr val="0000FF"/>
                </a:solidFill>
              </a:rPr>
              <a:t>10</a:t>
            </a:r>
            <a:r>
              <a:rPr lang="en" sz="1700">
                <a:solidFill>
                  <a:schemeClr val="dk1"/>
                </a:solidFill>
              </a:rPr>
              <a:t> Stress Level Score 🧘🏻‍♀️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FF"/>
                </a:solidFill>
              </a:rPr>
              <a:t>5000</a:t>
            </a:r>
            <a:r>
              <a:rPr lang="en" sz="1700">
                <a:solidFill>
                  <a:schemeClr val="dk1"/>
                </a:solidFill>
              </a:rPr>
              <a:t> Daily Steps 🏃🏻‍♀️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FF"/>
                </a:solidFill>
              </a:rPr>
              <a:t>30</a:t>
            </a:r>
            <a:r>
              <a:rPr lang="en" sz="1700">
                <a:solidFill>
                  <a:schemeClr val="dk1"/>
                </a:solidFill>
              </a:rPr>
              <a:t> Physical Activity Level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FF"/>
                </a:solidFill>
              </a:rPr>
              <a:t>Normal</a:t>
            </a:r>
            <a:r>
              <a:rPr lang="en" sz="1700">
                <a:solidFill>
                  <a:schemeClr val="dk1"/>
                </a:solidFill>
              </a:rPr>
              <a:t> Weight (BMI </a:t>
            </a:r>
            <a:r>
              <a:rPr lang="en" sz="1700">
                <a:solidFill>
                  <a:schemeClr val="dk1"/>
                </a:solidFill>
              </a:rPr>
              <a:t>18.5-24.9</a:t>
            </a:r>
            <a:r>
              <a:rPr lang="en" sz="1700">
                <a:solidFill>
                  <a:schemeClr val="dk1"/>
                </a:solidFill>
              </a:rPr>
              <a:t>)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388650" y="4029100"/>
            <a:ext cx="83667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Female engineers are the least stressed individuals in this dataset. They also live relatively healthy lifestyles with a high overall sleep quality score, a normal level of daily physical activity, and normal weight BMI category.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(Based on the data of 32 female engineers) </a:t>
            </a:r>
            <a:endParaRPr i="1" sz="1100">
              <a:solidFill>
                <a:schemeClr val="dk1"/>
              </a:solidFill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1517211" y="3386850"/>
            <a:ext cx="181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https://iheartcraftythings.com/cartoon-woman-drawing.html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5" name="Google Shape;145;p22"/>
          <p:cNvSpPr txBox="1"/>
          <p:nvPr/>
        </p:nvSpPr>
        <p:spPr>
          <a:xfrm>
            <a:off x="0" y="0"/>
            <a:ext cx="13620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By Brittany Huynh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4727200" y="37060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hlinkClick r:id="rId5"/>
              </a:rPr>
              <a:t>Link to source</a:t>
            </a:r>
            <a:endParaRPr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