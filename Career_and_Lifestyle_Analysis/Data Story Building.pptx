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5143500" cx="9144000"/>
  <p:notesSz cx="6858000" cy="9144000"/>
  <p:embeddedFontLst>
    <p:embeddedFont>
      <p:font typeface="Roboto"/>
      <p:regular r:id="rId27"/>
      <p:bold r:id="rId28"/>
      <p:italic r:id="rId29"/>
      <p:boldItalic r:id="rId30"/>
    </p:embeddedFont>
    <p:embeddedFont>
      <p:font typeface="Open Sans"/>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997">
          <p15:clr>
            <a:srgbClr val="747775"/>
          </p15:clr>
        </p15:guide>
        <p15:guide id="2" pos="2808">
          <p15:clr>
            <a:srgbClr val="747775"/>
          </p15:clr>
        </p15:guide>
        <p15:guide id="3" orient="horz" pos="243">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Karen Che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345227F-FB16-4048-8FC3-62D51FBCF065}">
  <a:tblStyle styleId="{E345227F-FB16-4048-8FC3-62D51FBCF06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997" orient="horz"/>
        <p:guide pos="2808"/>
        <p:guide pos="243"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font" Target="fonts/Roboto-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OpenSans-regular.fntdata"/><Relationship Id="rId30" Type="http://schemas.openxmlformats.org/officeDocument/2006/relationships/font" Target="fonts/Roboto-boldItalic.fntdata"/><Relationship Id="rId11" Type="http://schemas.openxmlformats.org/officeDocument/2006/relationships/slide" Target="slides/slide4.xml"/><Relationship Id="rId33" Type="http://schemas.openxmlformats.org/officeDocument/2006/relationships/font" Target="fonts/OpenSans-italic.fntdata"/><Relationship Id="rId10" Type="http://schemas.openxmlformats.org/officeDocument/2006/relationships/slide" Target="slides/slide3.xml"/><Relationship Id="rId32" Type="http://schemas.openxmlformats.org/officeDocument/2006/relationships/font" Target="fonts/OpenSans-bold.fntdata"/><Relationship Id="rId13" Type="http://schemas.openxmlformats.org/officeDocument/2006/relationships/slide" Target="slides/slide6.xml"/><Relationship Id="rId12" Type="http://schemas.openxmlformats.org/officeDocument/2006/relationships/slide" Target="slides/slide5.xml"/><Relationship Id="rId34" Type="http://schemas.openxmlformats.org/officeDocument/2006/relationships/font" Target="fonts/OpenSans-boldItalic.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5-07T03:35:29.285">
    <p:pos x="353" y="209"/>
    <p:text>@bhuynh4@umbc.edu @c265@umbc.edu did you try to play around with ordering. I found the transition is not quite smooth, for example, you talk about stress by occupation on slide 3, then you jump to physical exercise on slide 4, and jump back to physical exercise on slide 5, then again stress on 6. Need more work on logical sequence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54b8278ba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54b8278ba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54b8278ba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54b8278ba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4d8e6f864c_1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d8e6f864c_1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4d8e6f864c_1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4d8e6f864c_1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4d8e6f864c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4d8e6f864c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4db83791b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4db83791b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4fb24f8da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4fb24f8da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4fb24f8da2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4fb24f8da2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508d55075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508d55075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4fb24f8da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4fb24f8da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54b8278ba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54b8278ba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4fb24f8da2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4fb24f8da2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4fb24f8da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4fb24f8da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509739836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509739836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4d8e6f864c_1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4d8e6f864c_1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4d8e6f864c_1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4d8e6f864c_1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4db83791b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4db83791be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4db83791be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4db83791be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4d8e6f864c_1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4d8e6f864c_1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omments" Target="../comments/comment1.xml"/><Relationship Id="rId4" Type="http://schemas.openxmlformats.org/officeDocument/2006/relationships/image" Target="../media/image4.png"/><Relationship Id="rId5" Type="http://schemas.openxmlformats.org/officeDocument/2006/relationships/hyperlink" Target="https://www.cdc.gov/mmwr/volumes/72/wr/mm7244e1.htm#:~:text=Results:%20From%202018%20to%202022%2C%20health%20workers,burnout%20very%20often%20(11.6%%20to%2019.0%)%20increased."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hyperlink" Target="https://iheartcraftythings.com/cartoon-woman-drawing.html" TargetMode="External"/><Relationship Id="rId5" Type="http://schemas.openxmlformats.org/officeDocument/2006/relationships/hyperlink" Target="https://my.clevelandclinic.org/health/articles/9464-body-mass-index-bmi#:~:text=What%20is%20a%20healthy%20BMI,of%20developing%20certain%20medical%20condition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www.orlandohealth.com/content-hub/does-sleeping-well-help-you-lose-weight" TargetMode="External"/><Relationship Id="rId4" Type="http://schemas.openxmlformats.org/officeDocument/2006/relationships/image" Target="../media/image21.png"/><Relationship Id="rId5" Type="http://schemas.openxmlformats.org/officeDocument/2006/relationships/image" Target="../media/image8.png"/><Relationship Id="rId6"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pmc.ncbi.nlm.nih.gov/articles/PMC10266850/#:~:text=Results,burnout%20rate%20among%20women%20physician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www.cdc.gov/mmwr/volumes/72/wr/mm7244e1.htm#:~:text=Results:%20From%202018%20to%202022%2C%20health%20workers,burnout%20very%20often%20(11.6%%20to%2019.0%)%20increased." TargetMode="External"/><Relationship Id="rId4" Type="http://schemas.openxmlformats.org/officeDocument/2006/relationships/image" Target="../media/image25.png"/><Relationship Id="rId5"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544050" y="1872688"/>
            <a:ext cx="8055900" cy="10929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5900"/>
              <a:t>Data Story Building</a:t>
            </a:r>
            <a:endParaRPr sz="5900"/>
          </a:p>
        </p:txBody>
      </p:sp>
      <p:sp>
        <p:nvSpPr>
          <p:cNvPr id="55" name="Google Shape;55;p13"/>
          <p:cNvSpPr txBox="1"/>
          <p:nvPr>
            <p:ph type="title"/>
          </p:nvPr>
        </p:nvSpPr>
        <p:spPr>
          <a:xfrm>
            <a:off x="3419700" y="2753113"/>
            <a:ext cx="2304600" cy="3849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1300"/>
              <a:t>Last Updated by: Car (5/4)</a:t>
            </a:r>
            <a:endParaRPr sz="1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544050" y="1985425"/>
            <a:ext cx="8055900" cy="10929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5900"/>
              <a:t>GRAPHS TO USE</a:t>
            </a:r>
            <a:endParaRPr sz="5900"/>
          </a:p>
        </p:txBody>
      </p:sp>
      <p:sp>
        <p:nvSpPr>
          <p:cNvPr id="61" name="Google Shape;61;p14"/>
          <p:cNvSpPr txBox="1"/>
          <p:nvPr>
            <p:ph type="title"/>
          </p:nvPr>
        </p:nvSpPr>
        <p:spPr>
          <a:xfrm>
            <a:off x="3419700" y="2797388"/>
            <a:ext cx="2304600" cy="3849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1300"/>
              <a:t>***Not in Order***</a:t>
            </a:r>
            <a:endParaRPr sz="13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561750" y="332075"/>
            <a:ext cx="8020500" cy="961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120"/>
              <a:t>Data Insight: Being a doctor is the most stressful occupation (according to this dataset). </a:t>
            </a:r>
            <a:endParaRPr b="1" sz="2120"/>
          </a:p>
        </p:txBody>
      </p:sp>
      <p:sp>
        <p:nvSpPr>
          <p:cNvPr id="67" name="Google Shape;67;p15"/>
          <p:cNvSpPr txBox="1"/>
          <p:nvPr/>
        </p:nvSpPr>
        <p:spPr>
          <a:xfrm>
            <a:off x="0" y="0"/>
            <a:ext cx="13620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t>
            </a:r>
            <a:endParaRPr sz="1100">
              <a:solidFill>
                <a:schemeClr val="dk1"/>
              </a:solidFill>
            </a:endParaRPr>
          </a:p>
        </p:txBody>
      </p:sp>
      <p:pic>
        <p:nvPicPr>
          <p:cNvPr id="68" name="Google Shape;68;p15"/>
          <p:cNvPicPr preferRelativeResize="0"/>
          <p:nvPr/>
        </p:nvPicPr>
        <p:blipFill>
          <a:blip r:embed="rId4">
            <a:alphaModFix/>
          </a:blip>
          <a:stretch>
            <a:fillRect/>
          </a:stretch>
        </p:blipFill>
        <p:spPr>
          <a:xfrm>
            <a:off x="2882986" y="1110600"/>
            <a:ext cx="3378025" cy="1984400"/>
          </a:xfrm>
          <a:prstGeom prst="rect">
            <a:avLst/>
          </a:prstGeom>
          <a:noFill/>
          <a:ln>
            <a:noFill/>
          </a:ln>
        </p:spPr>
      </p:pic>
      <p:sp>
        <p:nvSpPr>
          <p:cNvPr id="69" name="Google Shape;69;p15"/>
          <p:cNvSpPr txBox="1"/>
          <p:nvPr>
            <p:ph idx="1" type="body"/>
          </p:nvPr>
        </p:nvSpPr>
        <p:spPr>
          <a:xfrm>
            <a:off x="280950" y="3147925"/>
            <a:ext cx="8582100" cy="1943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300">
                <a:solidFill>
                  <a:schemeClr val="dk1"/>
                </a:solidFill>
              </a:rPr>
              <a:t>This graph shows that doctors experienced the highest Stress Level on average compared to nurses and all other occupations. This insight proves the claim from </a:t>
            </a:r>
            <a:r>
              <a:rPr lang="en" sz="1300" u="sng">
                <a:solidFill>
                  <a:schemeClr val="hlink"/>
                </a:solidFill>
                <a:hlinkClick r:id="rId5"/>
              </a:rPr>
              <a:t>the article</a:t>
            </a:r>
            <a:r>
              <a:rPr lang="en" sz="1300">
                <a:solidFill>
                  <a:schemeClr val="dk1"/>
                </a:solidFill>
              </a:rPr>
              <a:t> in the previous slide that says healthcare workers experience burnout and stress. Doctors’ stress is likely due to physical demands of the job, such as excessive workloads. Doctors are paid extremely well, but does the high salary make up for the stressful nature of the job? Although doctors experience the most stress, nurses’ average stress levels are lower than all other occupations combined. </a:t>
            </a:r>
            <a:endParaRPr sz="1200">
              <a:solidFill>
                <a:schemeClr val="dk1"/>
              </a:solidFill>
            </a:endParaRPr>
          </a:p>
          <a:p>
            <a:pPr indent="0" lvl="0" marL="0" rtl="0" algn="l">
              <a:lnSpc>
                <a:spcPct val="95000"/>
              </a:lnSpc>
              <a:spcBef>
                <a:spcPts val="1600"/>
              </a:spcBef>
              <a:spcAft>
                <a:spcPts val="1200"/>
              </a:spcAft>
              <a:buSzPts val="688"/>
              <a:buNone/>
            </a:pPr>
            <a:r>
              <a:t/>
            </a:r>
            <a:endParaRPr b="1" sz="1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553950" y="649600"/>
            <a:ext cx="8131500" cy="109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44594"/>
              <a:buNone/>
            </a:pPr>
            <a:r>
              <a:rPr b="1" lang="en" sz="2220"/>
              <a:t>Data Insight: Engineers Sleep the Most, Sales Representatives Sleep the Least – Stress L</a:t>
            </a:r>
            <a:r>
              <a:rPr b="1" lang="en" sz="2220"/>
              <a:t>evels Reflect Sleep Durations. </a:t>
            </a:r>
            <a:r>
              <a:rPr b="1" lang="en" sz="2220"/>
              <a:t>  </a:t>
            </a:r>
            <a:endParaRPr b="1" sz="2220"/>
          </a:p>
        </p:txBody>
      </p:sp>
      <p:sp>
        <p:nvSpPr>
          <p:cNvPr id="75" name="Google Shape;75;p16"/>
          <p:cNvSpPr txBox="1"/>
          <p:nvPr>
            <p:ph idx="1" type="body"/>
          </p:nvPr>
        </p:nvSpPr>
        <p:spPr>
          <a:xfrm>
            <a:off x="458550" y="3627788"/>
            <a:ext cx="8211300" cy="866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300">
                <a:solidFill>
                  <a:schemeClr val="dk1"/>
                </a:solidFill>
              </a:rPr>
              <a:t>This overlaid bar chart shows each occupation’s Sleep Duration average vs. Stress Level </a:t>
            </a:r>
            <a:r>
              <a:rPr lang="en" sz="1300">
                <a:solidFill>
                  <a:schemeClr val="dk1"/>
                </a:solidFill>
              </a:rPr>
              <a:t>average. The data reveals that the occupations with higher sleep durations tend to be less stressed than those with lower sleep durations. The data is making me reconsider my major, maybe I should switch to engineering </a:t>
            </a:r>
            <a:r>
              <a:rPr lang="en" sz="1200">
                <a:solidFill>
                  <a:srgbClr val="474747"/>
                </a:solidFill>
                <a:highlight>
                  <a:srgbClr val="FFFFFF"/>
                </a:highlight>
                <a:latin typeface="Roboto"/>
                <a:ea typeface="Roboto"/>
                <a:cs typeface="Roboto"/>
                <a:sym typeface="Roboto"/>
              </a:rPr>
              <a:t>😆</a:t>
            </a:r>
            <a:r>
              <a:rPr lang="en" sz="1300">
                <a:solidFill>
                  <a:schemeClr val="dk1"/>
                </a:solidFill>
              </a:rPr>
              <a:t>.    </a:t>
            </a:r>
            <a:endParaRPr sz="1300">
              <a:solidFill>
                <a:schemeClr val="dk1"/>
              </a:solidFill>
            </a:endParaRPr>
          </a:p>
          <a:p>
            <a:pPr indent="0" lvl="0" marL="0" rtl="0" algn="l">
              <a:lnSpc>
                <a:spcPct val="95000"/>
              </a:lnSpc>
              <a:spcBef>
                <a:spcPts val="1600"/>
              </a:spcBef>
              <a:spcAft>
                <a:spcPts val="1200"/>
              </a:spcAft>
              <a:buSzPts val="688"/>
              <a:buNone/>
            </a:pPr>
            <a:r>
              <a:t/>
            </a:r>
            <a:endParaRPr b="1" sz="1200"/>
          </a:p>
        </p:txBody>
      </p:sp>
      <p:sp>
        <p:nvSpPr>
          <p:cNvPr id="76" name="Google Shape;76;p16"/>
          <p:cNvSpPr txBox="1"/>
          <p:nvPr/>
        </p:nvSpPr>
        <p:spPr>
          <a:xfrm>
            <a:off x="0" y="0"/>
            <a:ext cx="13620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t>
            </a:r>
            <a:endParaRPr sz="1100">
              <a:solidFill>
                <a:schemeClr val="dk1"/>
              </a:solidFill>
            </a:endParaRPr>
          </a:p>
        </p:txBody>
      </p:sp>
      <p:pic>
        <p:nvPicPr>
          <p:cNvPr id="77" name="Google Shape;77;p16"/>
          <p:cNvPicPr preferRelativeResize="0"/>
          <p:nvPr/>
        </p:nvPicPr>
        <p:blipFill>
          <a:blip r:embed="rId3">
            <a:alphaModFix/>
          </a:blip>
          <a:stretch>
            <a:fillRect/>
          </a:stretch>
        </p:blipFill>
        <p:spPr>
          <a:xfrm>
            <a:off x="2365650" y="1482588"/>
            <a:ext cx="4397101" cy="1924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Insights</a:t>
            </a:r>
            <a:endParaRPr/>
          </a:p>
        </p:txBody>
      </p:sp>
      <p:sp>
        <p:nvSpPr>
          <p:cNvPr id="83" name="Google Shape;83;p17"/>
          <p:cNvSpPr txBox="1"/>
          <p:nvPr>
            <p:ph idx="1" type="body"/>
          </p:nvPr>
        </p:nvSpPr>
        <p:spPr>
          <a:xfrm>
            <a:off x="311700" y="1152475"/>
            <a:ext cx="4260300" cy="3521700"/>
          </a:xfrm>
          <a:prstGeom prst="rect">
            <a:avLst/>
          </a:prstGeom>
        </p:spPr>
        <p:txBody>
          <a:bodyPr anchorCtr="0" anchor="t" bIns="91425" lIns="91425" spcFirstLastPara="1" rIns="91425" wrap="square" tIns="91425">
            <a:noAutofit/>
          </a:bodyPr>
          <a:lstStyle/>
          <a:p>
            <a:pPr indent="-309880" lvl="1" marL="914400" rtl="0" algn="l">
              <a:lnSpc>
                <a:spcPct val="95000"/>
              </a:lnSpc>
              <a:spcBef>
                <a:spcPts val="0"/>
              </a:spcBef>
              <a:spcAft>
                <a:spcPts val="0"/>
              </a:spcAft>
              <a:buClr>
                <a:srgbClr val="695D46"/>
              </a:buClr>
              <a:buSzPts val="1280"/>
              <a:buFont typeface="Open Sans"/>
              <a:buChar char="○"/>
            </a:pPr>
            <a:r>
              <a:rPr lang="en" sz="1280">
                <a:solidFill>
                  <a:srgbClr val="695D46"/>
                </a:solidFill>
                <a:latin typeface="Open Sans"/>
                <a:ea typeface="Open Sans"/>
                <a:cs typeface="Open Sans"/>
                <a:sym typeface="Open Sans"/>
              </a:rPr>
              <a:t>This graph shows the various job fields within the data table and how the average physical activity of each job field. The physical activity is on a scale of 0-100, 0 being no physical activity and 100 being very active. Based off of the data results, </a:t>
            </a:r>
            <a:r>
              <a:rPr lang="en" sz="1280">
                <a:solidFill>
                  <a:srgbClr val="695D46"/>
                </a:solidFill>
                <a:latin typeface="Open Sans"/>
                <a:ea typeface="Open Sans"/>
                <a:cs typeface="Open Sans"/>
                <a:sym typeface="Open Sans"/>
              </a:rPr>
              <a:t>it seems that healthcare workers have the highest physical activity average. This could be due to the fact that doctors and nurses are always </a:t>
            </a:r>
            <a:r>
              <a:rPr lang="en" sz="1280">
                <a:solidFill>
                  <a:srgbClr val="695D46"/>
                </a:solidFill>
                <a:latin typeface="Open Sans"/>
                <a:ea typeface="Open Sans"/>
                <a:cs typeface="Open Sans"/>
                <a:sym typeface="Open Sans"/>
              </a:rPr>
              <a:t>on their feet running around hospitals to tend to those in need. It seems that service workers are the lowest in physical activity average it could indicate that sales representatives these days usually work from home to raise their sales, meaning they don’t need to walk around as much. </a:t>
            </a:r>
            <a:endParaRPr b="1" sz="1280"/>
          </a:p>
        </p:txBody>
      </p:sp>
      <p:pic>
        <p:nvPicPr>
          <p:cNvPr id="84" name="Google Shape;84;p17"/>
          <p:cNvPicPr preferRelativeResize="0"/>
          <p:nvPr/>
        </p:nvPicPr>
        <p:blipFill>
          <a:blip r:embed="rId3">
            <a:alphaModFix/>
          </a:blip>
          <a:stretch>
            <a:fillRect/>
          </a:stretch>
        </p:blipFill>
        <p:spPr>
          <a:xfrm>
            <a:off x="4957600" y="1461076"/>
            <a:ext cx="3707246" cy="2070000"/>
          </a:xfrm>
          <a:prstGeom prst="rect">
            <a:avLst/>
          </a:prstGeom>
          <a:noFill/>
          <a:ln>
            <a:noFill/>
          </a:ln>
        </p:spPr>
      </p:pic>
      <p:sp>
        <p:nvSpPr>
          <p:cNvPr id="85" name="Google Shape;85;p17"/>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By Carlyn Mangana</a:t>
            </a:r>
            <a:endParaRPr sz="11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Insights</a:t>
            </a:r>
            <a:endParaRPr/>
          </a:p>
        </p:txBody>
      </p:sp>
      <p:sp>
        <p:nvSpPr>
          <p:cNvPr id="91" name="Google Shape;91;p18"/>
          <p:cNvSpPr txBox="1"/>
          <p:nvPr>
            <p:ph idx="1" type="body"/>
          </p:nvPr>
        </p:nvSpPr>
        <p:spPr>
          <a:xfrm>
            <a:off x="311700" y="1152475"/>
            <a:ext cx="4260300" cy="3521700"/>
          </a:xfrm>
          <a:prstGeom prst="rect">
            <a:avLst/>
          </a:prstGeom>
        </p:spPr>
        <p:txBody>
          <a:bodyPr anchorCtr="0" anchor="t" bIns="91425" lIns="91425" spcFirstLastPara="1" rIns="91425" wrap="square" tIns="91425">
            <a:noAutofit/>
          </a:bodyPr>
          <a:lstStyle/>
          <a:p>
            <a:pPr indent="-309880" lvl="1" marL="914400" rtl="0" algn="l">
              <a:lnSpc>
                <a:spcPct val="95000"/>
              </a:lnSpc>
              <a:spcBef>
                <a:spcPts val="0"/>
              </a:spcBef>
              <a:spcAft>
                <a:spcPts val="0"/>
              </a:spcAft>
              <a:buClr>
                <a:srgbClr val="695D46"/>
              </a:buClr>
              <a:buSzPts val="1280"/>
              <a:buFont typeface="Open Sans"/>
              <a:buChar char="○"/>
            </a:pPr>
            <a:r>
              <a:rPr lang="en" sz="1280">
                <a:solidFill>
                  <a:srgbClr val="695D46"/>
                </a:solidFill>
                <a:latin typeface="Open Sans"/>
                <a:ea typeface="Open Sans"/>
                <a:cs typeface="Open Sans"/>
                <a:sym typeface="Open Sans"/>
              </a:rPr>
              <a:t>This graph shows the difference between those with STEM jobs as well as those in non-STEM job fields. The STEM jobs are based off of the table so they include those who are Software Engineers, Nurses, Doctors, Scientists, and Engineers. The non-STEM jobs are those who are anything outside of those fields in the data table. According to the data, it seems that for the most part they have similar stress levels as I took the average stress level of both those who are in non-STEM and those who are in STEM. This could be due to the fact that despite Lawyer being a non-STEM job, it still has those in the profession working 24/7 on cases and being stressed. This </a:t>
            </a:r>
            <a:r>
              <a:rPr lang="en" sz="1280">
                <a:solidFill>
                  <a:srgbClr val="695D46"/>
                </a:solidFill>
                <a:latin typeface="Open Sans"/>
                <a:ea typeface="Open Sans"/>
                <a:cs typeface="Open Sans"/>
                <a:sym typeface="Open Sans"/>
              </a:rPr>
              <a:t>would</a:t>
            </a:r>
            <a:r>
              <a:rPr lang="en" sz="1280">
                <a:solidFill>
                  <a:srgbClr val="695D46"/>
                </a:solidFill>
                <a:latin typeface="Open Sans"/>
                <a:ea typeface="Open Sans"/>
                <a:cs typeface="Open Sans"/>
                <a:sym typeface="Open Sans"/>
              </a:rPr>
              <a:t> be </a:t>
            </a:r>
            <a:r>
              <a:rPr lang="en" sz="1280">
                <a:solidFill>
                  <a:srgbClr val="695D46"/>
                </a:solidFill>
                <a:latin typeface="Open Sans"/>
                <a:ea typeface="Open Sans"/>
                <a:cs typeface="Open Sans"/>
                <a:sym typeface="Open Sans"/>
              </a:rPr>
              <a:t>something</a:t>
            </a:r>
            <a:r>
              <a:rPr lang="en" sz="1280">
                <a:solidFill>
                  <a:srgbClr val="695D46"/>
                </a:solidFill>
                <a:latin typeface="Open Sans"/>
                <a:ea typeface="Open Sans"/>
                <a:cs typeface="Open Sans"/>
                <a:sym typeface="Open Sans"/>
              </a:rPr>
              <a:t> we would take into account when making our final research insights. </a:t>
            </a:r>
            <a:endParaRPr b="1" sz="1280"/>
          </a:p>
        </p:txBody>
      </p:sp>
      <p:sp>
        <p:nvSpPr>
          <p:cNvPr id="92" name="Google Shape;92;p18"/>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By Carlyn Mangana</a:t>
            </a:r>
            <a:endParaRPr sz="1100">
              <a:solidFill>
                <a:schemeClr val="dk1"/>
              </a:solidFill>
            </a:endParaRPr>
          </a:p>
        </p:txBody>
      </p:sp>
      <p:pic>
        <p:nvPicPr>
          <p:cNvPr id="93" name="Google Shape;93;p18"/>
          <p:cNvPicPr preferRelativeResize="0"/>
          <p:nvPr/>
        </p:nvPicPr>
        <p:blipFill rotWithShape="1">
          <a:blip r:embed="rId3">
            <a:alphaModFix/>
          </a:blip>
          <a:srcRect b="0" l="5258" r="5329" t="0"/>
          <a:stretch/>
        </p:blipFill>
        <p:spPr>
          <a:xfrm>
            <a:off x="4851375" y="1650125"/>
            <a:ext cx="3815575" cy="2144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116950" y="354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Estimation: STEM Stress Levels</a:t>
            </a:r>
            <a:endParaRPr/>
          </a:p>
        </p:txBody>
      </p:sp>
      <p:sp>
        <p:nvSpPr>
          <p:cNvPr id="99" name="Google Shape;99;p19"/>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By Carlyn Mangana</a:t>
            </a:r>
            <a:endParaRPr sz="1100">
              <a:solidFill>
                <a:schemeClr val="dk1"/>
              </a:solidFill>
            </a:endParaRPr>
          </a:p>
        </p:txBody>
      </p:sp>
      <p:pic>
        <p:nvPicPr>
          <p:cNvPr id="100" name="Google Shape;100;p19"/>
          <p:cNvPicPr preferRelativeResize="0"/>
          <p:nvPr/>
        </p:nvPicPr>
        <p:blipFill>
          <a:blip r:embed="rId3">
            <a:alphaModFix/>
          </a:blip>
          <a:stretch>
            <a:fillRect/>
          </a:stretch>
        </p:blipFill>
        <p:spPr>
          <a:xfrm>
            <a:off x="5220602" y="292500"/>
            <a:ext cx="3549674" cy="2662256"/>
          </a:xfrm>
          <a:prstGeom prst="rect">
            <a:avLst/>
          </a:prstGeom>
          <a:noFill/>
          <a:ln>
            <a:noFill/>
          </a:ln>
        </p:spPr>
      </p:pic>
      <p:pic>
        <p:nvPicPr>
          <p:cNvPr id="101" name="Google Shape;101;p19"/>
          <p:cNvPicPr preferRelativeResize="0"/>
          <p:nvPr/>
        </p:nvPicPr>
        <p:blipFill>
          <a:blip r:embed="rId4">
            <a:alphaModFix/>
          </a:blip>
          <a:stretch>
            <a:fillRect/>
          </a:stretch>
        </p:blipFill>
        <p:spPr>
          <a:xfrm>
            <a:off x="426825" y="2506323"/>
            <a:ext cx="3149700" cy="2121626"/>
          </a:xfrm>
          <a:prstGeom prst="rect">
            <a:avLst/>
          </a:prstGeom>
          <a:noFill/>
          <a:ln>
            <a:noFill/>
          </a:ln>
        </p:spPr>
      </p:pic>
      <p:sp>
        <p:nvSpPr>
          <p:cNvPr id="102" name="Google Shape;102;p19"/>
          <p:cNvSpPr txBox="1"/>
          <p:nvPr/>
        </p:nvSpPr>
        <p:spPr>
          <a:xfrm>
            <a:off x="125800" y="779425"/>
            <a:ext cx="4460100" cy="3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highlight>
                  <a:srgbClr val="FFFFFF"/>
                </a:highlight>
              </a:rPr>
              <a:t>I am interested to know if STEM fields have high stress levels compared to Non-STEM</a:t>
            </a:r>
            <a:endParaRPr sz="1300">
              <a:highlight>
                <a:srgbClr val="FFFFFF"/>
              </a:highlight>
            </a:endParaRPr>
          </a:p>
          <a:p>
            <a:pPr indent="0" lvl="0" marL="0" rtl="0" algn="l">
              <a:spcBef>
                <a:spcPts val="0"/>
              </a:spcBef>
              <a:spcAft>
                <a:spcPts val="0"/>
              </a:spcAft>
              <a:buNone/>
            </a:pPr>
            <a:r>
              <a:rPr lang="en" sz="1300">
                <a:highlight>
                  <a:srgbClr val="FFFFFF"/>
                </a:highlight>
              </a:rPr>
              <a:t>I plan to analyze </a:t>
            </a:r>
            <a:r>
              <a:rPr b="1" lang="en" sz="1300">
                <a:highlight>
                  <a:srgbClr val="FFFFFF"/>
                </a:highlight>
              </a:rPr>
              <a:t>Stress Levels</a:t>
            </a:r>
            <a:r>
              <a:rPr b="1" lang="en" sz="1300">
                <a:highlight>
                  <a:srgbClr val="FFFFFF"/>
                </a:highlight>
              </a:rPr>
              <a:t> </a:t>
            </a:r>
            <a:r>
              <a:rPr lang="en" sz="1300">
                <a:highlight>
                  <a:srgbClr val="FFFFFF"/>
                </a:highlight>
              </a:rPr>
              <a:t>which describe the average stress levels each person experiences on a scale from 1 being not stressed at all to 10 being very stressed.</a:t>
            </a:r>
            <a:endParaRPr sz="1300">
              <a:highlight>
                <a:srgbClr val="FFFFFF"/>
              </a:highlight>
            </a:endParaRPr>
          </a:p>
          <a:p>
            <a:pPr indent="0" lvl="0" marL="0" rtl="0" algn="l">
              <a:spcBef>
                <a:spcPts val="0"/>
              </a:spcBef>
              <a:spcAft>
                <a:spcPts val="0"/>
              </a:spcAft>
              <a:buNone/>
            </a:pPr>
            <a:r>
              <a:rPr lang="en" sz="1300">
                <a:highlight>
                  <a:srgbClr val="FFFFFF"/>
                </a:highlight>
              </a:rPr>
              <a:t>My parameter of interest is </a:t>
            </a:r>
            <a:r>
              <a:rPr b="1" lang="en" sz="1300">
                <a:highlight>
                  <a:srgbClr val="FFFFFF"/>
                </a:highlight>
              </a:rPr>
              <a:t>Mean</a:t>
            </a:r>
            <a:endParaRPr sz="1600">
              <a:solidFill>
                <a:srgbClr val="695D46"/>
              </a:solidFill>
              <a:latin typeface="Open Sans"/>
              <a:ea typeface="Open Sans"/>
              <a:cs typeface="Open Sans"/>
              <a:sym typeface="Open Sans"/>
            </a:endParaRPr>
          </a:p>
        </p:txBody>
      </p:sp>
      <p:sp>
        <p:nvSpPr>
          <p:cNvPr id="103" name="Google Shape;103;p19"/>
          <p:cNvSpPr txBox="1"/>
          <p:nvPr/>
        </p:nvSpPr>
        <p:spPr>
          <a:xfrm>
            <a:off x="3992660" y="3141650"/>
            <a:ext cx="4511100" cy="17856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Char char="●"/>
            </a:pPr>
            <a:r>
              <a:rPr lang="en" sz="1100">
                <a:highlight>
                  <a:srgbClr val="FFFFFF"/>
                </a:highlight>
              </a:rPr>
              <a:t>95% Confidence Interval of Sample Mean</a:t>
            </a:r>
            <a:endParaRPr sz="1100">
              <a:highlight>
                <a:srgbClr val="FFFFFF"/>
              </a:highlight>
            </a:endParaRPr>
          </a:p>
          <a:p>
            <a:pPr indent="0" lvl="0" marL="457200" rtl="0" algn="l">
              <a:spcBef>
                <a:spcPts val="0"/>
              </a:spcBef>
              <a:spcAft>
                <a:spcPts val="0"/>
              </a:spcAft>
              <a:buNone/>
            </a:pPr>
            <a:r>
              <a:rPr lang="en" sz="1100">
                <a:highlight>
                  <a:srgbClr val="FFFFFF"/>
                </a:highlight>
              </a:rPr>
              <a:t>(5.21, 5.79)</a:t>
            </a:r>
            <a:r>
              <a:rPr lang="en" sz="1100">
                <a:highlight>
                  <a:srgbClr val="FFFFFF"/>
                </a:highlight>
              </a:rPr>
              <a:t> meaning that STEM fields are estimated to face average stress levels</a:t>
            </a:r>
            <a:endParaRPr sz="1100">
              <a:highlight>
                <a:srgbClr val="FFFFFF"/>
              </a:highlight>
            </a:endParaRPr>
          </a:p>
          <a:p>
            <a:pPr indent="-298450" lvl="0" marL="457200" rtl="0" algn="l">
              <a:spcBef>
                <a:spcPts val="0"/>
              </a:spcBef>
              <a:spcAft>
                <a:spcPts val="0"/>
              </a:spcAft>
              <a:buSzPts val="1100"/>
              <a:buChar char="●"/>
            </a:pPr>
            <a:r>
              <a:rPr lang="en" sz="1100">
                <a:highlight>
                  <a:srgbClr val="FFFFFF"/>
                </a:highlight>
              </a:rPr>
              <a:t>95% Confidence Interval of Sample Mean</a:t>
            </a:r>
            <a:endParaRPr sz="1100">
              <a:highlight>
                <a:srgbClr val="FFFFFF"/>
              </a:highlight>
            </a:endParaRPr>
          </a:p>
          <a:p>
            <a:pPr indent="0" lvl="0" marL="457200" rtl="0" algn="l">
              <a:spcBef>
                <a:spcPts val="0"/>
              </a:spcBef>
              <a:spcAft>
                <a:spcPts val="0"/>
              </a:spcAft>
              <a:buNone/>
            </a:pPr>
            <a:r>
              <a:rPr lang="en" sz="1100">
                <a:highlight>
                  <a:srgbClr val="FFFFFF"/>
                </a:highlight>
              </a:rPr>
              <a:t>(5.21, 5.76) </a:t>
            </a:r>
            <a:endParaRPr sz="1100">
              <a:highlight>
                <a:srgbClr val="FFFFFF"/>
              </a:highlight>
            </a:endParaRPr>
          </a:p>
          <a:p>
            <a:pPr indent="-298450" lvl="0" marL="457200" rtl="0" algn="l">
              <a:spcBef>
                <a:spcPts val="0"/>
              </a:spcBef>
              <a:spcAft>
                <a:spcPts val="0"/>
              </a:spcAft>
              <a:buSzPts val="1100"/>
              <a:buChar char="●"/>
            </a:pPr>
            <a:r>
              <a:rPr lang="en" sz="1100">
                <a:highlight>
                  <a:srgbClr val="FFFFFF"/>
                </a:highlight>
              </a:rPr>
              <a:t>Conclusion: After analysing the data, average stress levels are between 5-6, meaning that most are stressed but not too stressed. </a:t>
            </a:r>
            <a:endParaRPr sz="1100">
              <a:highlight>
                <a:srgbClr val="FFFFFF"/>
              </a:highlight>
            </a:endParaRPr>
          </a:p>
          <a:p>
            <a:pPr indent="0" lvl="0" marL="457200" rtl="0" algn="l">
              <a:spcBef>
                <a:spcPts val="0"/>
              </a:spcBef>
              <a:spcAft>
                <a:spcPts val="0"/>
              </a:spcAft>
              <a:buNone/>
            </a:pPr>
            <a:r>
              <a:t/>
            </a:r>
            <a:endParaRPr sz="1600">
              <a:highlight>
                <a:srgbClr val="FFFFFF"/>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type="title"/>
          </p:nvPr>
        </p:nvSpPr>
        <p:spPr>
          <a:xfrm>
            <a:off x="311700" y="312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Insights</a:t>
            </a:r>
            <a:endParaRPr/>
          </a:p>
        </p:txBody>
      </p:sp>
      <p:sp>
        <p:nvSpPr>
          <p:cNvPr id="109" name="Google Shape;109;p20"/>
          <p:cNvSpPr txBox="1"/>
          <p:nvPr>
            <p:ph idx="1" type="body"/>
          </p:nvPr>
        </p:nvSpPr>
        <p:spPr>
          <a:xfrm>
            <a:off x="311700" y="884925"/>
            <a:ext cx="8089800" cy="1133400"/>
          </a:xfrm>
          <a:prstGeom prst="rect">
            <a:avLst/>
          </a:prstGeom>
        </p:spPr>
        <p:txBody>
          <a:bodyPr anchorCtr="0" anchor="t" bIns="91425" lIns="91425" spcFirstLastPara="1" rIns="91425" wrap="square" tIns="91425">
            <a:noAutofit/>
          </a:bodyPr>
          <a:lstStyle/>
          <a:p>
            <a:pPr indent="-335280" lvl="1" marL="914400" rtl="0" algn="l">
              <a:lnSpc>
                <a:spcPct val="95000"/>
              </a:lnSpc>
              <a:spcBef>
                <a:spcPts val="0"/>
              </a:spcBef>
              <a:spcAft>
                <a:spcPts val="0"/>
              </a:spcAft>
              <a:buClr>
                <a:srgbClr val="695D46"/>
              </a:buClr>
              <a:buSzPts val="1680"/>
              <a:buFont typeface="Open Sans"/>
              <a:buChar char="○"/>
            </a:pPr>
            <a:r>
              <a:rPr lang="en" sz="1679">
                <a:solidFill>
                  <a:srgbClr val="695D46"/>
                </a:solidFill>
                <a:latin typeface="Open Sans"/>
                <a:ea typeface="Open Sans"/>
                <a:cs typeface="Open Sans"/>
                <a:sym typeface="Open Sans"/>
              </a:rPr>
              <a:t>Last week, after collection my data insights for this project, I came up with a new curious question, “Does Gender impact all Job Fields?” Based off of these two graphs, it seems that women face better sleep quality but also have lower stress levels. </a:t>
            </a:r>
            <a:r>
              <a:rPr lang="en" sz="1679">
                <a:solidFill>
                  <a:srgbClr val="695D46"/>
                </a:solidFill>
                <a:latin typeface="Open Sans"/>
                <a:ea typeface="Open Sans"/>
                <a:cs typeface="Open Sans"/>
                <a:sym typeface="Open Sans"/>
              </a:rPr>
              <a:t>This could be because according to my previous research, women face gender disparities when it comes to career advancements, therefore, they have less opportunities to get these higher level careers.</a:t>
            </a:r>
            <a:r>
              <a:rPr lang="en" sz="1679">
                <a:solidFill>
                  <a:srgbClr val="695D46"/>
                </a:solidFill>
                <a:latin typeface="Open Sans"/>
                <a:ea typeface="Open Sans"/>
                <a:cs typeface="Open Sans"/>
                <a:sym typeface="Open Sans"/>
              </a:rPr>
              <a:t> </a:t>
            </a:r>
            <a:endParaRPr sz="1679">
              <a:solidFill>
                <a:srgbClr val="695D46"/>
              </a:solidFill>
              <a:latin typeface="Open Sans"/>
              <a:ea typeface="Open Sans"/>
              <a:cs typeface="Open Sans"/>
              <a:sym typeface="Open Sans"/>
            </a:endParaRPr>
          </a:p>
        </p:txBody>
      </p:sp>
      <p:sp>
        <p:nvSpPr>
          <p:cNvPr id="110" name="Google Shape;110;p20"/>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By Carlyn Mangana</a:t>
            </a:r>
            <a:endParaRPr sz="1100">
              <a:solidFill>
                <a:schemeClr val="dk1"/>
              </a:solidFill>
            </a:endParaRPr>
          </a:p>
        </p:txBody>
      </p:sp>
      <p:pic>
        <p:nvPicPr>
          <p:cNvPr id="111" name="Google Shape;111;p20"/>
          <p:cNvPicPr preferRelativeResize="0"/>
          <p:nvPr/>
        </p:nvPicPr>
        <p:blipFill>
          <a:blip r:embed="rId3">
            <a:alphaModFix/>
          </a:blip>
          <a:stretch>
            <a:fillRect/>
          </a:stretch>
        </p:blipFill>
        <p:spPr>
          <a:xfrm>
            <a:off x="453400" y="3080475"/>
            <a:ext cx="3486127" cy="2131925"/>
          </a:xfrm>
          <a:prstGeom prst="rect">
            <a:avLst/>
          </a:prstGeom>
          <a:noFill/>
          <a:ln>
            <a:noFill/>
          </a:ln>
        </p:spPr>
      </p:pic>
      <p:pic>
        <p:nvPicPr>
          <p:cNvPr id="112" name="Google Shape;112;p20"/>
          <p:cNvPicPr preferRelativeResize="0"/>
          <p:nvPr/>
        </p:nvPicPr>
        <p:blipFill>
          <a:blip r:embed="rId4">
            <a:alphaModFix/>
          </a:blip>
          <a:stretch>
            <a:fillRect/>
          </a:stretch>
        </p:blipFill>
        <p:spPr>
          <a:xfrm>
            <a:off x="5489700" y="3080475"/>
            <a:ext cx="3654300" cy="2217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D1EA"/>
        </a:solidFill>
      </p:bgPr>
    </p:bg>
    <p:spTree>
      <p:nvGrpSpPr>
        <p:cNvPr id="116" name="Shape 116"/>
        <p:cNvGrpSpPr/>
        <p:nvPr/>
      </p:nvGrpSpPr>
      <p:grpSpPr>
        <a:xfrm>
          <a:off x="0" y="0"/>
          <a:ext cx="0" cy="0"/>
          <a:chOff x="0" y="0"/>
          <a:chExt cx="0" cy="0"/>
        </a:xfrm>
      </p:grpSpPr>
      <p:sp>
        <p:nvSpPr>
          <p:cNvPr id="117" name="Google Shape;117;p21"/>
          <p:cNvSpPr txBox="1"/>
          <p:nvPr>
            <p:ph idx="1" type="body"/>
          </p:nvPr>
        </p:nvSpPr>
        <p:spPr>
          <a:xfrm>
            <a:off x="1572600" y="218650"/>
            <a:ext cx="5998800" cy="605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2200">
                <a:solidFill>
                  <a:schemeClr val="dk1"/>
                </a:solidFill>
              </a:rPr>
              <a:t>Average Female Engineer Data 🛠️ </a:t>
            </a:r>
            <a:endParaRPr b="1" sz="2200">
              <a:solidFill>
                <a:schemeClr val="dk1"/>
              </a:solidFill>
            </a:endParaRPr>
          </a:p>
        </p:txBody>
      </p:sp>
      <p:pic>
        <p:nvPicPr>
          <p:cNvPr id="118" name="Google Shape;118;p21"/>
          <p:cNvPicPr preferRelativeResize="0"/>
          <p:nvPr/>
        </p:nvPicPr>
        <p:blipFill rotWithShape="1">
          <a:blip r:embed="rId3">
            <a:alphaModFix/>
          </a:blip>
          <a:srcRect b="12524" l="14044" r="6967" t="15786"/>
          <a:stretch/>
        </p:blipFill>
        <p:spPr>
          <a:xfrm>
            <a:off x="1550175" y="1220225"/>
            <a:ext cx="1748775" cy="2221999"/>
          </a:xfrm>
          <a:prstGeom prst="rect">
            <a:avLst/>
          </a:prstGeom>
          <a:noFill/>
          <a:ln>
            <a:noFill/>
          </a:ln>
        </p:spPr>
      </p:pic>
      <p:sp>
        <p:nvSpPr>
          <p:cNvPr id="119" name="Google Shape;119;p21"/>
          <p:cNvSpPr txBox="1"/>
          <p:nvPr/>
        </p:nvSpPr>
        <p:spPr>
          <a:xfrm>
            <a:off x="3370800" y="823750"/>
            <a:ext cx="4200600" cy="323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a:solidFill>
                  <a:srgbClr val="0000FF"/>
                </a:solidFill>
              </a:rPr>
              <a:t>53</a:t>
            </a:r>
            <a:r>
              <a:rPr lang="en" sz="1700">
                <a:solidFill>
                  <a:schemeClr val="dk1"/>
                </a:solidFill>
              </a:rPr>
              <a:t> Years Old </a:t>
            </a:r>
            <a:endParaRPr sz="1700">
              <a:solidFill>
                <a:schemeClr val="dk1"/>
              </a:solidFill>
            </a:endParaRPr>
          </a:p>
          <a:p>
            <a:pPr indent="0" lvl="0" marL="0" rtl="0" algn="ctr">
              <a:spcBef>
                <a:spcPts val="0"/>
              </a:spcBef>
              <a:spcAft>
                <a:spcPts val="0"/>
              </a:spcAft>
              <a:buNone/>
            </a:pPr>
            <a:r>
              <a:t/>
            </a:r>
            <a:endParaRPr sz="1700">
              <a:solidFill>
                <a:schemeClr val="dk1"/>
              </a:solidFill>
            </a:endParaRPr>
          </a:p>
          <a:p>
            <a:pPr indent="0" lvl="0" marL="0" rtl="0" algn="ctr">
              <a:spcBef>
                <a:spcPts val="0"/>
              </a:spcBef>
              <a:spcAft>
                <a:spcPts val="0"/>
              </a:spcAft>
              <a:buNone/>
            </a:pPr>
            <a:r>
              <a:rPr b="1" lang="en" sz="1900">
                <a:solidFill>
                  <a:srgbClr val="0000FF"/>
                </a:solidFill>
              </a:rPr>
              <a:t>9</a:t>
            </a:r>
            <a:r>
              <a:rPr b="1" lang="en" sz="1700">
                <a:solidFill>
                  <a:srgbClr val="0000FF"/>
                </a:solidFill>
              </a:rPr>
              <a:t> </a:t>
            </a:r>
            <a:r>
              <a:rPr b="1" lang="en" sz="1100">
                <a:solidFill>
                  <a:srgbClr val="0000FF"/>
                </a:solidFill>
              </a:rPr>
              <a:t>out of</a:t>
            </a:r>
            <a:r>
              <a:rPr b="1" lang="en" sz="1700">
                <a:solidFill>
                  <a:srgbClr val="0000FF"/>
                </a:solidFill>
              </a:rPr>
              <a:t> </a:t>
            </a:r>
            <a:r>
              <a:rPr b="1" lang="en" sz="1900">
                <a:solidFill>
                  <a:srgbClr val="0000FF"/>
                </a:solidFill>
              </a:rPr>
              <a:t>10</a:t>
            </a:r>
            <a:r>
              <a:rPr b="1" lang="en" sz="1700">
                <a:solidFill>
                  <a:schemeClr val="dk1"/>
                </a:solidFill>
              </a:rPr>
              <a:t> </a:t>
            </a:r>
            <a:r>
              <a:rPr lang="en" sz="1700">
                <a:solidFill>
                  <a:schemeClr val="dk1"/>
                </a:solidFill>
              </a:rPr>
              <a:t>Sleep Quality Score 💤</a:t>
            </a:r>
            <a:endParaRPr sz="1700">
              <a:solidFill>
                <a:schemeClr val="dk1"/>
              </a:solidFill>
            </a:endParaRPr>
          </a:p>
          <a:p>
            <a:pPr indent="0" lvl="0" marL="0" rtl="0" algn="ctr">
              <a:spcBef>
                <a:spcPts val="0"/>
              </a:spcBef>
              <a:spcAft>
                <a:spcPts val="0"/>
              </a:spcAft>
              <a:buNone/>
            </a:pPr>
            <a:r>
              <a:t/>
            </a:r>
            <a:endParaRPr sz="1700">
              <a:solidFill>
                <a:schemeClr val="dk1"/>
              </a:solidFill>
            </a:endParaRPr>
          </a:p>
          <a:p>
            <a:pPr indent="0" lvl="0" marL="0" rtl="0" algn="ctr">
              <a:spcBef>
                <a:spcPts val="0"/>
              </a:spcBef>
              <a:spcAft>
                <a:spcPts val="0"/>
              </a:spcAft>
              <a:buNone/>
            </a:pPr>
            <a:r>
              <a:rPr b="1" lang="en" sz="1900">
                <a:solidFill>
                  <a:srgbClr val="0000FF"/>
                </a:solidFill>
              </a:rPr>
              <a:t>3</a:t>
            </a:r>
            <a:r>
              <a:rPr b="1" lang="en" sz="1700">
                <a:solidFill>
                  <a:srgbClr val="0000FF"/>
                </a:solidFill>
              </a:rPr>
              <a:t> </a:t>
            </a:r>
            <a:r>
              <a:rPr b="1" lang="en" sz="1100">
                <a:solidFill>
                  <a:srgbClr val="0000FF"/>
                </a:solidFill>
              </a:rPr>
              <a:t>out of</a:t>
            </a:r>
            <a:r>
              <a:rPr b="1" lang="en" sz="1700">
                <a:solidFill>
                  <a:srgbClr val="0000FF"/>
                </a:solidFill>
              </a:rPr>
              <a:t> </a:t>
            </a:r>
            <a:r>
              <a:rPr b="1" lang="en" sz="1900">
                <a:solidFill>
                  <a:srgbClr val="0000FF"/>
                </a:solidFill>
              </a:rPr>
              <a:t>10</a:t>
            </a:r>
            <a:r>
              <a:rPr lang="en" sz="1700">
                <a:solidFill>
                  <a:schemeClr val="dk1"/>
                </a:solidFill>
              </a:rPr>
              <a:t> Stress Level Score 🧘🏻‍♀️</a:t>
            </a:r>
            <a:endParaRPr sz="1700">
              <a:solidFill>
                <a:schemeClr val="dk1"/>
              </a:solidFill>
            </a:endParaRPr>
          </a:p>
          <a:p>
            <a:pPr indent="0" lvl="0" marL="0" rtl="0" algn="ctr">
              <a:spcBef>
                <a:spcPts val="0"/>
              </a:spcBef>
              <a:spcAft>
                <a:spcPts val="0"/>
              </a:spcAft>
              <a:buNone/>
            </a:pPr>
            <a:r>
              <a:t/>
            </a:r>
            <a:endParaRPr sz="1700">
              <a:solidFill>
                <a:schemeClr val="dk1"/>
              </a:solidFill>
            </a:endParaRPr>
          </a:p>
          <a:p>
            <a:pPr indent="0" lvl="0" marL="0" rtl="0" algn="ctr">
              <a:spcBef>
                <a:spcPts val="0"/>
              </a:spcBef>
              <a:spcAft>
                <a:spcPts val="0"/>
              </a:spcAft>
              <a:buNone/>
            </a:pPr>
            <a:r>
              <a:rPr b="1" lang="en" sz="1700">
                <a:solidFill>
                  <a:srgbClr val="0000FF"/>
                </a:solidFill>
              </a:rPr>
              <a:t>5000</a:t>
            </a:r>
            <a:r>
              <a:rPr lang="en" sz="1700">
                <a:solidFill>
                  <a:schemeClr val="dk1"/>
                </a:solidFill>
              </a:rPr>
              <a:t> Daily Steps 🏃🏻‍♀️</a:t>
            </a:r>
            <a:endParaRPr sz="1700">
              <a:solidFill>
                <a:schemeClr val="dk1"/>
              </a:solidFill>
            </a:endParaRPr>
          </a:p>
          <a:p>
            <a:pPr indent="0" lvl="0" marL="0" rtl="0" algn="ctr">
              <a:spcBef>
                <a:spcPts val="0"/>
              </a:spcBef>
              <a:spcAft>
                <a:spcPts val="0"/>
              </a:spcAft>
              <a:buNone/>
            </a:pPr>
            <a:r>
              <a:t/>
            </a:r>
            <a:endParaRPr sz="1700">
              <a:solidFill>
                <a:schemeClr val="dk1"/>
              </a:solidFill>
            </a:endParaRPr>
          </a:p>
          <a:p>
            <a:pPr indent="0" lvl="0" marL="0" rtl="0" algn="ctr">
              <a:spcBef>
                <a:spcPts val="0"/>
              </a:spcBef>
              <a:spcAft>
                <a:spcPts val="0"/>
              </a:spcAft>
              <a:buNone/>
            </a:pPr>
            <a:r>
              <a:rPr b="1" lang="en" sz="1700">
                <a:solidFill>
                  <a:srgbClr val="0000FF"/>
                </a:solidFill>
              </a:rPr>
              <a:t>30</a:t>
            </a:r>
            <a:r>
              <a:rPr lang="en" sz="1700">
                <a:solidFill>
                  <a:schemeClr val="dk1"/>
                </a:solidFill>
              </a:rPr>
              <a:t> Physical Activity Level</a:t>
            </a:r>
            <a:endParaRPr sz="1700">
              <a:solidFill>
                <a:schemeClr val="dk1"/>
              </a:solidFill>
            </a:endParaRPr>
          </a:p>
          <a:p>
            <a:pPr indent="0" lvl="0" marL="0" rtl="0" algn="ctr">
              <a:spcBef>
                <a:spcPts val="0"/>
              </a:spcBef>
              <a:spcAft>
                <a:spcPts val="0"/>
              </a:spcAft>
              <a:buNone/>
            </a:pPr>
            <a:r>
              <a:t/>
            </a:r>
            <a:endParaRPr sz="1700">
              <a:solidFill>
                <a:schemeClr val="dk1"/>
              </a:solidFill>
            </a:endParaRPr>
          </a:p>
          <a:p>
            <a:pPr indent="0" lvl="0" marL="0" rtl="0" algn="ctr">
              <a:spcBef>
                <a:spcPts val="0"/>
              </a:spcBef>
              <a:spcAft>
                <a:spcPts val="0"/>
              </a:spcAft>
              <a:buNone/>
            </a:pPr>
            <a:r>
              <a:rPr b="1" lang="en" sz="1700">
                <a:solidFill>
                  <a:srgbClr val="0000FF"/>
                </a:solidFill>
              </a:rPr>
              <a:t>Normal</a:t>
            </a:r>
            <a:r>
              <a:rPr lang="en" sz="1700">
                <a:solidFill>
                  <a:schemeClr val="dk1"/>
                </a:solidFill>
              </a:rPr>
              <a:t> Weight (BMI 18.5-24.9) </a:t>
            </a:r>
            <a:endParaRPr sz="1700">
              <a:solidFill>
                <a:schemeClr val="dk1"/>
              </a:solidFill>
            </a:endParaRPr>
          </a:p>
        </p:txBody>
      </p:sp>
      <p:sp>
        <p:nvSpPr>
          <p:cNvPr id="120" name="Google Shape;120;p21"/>
          <p:cNvSpPr txBox="1"/>
          <p:nvPr/>
        </p:nvSpPr>
        <p:spPr>
          <a:xfrm>
            <a:off x="388650" y="4029100"/>
            <a:ext cx="8366700" cy="80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Female engineers are one of the least stressed individuals in this dataset. They also live relatively healthy lifestyles with a high overall sleep quality score, a normal level of daily physical activity, and normal weight BMI category. </a:t>
            </a:r>
            <a:endParaRPr>
              <a:solidFill>
                <a:schemeClr val="dk1"/>
              </a:solidFill>
            </a:endParaRPr>
          </a:p>
        </p:txBody>
      </p:sp>
      <p:sp>
        <p:nvSpPr>
          <p:cNvPr id="121" name="Google Shape;121;p21"/>
          <p:cNvSpPr txBox="1"/>
          <p:nvPr/>
        </p:nvSpPr>
        <p:spPr>
          <a:xfrm>
            <a:off x="1517211" y="3386850"/>
            <a:ext cx="1814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u="sng">
                <a:solidFill>
                  <a:schemeClr val="hlink"/>
                </a:solidFill>
                <a:hlinkClick r:id="rId4"/>
              </a:rPr>
              <a:t>https://iheartcraftythings.com/cartoon-woman-drawing.html</a:t>
            </a:r>
            <a:endParaRPr sz="800"/>
          </a:p>
          <a:p>
            <a:pPr indent="0" lvl="0" marL="0" rtl="0" algn="l">
              <a:spcBef>
                <a:spcPts val="0"/>
              </a:spcBef>
              <a:spcAft>
                <a:spcPts val="0"/>
              </a:spcAft>
              <a:buNone/>
            </a:pPr>
            <a:r>
              <a:t/>
            </a:r>
            <a:endParaRPr sz="800"/>
          </a:p>
        </p:txBody>
      </p:sp>
      <p:sp>
        <p:nvSpPr>
          <p:cNvPr id="122" name="Google Shape;122;p21"/>
          <p:cNvSpPr txBox="1"/>
          <p:nvPr/>
        </p:nvSpPr>
        <p:spPr>
          <a:xfrm>
            <a:off x="0" y="0"/>
            <a:ext cx="13620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t>
            </a:r>
            <a:endParaRPr sz="1100">
              <a:solidFill>
                <a:schemeClr val="dk1"/>
              </a:solidFill>
            </a:endParaRPr>
          </a:p>
        </p:txBody>
      </p:sp>
      <p:sp>
        <p:nvSpPr>
          <p:cNvPr id="123" name="Google Shape;123;p21"/>
          <p:cNvSpPr txBox="1"/>
          <p:nvPr/>
        </p:nvSpPr>
        <p:spPr>
          <a:xfrm>
            <a:off x="4727200" y="3706000"/>
            <a:ext cx="3000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u="sng">
                <a:solidFill>
                  <a:schemeClr val="hlink"/>
                </a:solidFill>
                <a:hlinkClick r:id="rId5"/>
              </a:rPr>
              <a:t>Link to source</a:t>
            </a:r>
            <a:endParaRPr sz="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nvSpPr>
        <p:spPr>
          <a:xfrm>
            <a:off x="0" y="0"/>
            <a:ext cx="13620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t>
            </a:r>
            <a:endParaRPr sz="1100">
              <a:solidFill>
                <a:schemeClr val="dk1"/>
              </a:solidFill>
            </a:endParaRPr>
          </a:p>
        </p:txBody>
      </p:sp>
      <p:pic>
        <p:nvPicPr>
          <p:cNvPr id="129" name="Google Shape;129;p22"/>
          <p:cNvPicPr preferRelativeResize="0"/>
          <p:nvPr/>
        </p:nvPicPr>
        <p:blipFill>
          <a:blip r:embed="rId3">
            <a:alphaModFix/>
          </a:blip>
          <a:stretch>
            <a:fillRect/>
          </a:stretch>
        </p:blipFill>
        <p:spPr>
          <a:xfrm>
            <a:off x="749525" y="831101"/>
            <a:ext cx="2169150" cy="1869250"/>
          </a:xfrm>
          <a:prstGeom prst="rect">
            <a:avLst/>
          </a:prstGeom>
          <a:noFill/>
          <a:ln>
            <a:noFill/>
          </a:ln>
        </p:spPr>
      </p:pic>
      <p:pic>
        <p:nvPicPr>
          <p:cNvPr id="130" name="Google Shape;130;p22"/>
          <p:cNvPicPr preferRelativeResize="0"/>
          <p:nvPr/>
        </p:nvPicPr>
        <p:blipFill>
          <a:blip r:embed="rId4">
            <a:alphaModFix/>
          </a:blip>
          <a:stretch>
            <a:fillRect/>
          </a:stretch>
        </p:blipFill>
        <p:spPr>
          <a:xfrm>
            <a:off x="860975" y="2833475"/>
            <a:ext cx="1825729" cy="2013550"/>
          </a:xfrm>
          <a:prstGeom prst="rect">
            <a:avLst/>
          </a:prstGeom>
          <a:noFill/>
          <a:ln>
            <a:noFill/>
          </a:ln>
        </p:spPr>
      </p:pic>
      <p:graphicFrame>
        <p:nvGraphicFramePr>
          <p:cNvPr id="131" name="Google Shape;131;p22"/>
          <p:cNvGraphicFramePr/>
          <p:nvPr/>
        </p:nvGraphicFramePr>
        <p:xfrm>
          <a:off x="3188000" y="1131125"/>
          <a:ext cx="3000000" cy="3000000"/>
        </p:xfrm>
        <a:graphic>
          <a:graphicData uri="http://schemas.openxmlformats.org/drawingml/2006/table">
            <a:tbl>
              <a:tblPr>
                <a:solidFill>
                  <a:srgbClr val="FFFFFF"/>
                </a:solidFill>
                <a:tableStyleId>{E345227F-FB16-4048-8FC3-62D51FBCF065}</a:tableStyleId>
              </a:tblPr>
              <a:tblGrid>
                <a:gridCol w="895650"/>
                <a:gridCol w="895650"/>
                <a:gridCol w="895650"/>
                <a:gridCol w="895650"/>
                <a:gridCol w="895650"/>
                <a:gridCol w="895650"/>
              </a:tblGrid>
              <a:tr h="438150">
                <a:tc>
                  <a:txBody>
                    <a:bodyPr/>
                    <a:lstStyle/>
                    <a:p>
                      <a:pPr indent="0" lvl="0" marL="0" rtl="0" algn="ctr">
                        <a:lnSpc>
                          <a:spcPct val="115000"/>
                        </a:lnSpc>
                        <a:spcBef>
                          <a:spcPts val="0"/>
                        </a:spcBef>
                        <a:spcAft>
                          <a:spcPts val="0"/>
                        </a:spcAft>
                        <a:buNone/>
                      </a:pPr>
                      <a:r>
                        <a:rPr b="1" lang="en" sz="1050">
                          <a:solidFill>
                            <a:srgbClr val="1F1F1F"/>
                          </a:solidFill>
                          <a:latin typeface="Roboto"/>
                          <a:ea typeface="Roboto"/>
                          <a:cs typeface="Roboto"/>
                          <a:sym typeface="Roboto"/>
                        </a:rPr>
                        <a:t>Gender</a:t>
                      </a:r>
                      <a:endParaRPr b="1" sz="1050">
                        <a:solidFill>
                          <a:srgbClr val="1F1F1F"/>
                        </a:solidFill>
                        <a:latin typeface="Roboto"/>
                        <a:ea typeface="Roboto"/>
                        <a:cs typeface="Roboto"/>
                        <a:sym typeface="Roboto"/>
                      </a:endParaRPr>
                    </a:p>
                  </a:txBody>
                  <a:tcPr marT="66675" marB="66675" marR="66675" marL="66675">
                    <a:solidFill>
                      <a:srgbClr val="C9DAF8"/>
                    </a:solidFill>
                  </a:tcPr>
                </a:tc>
                <a:tc>
                  <a:txBody>
                    <a:bodyPr/>
                    <a:lstStyle/>
                    <a:p>
                      <a:pPr indent="0" lvl="0" marL="0" rtl="0" algn="ctr">
                        <a:lnSpc>
                          <a:spcPct val="115000"/>
                        </a:lnSpc>
                        <a:spcBef>
                          <a:spcPts val="0"/>
                        </a:spcBef>
                        <a:spcAft>
                          <a:spcPts val="0"/>
                        </a:spcAft>
                        <a:buNone/>
                      </a:pPr>
                      <a:r>
                        <a:rPr b="1" lang="en" sz="1050">
                          <a:solidFill>
                            <a:srgbClr val="1F1F1F"/>
                          </a:solidFill>
                          <a:latin typeface="Roboto"/>
                          <a:ea typeface="Roboto"/>
                          <a:cs typeface="Roboto"/>
                          <a:sym typeface="Roboto"/>
                        </a:rPr>
                        <a:t>Quality of Sleep average</a:t>
                      </a:r>
                      <a:endParaRPr b="1" sz="1050">
                        <a:solidFill>
                          <a:srgbClr val="1F1F1F"/>
                        </a:solidFill>
                        <a:latin typeface="Roboto"/>
                        <a:ea typeface="Roboto"/>
                        <a:cs typeface="Roboto"/>
                        <a:sym typeface="Roboto"/>
                      </a:endParaRPr>
                    </a:p>
                  </a:txBody>
                  <a:tcPr marT="66675" marB="66675" marR="66675" marL="66675">
                    <a:solidFill>
                      <a:srgbClr val="C9DAF8"/>
                    </a:solidFill>
                  </a:tcPr>
                </a:tc>
                <a:tc>
                  <a:txBody>
                    <a:bodyPr/>
                    <a:lstStyle/>
                    <a:p>
                      <a:pPr indent="0" lvl="0" marL="0" rtl="0" algn="ctr">
                        <a:lnSpc>
                          <a:spcPct val="115000"/>
                        </a:lnSpc>
                        <a:spcBef>
                          <a:spcPts val="0"/>
                        </a:spcBef>
                        <a:spcAft>
                          <a:spcPts val="0"/>
                        </a:spcAft>
                        <a:buNone/>
                      </a:pPr>
                      <a:r>
                        <a:rPr b="1" lang="en" sz="1050">
                          <a:solidFill>
                            <a:srgbClr val="1F1F1F"/>
                          </a:solidFill>
                          <a:latin typeface="Roboto"/>
                          <a:ea typeface="Roboto"/>
                          <a:cs typeface="Roboto"/>
                          <a:sym typeface="Roboto"/>
                        </a:rPr>
                        <a:t>Age average</a:t>
                      </a:r>
                      <a:endParaRPr b="1" sz="1050">
                        <a:solidFill>
                          <a:srgbClr val="1F1F1F"/>
                        </a:solidFill>
                        <a:latin typeface="Roboto"/>
                        <a:ea typeface="Roboto"/>
                        <a:cs typeface="Roboto"/>
                        <a:sym typeface="Roboto"/>
                      </a:endParaRPr>
                    </a:p>
                  </a:txBody>
                  <a:tcPr marT="66675" marB="66675" marR="66675" marL="66675">
                    <a:solidFill>
                      <a:srgbClr val="C9DAF8"/>
                    </a:solidFill>
                  </a:tcPr>
                </a:tc>
                <a:tc>
                  <a:txBody>
                    <a:bodyPr/>
                    <a:lstStyle/>
                    <a:p>
                      <a:pPr indent="0" lvl="0" marL="0" rtl="0" algn="ctr">
                        <a:lnSpc>
                          <a:spcPct val="115000"/>
                        </a:lnSpc>
                        <a:spcBef>
                          <a:spcPts val="0"/>
                        </a:spcBef>
                        <a:spcAft>
                          <a:spcPts val="0"/>
                        </a:spcAft>
                        <a:buNone/>
                      </a:pPr>
                      <a:r>
                        <a:rPr b="1" lang="en" sz="1050">
                          <a:solidFill>
                            <a:srgbClr val="1F1F1F"/>
                          </a:solidFill>
                          <a:latin typeface="Roboto"/>
                          <a:ea typeface="Roboto"/>
                          <a:cs typeface="Roboto"/>
                          <a:sym typeface="Roboto"/>
                        </a:rPr>
                        <a:t>Stress Level average</a:t>
                      </a:r>
                      <a:endParaRPr b="1" sz="1050">
                        <a:solidFill>
                          <a:srgbClr val="1F1F1F"/>
                        </a:solidFill>
                        <a:latin typeface="Roboto"/>
                        <a:ea typeface="Roboto"/>
                        <a:cs typeface="Roboto"/>
                        <a:sym typeface="Roboto"/>
                      </a:endParaRPr>
                    </a:p>
                  </a:txBody>
                  <a:tcPr marT="66675" marB="66675" marR="66675" marL="66675">
                    <a:solidFill>
                      <a:srgbClr val="C9DAF8"/>
                    </a:solidFill>
                  </a:tcPr>
                </a:tc>
                <a:tc>
                  <a:txBody>
                    <a:bodyPr/>
                    <a:lstStyle/>
                    <a:p>
                      <a:pPr indent="0" lvl="0" marL="0" rtl="0" algn="ctr">
                        <a:lnSpc>
                          <a:spcPct val="115000"/>
                        </a:lnSpc>
                        <a:spcBef>
                          <a:spcPts val="0"/>
                        </a:spcBef>
                        <a:spcAft>
                          <a:spcPts val="0"/>
                        </a:spcAft>
                        <a:buNone/>
                      </a:pPr>
                      <a:r>
                        <a:rPr b="1" lang="en" sz="1050">
                          <a:solidFill>
                            <a:srgbClr val="1F1F1F"/>
                          </a:solidFill>
                          <a:latin typeface="Roboto"/>
                          <a:ea typeface="Roboto"/>
                          <a:cs typeface="Roboto"/>
                          <a:sym typeface="Roboto"/>
                        </a:rPr>
                        <a:t>Physical Activity Level average</a:t>
                      </a:r>
                      <a:endParaRPr b="1" sz="1050">
                        <a:solidFill>
                          <a:srgbClr val="1F1F1F"/>
                        </a:solidFill>
                        <a:latin typeface="Roboto"/>
                        <a:ea typeface="Roboto"/>
                        <a:cs typeface="Roboto"/>
                        <a:sym typeface="Roboto"/>
                      </a:endParaRPr>
                    </a:p>
                  </a:txBody>
                  <a:tcPr marT="66675" marB="66675" marR="66675" marL="66675">
                    <a:solidFill>
                      <a:srgbClr val="C9DAF8"/>
                    </a:solidFill>
                  </a:tcPr>
                </a:tc>
                <a:tc>
                  <a:txBody>
                    <a:bodyPr/>
                    <a:lstStyle/>
                    <a:p>
                      <a:pPr indent="0" lvl="0" marL="0" rtl="0" algn="ctr">
                        <a:lnSpc>
                          <a:spcPct val="115000"/>
                        </a:lnSpc>
                        <a:spcBef>
                          <a:spcPts val="0"/>
                        </a:spcBef>
                        <a:spcAft>
                          <a:spcPts val="0"/>
                        </a:spcAft>
                        <a:buNone/>
                      </a:pPr>
                      <a:r>
                        <a:rPr b="1" lang="en" sz="1050">
                          <a:solidFill>
                            <a:srgbClr val="1F1F1F"/>
                          </a:solidFill>
                          <a:latin typeface="Roboto"/>
                          <a:ea typeface="Roboto"/>
                          <a:cs typeface="Roboto"/>
                          <a:sym typeface="Roboto"/>
                        </a:rPr>
                        <a:t>Daily Steps average</a:t>
                      </a:r>
                      <a:endParaRPr b="1" sz="1050">
                        <a:solidFill>
                          <a:srgbClr val="1F1F1F"/>
                        </a:solidFill>
                        <a:latin typeface="Roboto"/>
                        <a:ea typeface="Roboto"/>
                        <a:cs typeface="Roboto"/>
                        <a:sym typeface="Roboto"/>
                      </a:endParaRPr>
                    </a:p>
                  </a:txBody>
                  <a:tcPr marT="66675" marB="66675" marR="66675" marL="66675">
                    <a:solidFill>
                      <a:srgbClr val="C9DAF8"/>
                    </a:solidFill>
                  </a:tcPr>
                </a:tc>
              </a:tr>
              <a:tr h="285750">
                <a:tc>
                  <a:txBody>
                    <a:bodyPr/>
                    <a:lstStyle/>
                    <a:p>
                      <a:pPr indent="0" lvl="0" marL="0" rtl="0" algn="r">
                        <a:lnSpc>
                          <a:spcPct val="115000"/>
                        </a:lnSpc>
                        <a:spcBef>
                          <a:spcPts val="0"/>
                        </a:spcBef>
                        <a:spcAft>
                          <a:spcPts val="0"/>
                        </a:spcAft>
                        <a:buNone/>
                      </a:pPr>
                      <a:r>
                        <a:rPr lang="en" sz="1050">
                          <a:solidFill>
                            <a:srgbClr val="1F1F1F"/>
                          </a:solidFill>
                          <a:latin typeface="Roboto"/>
                          <a:ea typeface="Roboto"/>
                          <a:cs typeface="Roboto"/>
                          <a:sym typeface="Roboto"/>
                        </a:rPr>
                        <a:t>Female</a:t>
                      </a:r>
                      <a:endParaRPr sz="1050">
                        <a:solidFill>
                          <a:srgbClr val="1F1F1F"/>
                        </a:solidFill>
                        <a:latin typeface="Roboto"/>
                        <a:ea typeface="Roboto"/>
                        <a:cs typeface="Roboto"/>
                        <a:sym typeface="Roboto"/>
                      </a:endParaRPr>
                    </a:p>
                  </a:txBody>
                  <a:tcPr marT="66675" marB="66675" marR="66675" marL="66675">
                    <a:solidFill>
                      <a:srgbClr val="EFEFEF"/>
                    </a:solidFill>
                  </a:tcPr>
                </a:tc>
                <a:tc>
                  <a:txBody>
                    <a:bodyPr/>
                    <a:lstStyle/>
                    <a:p>
                      <a:pPr indent="0" lvl="0" marL="0" rtl="0" algn="r">
                        <a:lnSpc>
                          <a:spcPct val="115000"/>
                        </a:lnSpc>
                        <a:spcBef>
                          <a:spcPts val="0"/>
                        </a:spcBef>
                        <a:spcAft>
                          <a:spcPts val="0"/>
                        </a:spcAft>
                        <a:buNone/>
                      </a:pPr>
                      <a:r>
                        <a:rPr lang="en" sz="1050">
                          <a:solidFill>
                            <a:srgbClr val="1F1F1F"/>
                          </a:solidFill>
                          <a:latin typeface="Roboto"/>
                          <a:ea typeface="Roboto"/>
                          <a:cs typeface="Roboto"/>
                          <a:sym typeface="Roboto"/>
                        </a:rPr>
                        <a:t>9</a:t>
                      </a:r>
                      <a:endParaRPr sz="1050">
                        <a:solidFill>
                          <a:srgbClr val="1F1F1F"/>
                        </a:solidFill>
                        <a:latin typeface="Roboto"/>
                        <a:ea typeface="Roboto"/>
                        <a:cs typeface="Roboto"/>
                        <a:sym typeface="Roboto"/>
                      </a:endParaRPr>
                    </a:p>
                  </a:txBody>
                  <a:tcPr marT="66675" marB="66675" marR="66675" marL="66675">
                    <a:solidFill>
                      <a:srgbClr val="EFEFEF"/>
                    </a:solidFill>
                  </a:tcPr>
                </a:tc>
                <a:tc>
                  <a:txBody>
                    <a:bodyPr/>
                    <a:lstStyle/>
                    <a:p>
                      <a:pPr indent="0" lvl="0" marL="0" rtl="0" algn="r">
                        <a:lnSpc>
                          <a:spcPct val="115000"/>
                        </a:lnSpc>
                        <a:spcBef>
                          <a:spcPts val="0"/>
                        </a:spcBef>
                        <a:spcAft>
                          <a:spcPts val="0"/>
                        </a:spcAft>
                        <a:buNone/>
                      </a:pPr>
                      <a:r>
                        <a:rPr lang="en" sz="1050">
                          <a:solidFill>
                            <a:srgbClr val="1F1F1F"/>
                          </a:solidFill>
                          <a:latin typeface="Roboto"/>
                          <a:ea typeface="Roboto"/>
                          <a:cs typeface="Roboto"/>
                          <a:sym typeface="Roboto"/>
                        </a:rPr>
                        <a:t>52.7812</a:t>
                      </a:r>
                      <a:endParaRPr sz="1050">
                        <a:solidFill>
                          <a:srgbClr val="1F1F1F"/>
                        </a:solidFill>
                        <a:latin typeface="Roboto"/>
                        <a:ea typeface="Roboto"/>
                        <a:cs typeface="Roboto"/>
                        <a:sym typeface="Roboto"/>
                      </a:endParaRPr>
                    </a:p>
                  </a:txBody>
                  <a:tcPr marT="66675" marB="66675" marR="66675" marL="66675">
                    <a:solidFill>
                      <a:srgbClr val="EFEFEF"/>
                    </a:solidFill>
                  </a:tcPr>
                </a:tc>
                <a:tc>
                  <a:txBody>
                    <a:bodyPr/>
                    <a:lstStyle/>
                    <a:p>
                      <a:pPr indent="0" lvl="0" marL="0" rtl="0" algn="r">
                        <a:lnSpc>
                          <a:spcPct val="115000"/>
                        </a:lnSpc>
                        <a:spcBef>
                          <a:spcPts val="0"/>
                        </a:spcBef>
                        <a:spcAft>
                          <a:spcPts val="0"/>
                        </a:spcAft>
                        <a:buNone/>
                      </a:pPr>
                      <a:r>
                        <a:rPr lang="en" sz="1050">
                          <a:solidFill>
                            <a:srgbClr val="1F1F1F"/>
                          </a:solidFill>
                          <a:latin typeface="Roboto"/>
                          <a:ea typeface="Roboto"/>
                          <a:cs typeface="Roboto"/>
                          <a:sym typeface="Roboto"/>
                        </a:rPr>
                        <a:t>3</a:t>
                      </a:r>
                      <a:endParaRPr sz="1050">
                        <a:solidFill>
                          <a:srgbClr val="1F1F1F"/>
                        </a:solidFill>
                        <a:latin typeface="Roboto"/>
                        <a:ea typeface="Roboto"/>
                        <a:cs typeface="Roboto"/>
                        <a:sym typeface="Roboto"/>
                      </a:endParaRPr>
                    </a:p>
                  </a:txBody>
                  <a:tcPr marT="66675" marB="66675" marR="66675" marL="66675">
                    <a:solidFill>
                      <a:srgbClr val="EFEFEF"/>
                    </a:solidFill>
                  </a:tcPr>
                </a:tc>
                <a:tc>
                  <a:txBody>
                    <a:bodyPr/>
                    <a:lstStyle/>
                    <a:p>
                      <a:pPr indent="0" lvl="0" marL="0" rtl="0" algn="r">
                        <a:lnSpc>
                          <a:spcPct val="115000"/>
                        </a:lnSpc>
                        <a:spcBef>
                          <a:spcPts val="0"/>
                        </a:spcBef>
                        <a:spcAft>
                          <a:spcPts val="0"/>
                        </a:spcAft>
                        <a:buNone/>
                      </a:pPr>
                      <a:r>
                        <a:rPr lang="en" sz="1050">
                          <a:solidFill>
                            <a:srgbClr val="1F1F1F"/>
                          </a:solidFill>
                          <a:latin typeface="Roboto"/>
                          <a:ea typeface="Roboto"/>
                          <a:cs typeface="Roboto"/>
                          <a:sym typeface="Roboto"/>
                        </a:rPr>
                        <a:t>30</a:t>
                      </a:r>
                      <a:endParaRPr sz="1050">
                        <a:solidFill>
                          <a:srgbClr val="1F1F1F"/>
                        </a:solidFill>
                        <a:latin typeface="Roboto"/>
                        <a:ea typeface="Roboto"/>
                        <a:cs typeface="Roboto"/>
                        <a:sym typeface="Roboto"/>
                      </a:endParaRPr>
                    </a:p>
                  </a:txBody>
                  <a:tcPr marT="66675" marB="66675" marR="66675" marL="66675">
                    <a:solidFill>
                      <a:srgbClr val="EFEFEF"/>
                    </a:solidFill>
                  </a:tcPr>
                </a:tc>
                <a:tc>
                  <a:txBody>
                    <a:bodyPr/>
                    <a:lstStyle/>
                    <a:p>
                      <a:pPr indent="0" lvl="0" marL="0" rtl="0" algn="r">
                        <a:lnSpc>
                          <a:spcPct val="115000"/>
                        </a:lnSpc>
                        <a:spcBef>
                          <a:spcPts val="0"/>
                        </a:spcBef>
                        <a:spcAft>
                          <a:spcPts val="0"/>
                        </a:spcAft>
                        <a:buNone/>
                      </a:pPr>
                      <a:r>
                        <a:rPr lang="en" sz="1050">
                          <a:solidFill>
                            <a:srgbClr val="1F1F1F"/>
                          </a:solidFill>
                          <a:latin typeface="Roboto"/>
                          <a:ea typeface="Roboto"/>
                          <a:cs typeface="Roboto"/>
                          <a:sym typeface="Roboto"/>
                        </a:rPr>
                        <a:t>5000</a:t>
                      </a:r>
                      <a:endParaRPr sz="1050">
                        <a:solidFill>
                          <a:srgbClr val="1F1F1F"/>
                        </a:solidFill>
                        <a:latin typeface="Roboto"/>
                        <a:ea typeface="Roboto"/>
                        <a:cs typeface="Roboto"/>
                        <a:sym typeface="Roboto"/>
                      </a:endParaRPr>
                    </a:p>
                  </a:txBody>
                  <a:tcPr marT="66675" marB="66675" marR="66675" marL="66675">
                    <a:solidFill>
                      <a:srgbClr val="EFEFEF"/>
                    </a:solidFill>
                  </a:tcPr>
                </a:tc>
              </a:tr>
              <a:tr h="285750">
                <a:tc>
                  <a:txBody>
                    <a:bodyPr/>
                    <a:lstStyle/>
                    <a:p>
                      <a:pPr indent="0" lvl="0" marL="0" rtl="0" algn="r">
                        <a:lnSpc>
                          <a:spcPct val="115000"/>
                        </a:lnSpc>
                        <a:spcBef>
                          <a:spcPts val="0"/>
                        </a:spcBef>
                        <a:spcAft>
                          <a:spcPts val="0"/>
                        </a:spcAft>
                        <a:buNone/>
                      </a:pPr>
                      <a:r>
                        <a:rPr lang="en" sz="1050">
                          <a:solidFill>
                            <a:srgbClr val="1F1F1F"/>
                          </a:solidFill>
                          <a:latin typeface="Roboto"/>
                          <a:ea typeface="Roboto"/>
                          <a:cs typeface="Roboto"/>
                          <a:sym typeface="Roboto"/>
                        </a:rPr>
                        <a:t>Male</a:t>
                      </a:r>
                      <a:endParaRPr sz="1050">
                        <a:solidFill>
                          <a:srgbClr val="1F1F1F"/>
                        </a:solidFill>
                        <a:latin typeface="Roboto"/>
                        <a:ea typeface="Roboto"/>
                        <a:cs typeface="Roboto"/>
                        <a:sym typeface="Roboto"/>
                      </a:endParaRPr>
                    </a:p>
                  </a:txBody>
                  <a:tcPr marT="66675" marB="66675" marR="66675" marL="66675">
                    <a:solidFill>
                      <a:srgbClr val="EFEFEF"/>
                    </a:solidFill>
                  </a:tcPr>
                </a:tc>
                <a:tc>
                  <a:txBody>
                    <a:bodyPr/>
                    <a:lstStyle/>
                    <a:p>
                      <a:pPr indent="0" lvl="0" marL="0" rtl="0" algn="r">
                        <a:lnSpc>
                          <a:spcPct val="115000"/>
                        </a:lnSpc>
                        <a:spcBef>
                          <a:spcPts val="0"/>
                        </a:spcBef>
                        <a:spcAft>
                          <a:spcPts val="0"/>
                        </a:spcAft>
                        <a:buNone/>
                      </a:pPr>
                      <a:r>
                        <a:rPr lang="en" sz="1050">
                          <a:solidFill>
                            <a:srgbClr val="1F1F1F"/>
                          </a:solidFill>
                          <a:latin typeface="Roboto"/>
                          <a:ea typeface="Roboto"/>
                          <a:cs typeface="Roboto"/>
                          <a:sym typeface="Roboto"/>
                        </a:rPr>
                        <a:t>7.80645</a:t>
                      </a:r>
                      <a:endParaRPr sz="1050">
                        <a:solidFill>
                          <a:srgbClr val="1F1F1F"/>
                        </a:solidFill>
                        <a:latin typeface="Roboto"/>
                        <a:ea typeface="Roboto"/>
                        <a:cs typeface="Roboto"/>
                        <a:sym typeface="Roboto"/>
                      </a:endParaRPr>
                    </a:p>
                  </a:txBody>
                  <a:tcPr marT="66675" marB="66675" marR="66675" marL="66675">
                    <a:solidFill>
                      <a:srgbClr val="EFEFEF"/>
                    </a:solidFill>
                  </a:tcPr>
                </a:tc>
                <a:tc>
                  <a:txBody>
                    <a:bodyPr/>
                    <a:lstStyle/>
                    <a:p>
                      <a:pPr indent="0" lvl="0" marL="0" rtl="0" algn="r">
                        <a:lnSpc>
                          <a:spcPct val="115000"/>
                        </a:lnSpc>
                        <a:spcBef>
                          <a:spcPts val="0"/>
                        </a:spcBef>
                        <a:spcAft>
                          <a:spcPts val="0"/>
                        </a:spcAft>
                        <a:buNone/>
                      </a:pPr>
                      <a:r>
                        <a:rPr lang="en" sz="1050">
                          <a:solidFill>
                            <a:srgbClr val="1F1F1F"/>
                          </a:solidFill>
                          <a:latin typeface="Roboto"/>
                          <a:ea typeface="Roboto"/>
                          <a:cs typeface="Roboto"/>
                          <a:sym typeface="Roboto"/>
                        </a:rPr>
                        <a:t>40.1935</a:t>
                      </a:r>
                      <a:endParaRPr sz="1050">
                        <a:solidFill>
                          <a:srgbClr val="1F1F1F"/>
                        </a:solidFill>
                        <a:latin typeface="Roboto"/>
                        <a:ea typeface="Roboto"/>
                        <a:cs typeface="Roboto"/>
                        <a:sym typeface="Roboto"/>
                      </a:endParaRPr>
                    </a:p>
                  </a:txBody>
                  <a:tcPr marT="66675" marB="66675" marR="66675" marL="66675">
                    <a:solidFill>
                      <a:srgbClr val="EFEFEF"/>
                    </a:solidFill>
                  </a:tcPr>
                </a:tc>
                <a:tc>
                  <a:txBody>
                    <a:bodyPr/>
                    <a:lstStyle/>
                    <a:p>
                      <a:pPr indent="0" lvl="0" marL="0" rtl="0" algn="r">
                        <a:lnSpc>
                          <a:spcPct val="115000"/>
                        </a:lnSpc>
                        <a:spcBef>
                          <a:spcPts val="0"/>
                        </a:spcBef>
                        <a:spcAft>
                          <a:spcPts val="0"/>
                        </a:spcAft>
                        <a:buNone/>
                      </a:pPr>
                      <a:r>
                        <a:rPr lang="en" sz="1050">
                          <a:solidFill>
                            <a:srgbClr val="1F1F1F"/>
                          </a:solidFill>
                          <a:latin typeface="Roboto"/>
                          <a:ea typeface="Roboto"/>
                          <a:cs typeface="Roboto"/>
                          <a:sym typeface="Roboto"/>
                        </a:rPr>
                        <a:t>4.80645</a:t>
                      </a:r>
                      <a:endParaRPr sz="1050">
                        <a:solidFill>
                          <a:srgbClr val="1F1F1F"/>
                        </a:solidFill>
                        <a:latin typeface="Roboto"/>
                        <a:ea typeface="Roboto"/>
                        <a:cs typeface="Roboto"/>
                        <a:sym typeface="Roboto"/>
                      </a:endParaRPr>
                    </a:p>
                  </a:txBody>
                  <a:tcPr marT="66675" marB="66675" marR="66675" marL="66675">
                    <a:solidFill>
                      <a:srgbClr val="EFEFEF"/>
                    </a:solidFill>
                  </a:tcPr>
                </a:tc>
                <a:tc>
                  <a:txBody>
                    <a:bodyPr/>
                    <a:lstStyle/>
                    <a:p>
                      <a:pPr indent="0" lvl="0" marL="0" rtl="0" algn="r">
                        <a:lnSpc>
                          <a:spcPct val="115000"/>
                        </a:lnSpc>
                        <a:spcBef>
                          <a:spcPts val="0"/>
                        </a:spcBef>
                        <a:spcAft>
                          <a:spcPts val="0"/>
                        </a:spcAft>
                        <a:buNone/>
                      </a:pPr>
                      <a:r>
                        <a:rPr lang="en" sz="1050">
                          <a:solidFill>
                            <a:srgbClr val="1F1F1F"/>
                          </a:solidFill>
                          <a:latin typeface="Roboto"/>
                          <a:ea typeface="Roboto"/>
                          <a:cs typeface="Roboto"/>
                          <a:sym typeface="Roboto"/>
                        </a:rPr>
                        <a:t>74.4194</a:t>
                      </a:r>
                      <a:endParaRPr sz="1050">
                        <a:solidFill>
                          <a:srgbClr val="1F1F1F"/>
                        </a:solidFill>
                        <a:latin typeface="Roboto"/>
                        <a:ea typeface="Roboto"/>
                        <a:cs typeface="Roboto"/>
                        <a:sym typeface="Roboto"/>
                      </a:endParaRPr>
                    </a:p>
                  </a:txBody>
                  <a:tcPr marT="66675" marB="66675" marR="66675" marL="66675">
                    <a:solidFill>
                      <a:srgbClr val="EFEFEF"/>
                    </a:solidFill>
                  </a:tcPr>
                </a:tc>
                <a:tc>
                  <a:txBody>
                    <a:bodyPr/>
                    <a:lstStyle/>
                    <a:p>
                      <a:pPr indent="0" lvl="0" marL="0" rtl="0" algn="r">
                        <a:lnSpc>
                          <a:spcPct val="115000"/>
                        </a:lnSpc>
                        <a:spcBef>
                          <a:spcPts val="0"/>
                        </a:spcBef>
                        <a:spcAft>
                          <a:spcPts val="0"/>
                        </a:spcAft>
                        <a:buNone/>
                      </a:pPr>
                      <a:r>
                        <a:rPr lang="en" sz="1050">
                          <a:solidFill>
                            <a:srgbClr val="1F1F1F"/>
                          </a:solidFill>
                          <a:latin typeface="Roboto"/>
                          <a:ea typeface="Roboto"/>
                          <a:cs typeface="Roboto"/>
                          <a:sym typeface="Roboto"/>
                        </a:rPr>
                        <a:t>6993.55</a:t>
                      </a:r>
                      <a:endParaRPr sz="1050">
                        <a:solidFill>
                          <a:srgbClr val="1F1F1F"/>
                        </a:solidFill>
                        <a:latin typeface="Roboto"/>
                        <a:ea typeface="Roboto"/>
                        <a:cs typeface="Roboto"/>
                        <a:sym typeface="Roboto"/>
                      </a:endParaRPr>
                    </a:p>
                  </a:txBody>
                  <a:tcPr marT="66675" marB="66675" marR="66675" marL="66675">
                    <a:solidFill>
                      <a:srgbClr val="EFEFEF"/>
                    </a:solidFill>
                  </a:tcPr>
                </a:tc>
              </a:tr>
            </a:tbl>
          </a:graphicData>
        </a:graphic>
      </p:graphicFrame>
      <p:sp>
        <p:nvSpPr>
          <p:cNvPr id="132" name="Google Shape;132;p22"/>
          <p:cNvSpPr txBox="1"/>
          <p:nvPr>
            <p:ph type="title"/>
          </p:nvPr>
        </p:nvSpPr>
        <p:spPr>
          <a:xfrm>
            <a:off x="506250" y="284995"/>
            <a:ext cx="8131500" cy="630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891"/>
              <a:buNone/>
            </a:pPr>
            <a:r>
              <a:rPr b="1" lang="en" sz="1798"/>
              <a:t>Exploring the Lifestyles of Engineers (The Least Stressed Occupation) </a:t>
            </a:r>
            <a:endParaRPr b="1" sz="1798"/>
          </a:p>
        </p:txBody>
      </p:sp>
      <p:sp>
        <p:nvSpPr>
          <p:cNvPr id="133" name="Google Shape;133;p22"/>
          <p:cNvSpPr txBox="1"/>
          <p:nvPr/>
        </p:nvSpPr>
        <p:spPr>
          <a:xfrm>
            <a:off x="3075950" y="2833150"/>
            <a:ext cx="5598000" cy="169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There are 63 total engineers in this dataset, with the gender makeup being nearly equal. From my previous insight, we find out that engineers are the occupation with the lowest stress level. Out of </a:t>
            </a:r>
            <a:r>
              <a:rPr lang="en">
                <a:solidFill>
                  <a:schemeClr val="dk1"/>
                </a:solidFill>
              </a:rPr>
              <a:t>curiosity</a:t>
            </a:r>
            <a:r>
              <a:rPr lang="en">
                <a:solidFill>
                  <a:schemeClr val="dk1"/>
                </a:solidFill>
              </a:rPr>
              <a:t>, I explored their lifestyle habits. I </a:t>
            </a:r>
            <a:r>
              <a:rPr lang="en">
                <a:solidFill>
                  <a:schemeClr val="dk1"/>
                </a:solidFill>
              </a:rPr>
              <a:t>found</a:t>
            </a:r>
            <a:r>
              <a:rPr lang="en">
                <a:solidFill>
                  <a:schemeClr val="dk1"/>
                </a:solidFill>
              </a:rPr>
              <a:t> that on average, female engineers are older, less stressed, and less physically active than male engineers. Overall, engineers live fairly healthy lifestyles, which explains their lower stress levels. </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3"/>
          <p:cNvSpPr txBox="1"/>
          <p:nvPr>
            <p:ph type="title"/>
          </p:nvPr>
        </p:nvSpPr>
        <p:spPr>
          <a:xfrm>
            <a:off x="544050" y="1985425"/>
            <a:ext cx="8055900" cy="10929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5900"/>
              <a:t>UNUSED GRAPHS</a:t>
            </a:r>
            <a:endParaRPr sz="59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4"/>
          <p:cNvSpPr txBox="1"/>
          <p:nvPr>
            <p:ph type="title"/>
          </p:nvPr>
        </p:nvSpPr>
        <p:spPr>
          <a:xfrm>
            <a:off x="311700" y="312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a:t>
            </a:r>
            <a:r>
              <a:rPr lang="en"/>
              <a:t>Insights</a:t>
            </a:r>
            <a:endParaRPr/>
          </a:p>
        </p:txBody>
      </p:sp>
      <p:sp>
        <p:nvSpPr>
          <p:cNvPr id="144" name="Google Shape;144;p24"/>
          <p:cNvSpPr txBox="1"/>
          <p:nvPr>
            <p:ph idx="1" type="body"/>
          </p:nvPr>
        </p:nvSpPr>
        <p:spPr>
          <a:xfrm>
            <a:off x="311700" y="884925"/>
            <a:ext cx="8071800" cy="1133400"/>
          </a:xfrm>
          <a:prstGeom prst="rect">
            <a:avLst/>
          </a:prstGeom>
        </p:spPr>
        <p:txBody>
          <a:bodyPr anchorCtr="0" anchor="t" bIns="91425" lIns="91425" spcFirstLastPara="1" rIns="91425" wrap="square" tIns="91425">
            <a:noAutofit/>
          </a:bodyPr>
          <a:lstStyle/>
          <a:p>
            <a:pPr indent="-316230" lvl="1" marL="914400" rtl="0" algn="l">
              <a:lnSpc>
                <a:spcPct val="95000"/>
              </a:lnSpc>
              <a:spcBef>
                <a:spcPts val="0"/>
              </a:spcBef>
              <a:spcAft>
                <a:spcPts val="0"/>
              </a:spcAft>
              <a:buClr>
                <a:srgbClr val="695D46"/>
              </a:buClr>
              <a:buSzPts val="1380"/>
              <a:buFont typeface="Open Sans"/>
              <a:buChar char="○"/>
            </a:pPr>
            <a:r>
              <a:rPr lang="en" sz="1380">
                <a:solidFill>
                  <a:srgbClr val="695D46"/>
                </a:solidFill>
                <a:latin typeface="Open Sans"/>
                <a:ea typeface="Open Sans"/>
                <a:cs typeface="Open Sans"/>
                <a:sym typeface="Open Sans"/>
              </a:rPr>
              <a:t>Based off of previous feedback, I decided to separate my data from my curious question “Does Gender Impact the Doctor Lifestyle?” This made my data look a lot easier to read as well as made it clear that men face higher stress levels and poorer sleep quality compared to the women within the data. </a:t>
            </a:r>
            <a:endParaRPr b="1" sz="1380"/>
          </a:p>
        </p:txBody>
      </p:sp>
      <p:sp>
        <p:nvSpPr>
          <p:cNvPr id="145" name="Google Shape;145;p24"/>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By Carlyn Mangana</a:t>
            </a:r>
            <a:endParaRPr sz="1100">
              <a:solidFill>
                <a:schemeClr val="dk1"/>
              </a:solidFill>
            </a:endParaRPr>
          </a:p>
        </p:txBody>
      </p:sp>
      <p:pic>
        <p:nvPicPr>
          <p:cNvPr id="146" name="Google Shape;146;p24"/>
          <p:cNvPicPr preferRelativeResize="0"/>
          <p:nvPr/>
        </p:nvPicPr>
        <p:blipFill>
          <a:blip r:embed="rId3">
            <a:alphaModFix/>
          </a:blip>
          <a:stretch>
            <a:fillRect/>
          </a:stretch>
        </p:blipFill>
        <p:spPr>
          <a:xfrm>
            <a:off x="4831822" y="2195148"/>
            <a:ext cx="3808528" cy="2326749"/>
          </a:xfrm>
          <a:prstGeom prst="rect">
            <a:avLst/>
          </a:prstGeom>
          <a:noFill/>
          <a:ln>
            <a:noFill/>
          </a:ln>
        </p:spPr>
      </p:pic>
      <p:pic>
        <p:nvPicPr>
          <p:cNvPr id="147" name="Google Shape;147;p24"/>
          <p:cNvPicPr preferRelativeResize="0"/>
          <p:nvPr/>
        </p:nvPicPr>
        <p:blipFill>
          <a:blip r:embed="rId4">
            <a:alphaModFix/>
          </a:blip>
          <a:stretch>
            <a:fillRect/>
          </a:stretch>
        </p:blipFill>
        <p:spPr>
          <a:xfrm>
            <a:off x="500818" y="2195150"/>
            <a:ext cx="3792832" cy="23267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5"/>
          <p:cNvSpPr txBox="1"/>
          <p:nvPr>
            <p:ph type="title"/>
          </p:nvPr>
        </p:nvSpPr>
        <p:spPr>
          <a:xfrm>
            <a:off x="570925" y="224395"/>
            <a:ext cx="8131500" cy="630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b="1" lang="en" sz="2220"/>
              <a:t>Permutation Test: Age vs. Stress Level</a:t>
            </a:r>
            <a:endParaRPr b="1" sz="2220"/>
          </a:p>
        </p:txBody>
      </p:sp>
      <p:sp>
        <p:nvSpPr>
          <p:cNvPr id="153" name="Google Shape;153;p25"/>
          <p:cNvSpPr txBox="1"/>
          <p:nvPr/>
        </p:nvSpPr>
        <p:spPr>
          <a:xfrm>
            <a:off x="0" y="0"/>
            <a:ext cx="13620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t>
            </a:r>
            <a:endParaRPr sz="1100">
              <a:solidFill>
                <a:schemeClr val="dk1"/>
              </a:solidFill>
            </a:endParaRPr>
          </a:p>
        </p:txBody>
      </p:sp>
      <p:pic>
        <p:nvPicPr>
          <p:cNvPr id="154" name="Google Shape;154;p25"/>
          <p:cNvPicPr preferRelativeResize="0"/>
          <p:nvPr/>
        </p:nvPicPr>
        <p:blipFill>
          <a:blip r:embed="rId3">
            <a:alphaModFix/>
          </a:blip>
          <a:stretch>
            <a:fillRect/>
          </a:stretch>
        </p:blipFill>
        <p:spPr>
          <a:xfrm>
            <a:off x="5301375" y="1157799"/>
            <a:ext cx="1947033" cy="1813400"/>
          </a:xfrm>
          <a:prstGeom prst="rect">
            <a:avLst/>
          </a:prstGeom>
          <a:noFill/>
          <a:ln>
            <a:noFill/>
          </a:ln>
        </p:spPr>
      </p:pic>
      <p:cxnSp>
        <p:nvCxnSpPr>
          <p:cNvPr id="155" name="Google Shape;155;p25"/>
          <p:cNvCxnSpPr/>
          <p:nvPr/>
        </p:nvCxnSpPr>
        <p:spPr>
          <a:xfrm>
            <a:off x="1138000" y="1123000"/>
            <a:ext cx="2100" cy="1593000"/>
          </a:xfrm>
          <a:prstGeom prst="straightConnector1">
            <a:avLst/>
          </a:prstGeom>
          <a:noFill/>
          <a:ln cap="flat" cmpd="sng" w="28575">
            <a:solidFill>
              <a:srgbClr val="FF0000"/>
            </a:solidFill>
            <a:prstDash val="solid"/>
            <a:round/>
            <a:headEnd len="med" w="med" type="none"/>
            <a:tailEnd len="med" w="med" type="triangle"/>
          </a:ln>
        </p:spPr>
      </p:cxnSp>
      <p:pic>
        <p:nvPicPr>
          <p:cNvPr id="156" name="Google Shape;156;p25"/>
          <p:cNvPicPr preferRelativeResize="0"/>
          <p:nvPr/>
        </p:nvPicPr>
        <p:blipFill>
          <a:blip r:embed="rId4">
            <a:alphaModFix/>
          </a:blip>
          <a:stretch>
            <a:fillRect/>
          </a:stretch>
        </p:blipFill>
        <p:spPr>
          <a:xfrm>
            <a:off x="2105368" y="1157800"/>
            <a:ext cx="2630286" cy="1813400"/>
          </a:xfrm>
          <a:prstGeom prst="rect">
            <a:avLst/>
          </a:prstGeom>
          <a:noFill/>
          <a:ln>
            <a:noFill/>
          </a:ln>
        </p:spPr>
      </p:pic>
      <p:sp>
        <p:nvSpPr>
          <p:cNvPr id="157" name="Google Shape;157;p25"/>
          <p:cNvSpPr txBox="1"/>
          <p:nvPr/>
        </p:nvSpPr>
        <p:spPr>
          <a:xfrm>
            <a:off x="271150" y="2648100"/>
            <a:ext cx="1735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t>-0.898752031004</a:t>
            </a:r>
            <a:endParaRPr sz="900"/>
          </a:p>
        </p:txBody>
      </p:sp>
      <p:sp>
        <p:nvSpPr>
          <p:cNvPr id="158" name="Google Shape;158;p25"/>
          <p:cNvSpPr txBox="1"/>
          <p:nvPr/>
        </p:nvSpPr>
        <p:spPr>
          <a:xfrm>
            <a:off x="2145600" y="649900"/>
            <a:ext cx="3431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chemeClr val="dk1"/>
                </a:solidFill>
                <a:highlight>
                  <a:srgbClr val="FFFFFF"/>
                </a:highlight>
              </a:rPr>
              <a:t>Observed correlation: -0.898752031004</a:t>
            </a:r>
            <a:endParaRPr sz="1050">
              <a:solidFill>
                <a:schemeClr val="dk1"/>
              </a:solidFill>
              <a:highlight>
                <a:srgbClr val="FFFFFF"/>
              </a:highlight>
            </a:endParaRPr>
          </a:p>
          <a:p>
            <a:pPr indent="0" lvl="0" marL="0" rtl="0" algn="l">
              <a:spcBef>
                <a:spcPts val="0"/>
              </a:spcBef>
              <a:spcAft>
                <a:spcPts val="0"/>
              </a:spcAft>
              <a:buNone/>
            </a:pPr>
            <a:r>
              <a:rPr lang="en" sz="1050">
                <a:solidFill>
                  <a:schemeClr val="dk1"/>
                </a:solidFill>
                <a:highlight>
                  <a:srgbClr val="FFFFFF"/>
                </a:highlight>
              </a:rPr>
              <a:t>p-value&lt;0.001</a:t>
            </a:r>
            <a:endParaRPr>
              <a:solidFill>
                <a:schemeClr val="dk1"/>
              </a:solidFill>
            </a:endParaRPr>
          </a:p>
        </p:txBody>
      </p:sp>
      <p:grpSp>
        <p:nvGrpSpPr>
          <p:cNvPr id="159" name="Google Shape;159;p25"/>
          <p:cNvGrpSpPr/>
          <p:nvPr/>
        </p:nvGrpSpPr>
        <p:grpSpPr>
          <a:xfrm>
            <a:off x="358650" y="3385950"/>
            <a:ext cx="8426700" cy="1369800"/>
            <a:chOff x="449300" y="3474325"/>
            <a:chExt cx="8426700" cy="1369800"/>
          </a:xfrm>
        </p:grpSpPr>
        <p:sp>
          <p:nvSpPr>
            <p:cNvPr id="160" name="Google Shape;160;p25"/>
            <p:cNvSpPr txBox="1"/>
            <p:nvPr/>
          </p:nvSpPr>
          <p:spPr>
            <a:xfrm>
              <a:off x="449300" y="3605125"/>
              <a:ext cx="32148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00FF"/>
                  </a:solidFill>
                </a:rPr>
                <a:t>H0: there is no association between Age and Stress Level</a:t>
              </a:r>
              <a:endParaRPr sz="1200">
                <a:solidFill>
                  <a:srgbClr val="0000FF"/>
                </a:solidFill>
              </a:endParaRPr>
            </a:p>
            <a:p>
              <a:pPr indent="0" lvl="0" marL="0" rtl="0" algn="l">
                <a:spcBef>
                  <a:spcPts val="0"/>
                </a:spcBef>
                <a:spcAft>
                  <a:spcPts val="0"/>
                </a:spcAft>
                <a:buNone/>
              </a:pPr>
              <a:r>
                <a:rPr lang="en" sz="1200">
                  <a:solidFill>
                    <a:srgbClr val="0000FF"/>
                  </a:solidFill>
                </a:rPr>
                <a:t> </a:t>
              </a:r>
              <a:endParaRPr sz="1200">
                <a:solidFill>
                  <a:srgbClr val="0000FF"/>
                </a:solidFill>
              </a:endParaRPr>
            </a:p>
            <a:p>
              <a:pPr indent="0" lvl="0" marL="0" rtl="0" algn="l">
                <a:spcBef>
                  <a:spcPts val="0"/>
                </a:spcBef>
                <a:spcAft>
                  <a:spcPts val="0"/>
                </a:spcAft>
                <a:buNone/>
              </a:pPr>
              <a:r>
                <a:rPr lang="en" sz="1200">
                  <a:solidFill>
                    <a:srgbClr val="0000FF"/>
                  </a:solidFill>
                </a:rPr>
                <a:t>H1: Older age is associated with lower stress level and vice versa. </a:t>
              </a:r>
              <a:endParaRPr sz="1200">
                <a:solidFill>
                  <a:srgbClr val="0000FF"/>
                </a:solidFill>
              </a:endParaRPr>
            </a:p>
          </p:txBody>
        </p:sp>
        <p:sp>
          <p:nvSpPr>
            <p:cNvPr id="161" name="Google Shape;161;p25"/>
            <p:cNvSpPr txBox="1"/>
            <p:nvPr/>
          </p:nvSpPr>
          <p:spPr>
            <a:xfrm>
              <a:off x="3664100" y="3474325"/>
              <a:ext cx="52119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0000FF"/>
                  </a:solidFill>
                </a:rPr>
                <a:t>Conclusion</a:t>
              </a:r>
              <a:r>
                <a:rPr lang="en" sz="1100">
                  <a:solidFill>
                    <a:srgbClr val="0000FF"/>
                  </a:solidFill>
                </a:rPr>
                <a:t>: </a:t>
              </a:r>
              <a:endParaRPr sz="1100">
                <a:solidFill>
                  <a:srgbClr val="0000FF"/>
                </a:solidFill>
              </a:endParaRPr>
            </a:p>
            <a:p>
              <a:pPr indent="-298450" lvl="0" marL="457200" rtl="0" algn="l">
                <a:spcBef>
                  <a:spcPts val="0"/>
                </a:spcBef>
                <a:spcAft>
                  <a:spcPts val="0"/>
                </a:spcAft>
                <a:buClr>
                  <a:srgbClr val="0000FF"/>
                </a:buClr>
                <a:buSzPts val="1100"/>
                <a:buChar char="●"/>
              </a:pPr>
              <a:r>
                <a:rPr b="1" lang="en" sz="1100">
                  <a:solidFill>
                    <a:srgbClr val="0000FF"/>
                  </a:solidFill>
                </a:rPr>
                <a:t>Layman’s version:</a:t>
              </a:r>
              <a:r>
                <a:rPr lang="en" sz="1100">
                  <a:solidFill>
                    <a:srgbClr val="0000FF"/>
                  </a:solidFill>
                </a:rPr>
                <a:t> there is strong evidence supporting the claim that older age is associated with lower stress level. </a:t>
              </a:r>
              <a:endParaRPr sz="1100">
                <a:solidFill>
                  <a:srgbClr val="0000FF"/>
                </a:solidFill>
              </a:endParaRPr>
            </a:p>
            <a:p>
              <a:pPr indent="-298450" lvl="0" marL="457200" rtl="0" algn="l">
                <a:spcBef>
                  <a:spcPts val="0"/>
                </a:spcBef>
                <a:spcAft>
                  <a:spcPts val="0"/>
                </a:spcAft>
                <a:buClr>
                  <a:srgbClr val="0000FF"/>
                </a:buClr>
                <a:buSzPts val="1100"/>
                <a:buChar char="●"/>
              </a:pPr>
              <a:r>
                <a:rPr b="1" lang="en" sz="1100">
                  <a:solidFill>
                    <a:srgbClr val="0000FF"/>
                  </a:solidFill>
                </a:rPr>
                <a:t>Scientific version: </a:t>
              </a:r>
              <a:r>
                <a:rPr lang="en" sz="1100">
                  <a:solidFill>
                    <a:srgbClr val="0000FF"/>
                  </a:solidFill>
                </a:rPr>
                <a:t>assuming null hypothesis that there is no relationship between age and stress level, the chance of seeing a difference at -0.899 or larger is less than 0.001. We reject the null hypothesis at a significance level of 0.001</a:t>
              </a:r>
              <a:endParaRPr sz="1100">
                <a:solidFill>
                  <a:srgbClr val="0000FF"/>
                </a:solidFil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6"/>
          <p:cNvSpPr txBox="1"/>
          <p:nvPr>
            <p:ph type="title"/>
          </p:nvPr>
        </p:nvSpPr>
        <p:spPr>
          <a:xfrm>
            <a:off x="116950" y="354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Estimation: Non-STEM Stress Levels</a:t>
            </a:r>
            <a:endParaRPr/>
          </a:p>
        </p:txBody>
      </p:sp>
      <p:sp>
        <p:nvSpPr>
          <p:cNvPr id="167" name="Google Shape;167;p26"/>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By Carlyn Mangana</a:t>
            </a:r>
            <a:endParaRPr sz="1100">
              <a:solidFill>
                <a:schemeClr val="dk1"/>
              </a:solidFill>
            </a:endParaRPr>
          </a:p>
        </p:txBody>
      </p:sp>
      <p:pic>
        <p:nvPicPr>
          <p:cNvPr id="168" name="Google Shape;168;p26"/>
          <p:cNvPicPr preferRelativeResize="0"/>
          <p:nvPr/>
        </p:nvPicPr>
        <p:blipFill rotWithShape="1">
          <a:blip r:embed="rId3">
            <a:alphaModFix/>
          </a:blip>
          <a:srcRect b="0" l="0" r="21519" t="0"/>
          <a:stretch/>
        </p:blipFill>
        <p:spPr>
          <a:xfrm>
            <a:off x="717850" y="2018375"/>
            <a:ext cx="3642302" cy="2802625"/>
          </a:xfrm>
          <a:prstGeom prst="rect">
            <a:avLst/>
          </a:prstGeom>
          <a:noFill/>
          <a:ln>
            <a:noFill/>
          </a:ln>
        </p:spPr>
      </p:pic>
      <p:pic>
        <p:nvPicPr>
          <p:cNvPr id="169" name="Google Shape;169;p26"/>
          <p:cNvPicPr preferRelativeResize="0"/>
          <p:nvPr/>
        </p:nvPicPr>
        <p:blipFill>
          <a:blip r:embed="rId4">
            <a:alphaModFix/>
          </a:blip>
          <a:stretch>
            <a:fillRect/>
          </a:stretch>
        </p:blipFill>
        <p:spPr>
          <a:xfrm>
            <a:off x="5611625" y="266850"/>
            <a:ext cx="3428901" cy="2248050"/>
          </a:xfrm>
          <a:prstGeom prst="rect">
            <a:avLst/>
          </a:prstGeom>
          <a:noFill/>
          <a:ln>
            <a:noFill/>
          </a:ln>
        </p:spPr>
      </p:pic>
      <p:sp>
        <p:nvSpPr>
          <p:cNvPr id="170" name="Google Shape;170;p26"/>
          <p:cNvSpPr txBox="1"/>
          <p:nvPr/>
        </p:nvSpPr>
        <p:spPr>
          <a:xfrm>
            <a:off x="257175" y="820475"/>
            <a:ext cx="4460100" cy="3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highlight>
                  <a:srgbClr val="FFFFFF"/>
                </a:highlight>
              </a:rPr>
              <a:t>I am interested to know if STEM fields have high stress levels compared to Non-STEM</a:t>
            </a:r>
            <a:endParaRPr sz="1100">
              <a:highlight>
                <a:srgbClr val="FFFFFF"/>
              </a:highlight>
            </a:endParaRPr>
          </a:p>
          <a:p>
            <a:pPr indent="0" lvl="0" marL="0" rtl="0" algn="l">
              <a:spcBef>
                <a:spcPts val="0"/>
              </a:spcBef>
              <a:spcAft>
                <a:spcPts val="0"/>
              </a:spcAft>
              <a:buNone/>
            </a:pPr>
            <a:r>
              <a:rPr lang="en" sz="1100">
                <a:highlight>
                  <a:srgbClr val="FFFFFF"/>
                </a:highlight>
              </a:rPr>
              <a:t>I plan to analyze </a:t>
            </a:r>
            <a:r>
              <a:rPr b="1" lang="en" sz="1100">
                <a:highlight>
                  <a:srgbClr val="FFFFFF"/>
                </a:highlight>
              </a:rPr>
              <a:t>Stress Levels </a:t>
            </a:r>
            <a:r>
              <a:rPr lang="en" sz="1100">
                <a:highlight>
                  <a:srgbClr val="FFFFFF"/>
                </a:highlight>
              </a:rPr>
              <a:t>which describe the average stress levels each person experiences on a scale from 1 being not stressed at all to 10 being very stressed.</a:t>
            </a:r>
            <a:endParaRPr sz="1100">
              <a:highlight>
                <a:srgbClr val="FFFFFF"/>
              </a:highlight>
            </a:endParaRPr>
          </a:p>
          <a:p>
            <a:pPr indent="0" lvl="0" marL="0" rtl="0" algn="l">
              <a:spcBef>
                <a:spcPts val="0"/>
              </a:spcBef>
              <a:spcAft>
                <a:spcPts val="0"/>
              </a:spcAft>
              <a:buNone/>
            </a:pPr>
            <a:r>
              <a:rPr lang="en" sz="1100">
                <a:highlight>
                  <a:srgbClr val="FFFFFF"/>
                </a:highlight>
              </a:rPr>
              <a:t>My parameter of interest is </a:t>
            </a:r>
            <a:r>
              <a:rPr b="1" lang="en" sz="1100">
                <a:highlight>
                  <a:srgbClr val="FFFFFF"/>
                </a:highlight>
              </a:rPr>
              <a:t>Mean</a:t>
            </a:r>
            <a:endParaRPr>
              <a:solidFill>
                <a:srgbClr val="695D46"/>
              </a:solidFill>
              <a:latin typeface="Open Sans"/>
              <a:ea typeface="Open Sans"/>
              <a:cs typeface="Open Sans"/>
              <a:sym typeface="Open Sans"/>
            </a:endParaRPr>
          </a:p>
        </p:txBody>
      </p:sp>
      <p:sp>
        <p:nvSpPr>
          <p:cNvPr id="171" name="Google Shape;171;p26"/>
          <p:cNvSpPr txBox="1"/>
          <p:nvPr/>
        </p:nvSpPr>
        <p:spPr>
          <a:xfrm>
            <a:off x="4360160" y="2821400"/>
            <a:ext cx="4511100" cy="19548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Char char="●"/>
            </a:pPr>
            <a:r>
              <a:rPr lang="en" sz="1100">
                <a:highlight>
                  <a:srgbClr val="FFFFFF"/>
                </a:highlight>
              </a:rPr>
              <a:t>95% Confidence Interval of Sample Mean </a:t>
            </a:r>
            <a:endParaRPr sz="1100">
              <a:highlight>
                <a:srgbClr val="FFFFFF"/>
              </a:highlight>
            </a:endParaRPr>
          </a:p>
          <a:p>
            <a:pPr indent="0" lvl="0" marL="457200" rtl="0" algn="l">
              <a:spcBef>
                <a:spcPts val="0"/>
              </a:spcBef>
              <a:spcAft>
                <a:spcPts val="0"/>
              </a:spcAft>
              <a:buNone/>
            </a:pPr>
            <a:r>
              <a:rPr lang="en" sz="1100">
                <a:highlight>
                  <a:srgbClr val="FFFFFF"/>
                </a:highlight>
              </a:rPr>
              <a:t>(5.05, 5.43)</a:t>
            </a:r>
            <a:r>
              <a:rPr lang="en" sz="1100">
                <a:highlight>
                  <a:srgbClr val="FFFFFF"/>
                </a:highlight>
              </a:rPr>
              <a:t> meaning that Non-STEM fields are estimated to face average stress levels</a:t>
            </a:r>
            <a:endParaRPr sz="1100">
              <a:highlight>
                <a:srgbClr val="FFFFFF"/>
              </a:highlight>
            </a:endParaRPr>
          </a:p>
          <a:p>
            <a:pPr indent="-298450" lvl="0" marL="457200" rtl="0" algn="l">
              <a:spcBef>
                <a:spcPts val="0"/>
              </a:spcBef>
              <a:spcAft>
                <a:spcPts val="0"/>
              </a:spcAft>
              <a:buSzPts val="1100"/>
              <a:buChar char="●"/>
            </a:pPr>
            <a:r>
              <a:rPr lang="en" sz="1100">
                <a:highlight>
                  <a:srgbClr val="FFFFFF"/>
                </a:highlight>
              </a:rPr>
              <a:t>95% Confidence Interval of Sample Mean</a:t>
            </a:r>
            <a:endParaRPr sz="1100">
              <a:highlight>
                <a:srgbClr val="FFFFFF"/>
              </a:highlight>
            </a:endParaRPr>
          </a:p>
          <a:p>
            <a:pPr indent="0" lvl="0" marL="457200" rtl="0" algn="l">
              <a:spcBef>
                <a:spcPts val="0"/>
              </a:spcBef>
              <a:spcAft>
                <a:spcPts val="0"/>
              </a:spcAft>
              <a:buNone/>
            </a:pPr>
            <a:r>
              <a:rPr lang="en" sz="1100">
                <a:highlight>
                  <a:srgbClr val="FFFFFF"/>
                </a:highlight>
              </a:rPr>
              <a:t>(5.05, 5.44)</a:t>
            </a:r>
            <a:endParaRPr sz="1100">
              <a:highlight>
                <a:srgbClr val="FFFFFF"/>
              </a:highlight>
            </a:endParaRPr>
          </a:p>
          <a:p>
            <a:pPr indent="-298450" lvl="0" marL="457200" rtl="0" algn="l">
              <a:spcBef>
                <a:spcPts val="0"/>
              </a:spcBef>
              <a:spcAft>
                <a:spcPts val="0"/>
              </a:spcAft>
              <a:buSzPts val="1100"/>
              <a:buChar char="●"/>
            </a:pPr>
            <a:r>
              <a:rPr lang="en" sz="1100">
                <a:highlight>
                  <a:srgbClr val="FFFFFF"/>
                </a:highlight>
              </a:rPr>
              <a:t>Conclusion: After analysing the data, average stress levels are between 5-6, meaning that most are stressed but not too stressed. Overall, both STEM and Non-STEM stress levels are similar to each other despite have </a:t>
            </a:r>
            <a:r>
              <a:rPr lang="en" sz="1100">
                <a:highlight>
                  <a:srgbClr val="FFFFFF"/>
                </a:highlight>
              </a:rPr>
              <a:t>differing</a:t>
            </a:r>
            <a:r>
              <a:rPr lang="en" sz="1100">
                <a:highlight>
                  <a:srgbClr val="FFFFFF"/>
                </a:highlight>
              </a:rPr>
              <a:t> graphs. </a:t>
            </a:r>
            <a:endParaRPr sz="1100">
              <a:highlight>
                <a:srgbClr val="FFFFFF"/>
              </a:highlight>
            </a:endParaRPr>
          </a:p>
          <a:p>
            <a:pPr indent="0" lvl="0" marL="457200" rtl="0" algn="l">
              <a:spcBef>
                <a:spcPts val="0"/>
              </a:spcBef>
              <a:spcAft>
                <a:spcPts val="0"/>
              </a:spcAft>
              <a:buNone/>
            </a:pPr>
            <a:r>
              <a:t/>
            </a:r>
            <a:endParaRPr sz="1600">
              <a:highlight>
                <a:srgbClr val="FFFFFF"/>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561750" y="297638"/>
            <a:ext cx="8131500" cy="1095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220"/>
              <a:t>Data Insight: Overweight and </a:t>
            </a:r>
            <a:r>
              <a:rPr b="1" lang="en" sz="2220"/>
              <a:t>O</a:t>
            </a:r>
            <a:r>
              <a:rPr b="1" lang="en" sz="2220"/>
              <a:t>bese people sleep less and get poorer quality sleep than people with Normal weight.  </a:t>
            </a:r>
            <a:endParaRPr b="1" sz="2220"/>
          </a:p>
        </p:txBody>
      </p:sp>
      <p:sp>
        <p:nvSpPr>
          <p:cNvPr id="177" name="Google Shape;177;p27"/>
          <p:cNvSpPr txBox="1"/>
          <p:nvPr>
            <p:ph idx="1" type="body"/>
          </p:nvPr>
        </p:nvSpPr>
        <p:spPr>
          <a:xfrm>
            <a:off x="280950" y="2902463"/>
            <a:ext cx="8582100" cy="1943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300">
                <a:solidFill>
                  <a:schemeClr val="dk1"/>
                </a:solidFill>
              </a:rPr>
              <a:t>The two bar charts show the relationship between BMI category, Sleep Duration average and Quality of Sleep average. The scatter plot shows the relationship between Sleep Duration and Quality of Sleep – the pattern reveals that longer Sleep Duration is linked to higher Quality of Sleep score. The bar charts show that on average, people in the Overweight and Obese BMI category have lower sleep duration and poorer quality of </a:t>
            </a:r>
            <a:r>
              <a:rPr lang="en" sz="1300">
                <a:solidFill>
                  <a:schemeClr val="dk1"/>
                </a:solidFill>
              </a:rPr>
              <a:t>sleep</a:t>
            </a:r>
            <a:r>
              <a:rPr lang="en" sz="1300">
                <a:solidFill>
                  <a:schemeClr val="dk1"/>
                </a:solidFill>
              </a:rPr>
              <a:t> than those in the Normal weight BMI category. </a:t>
            </a:r>
            <a:r>
              <a:rPr lang="en" sz="1300" u="sng">
                <a:solidFill>
                  <a:schemeClr val="hlink"/>
                </a:solidFill>
                <a:hlinkClick r:id="rId3"/>
              </a:rPr>
              <a:t>This article</a:t>
            </a:r>
            <a:r>
              <a:rPr lang="en" sz="1300">
                <a:solidFill>
                  <a:schemeClr val="dk1"/>
                </a:solidFill>
              </a:rPr>
              <a:t> written by bariatric surgeon, </a:t>
            </a:r>
            <a:r>
              <a:rPr lang="en" sz="1300">
                <a:solidFill>
                  <a:schemeClr val="dk1"/>
                </a:solidFill>
              </a:rPr>
              <a:t>Muhammad Ghanem, </a:t>
            </a:r>
            <a:r>
              <a:rPr lang="en" sz="1300">
                <a:solidFill>
                  <a:schemeClr val="dk1"/>
                </a:solidFill>
              </a:rPr>
              <a:t>claims that poor sleep quality slows metabolism and increases appetite and cravings for junk food. The bar charts reflect the statement that sleep is very important, especially when it comes to weight management. This finding makes me wonder</a:t>
            </a:r>
            <a:r>
              <a:rPr lang="en" sz="1300">
                <a:solidFill>
                  <a:schemeClr val="dk1"/>
                </a:solidFill>
              </a:rPr>
              <a:t> whether there is a correlation</a:t>
            </a:r>
            <a:r>
              <a:rPr lang="en" sz="1300">
                <a:solidFill>
                  <a:schemeClr val="dk1"/>
                </a:solidFill>
              </a:rPr>
              <a:t> between occupation and sleep quality. </a:t>
            </a:r>
            <a:endParaRPr sz="1300">
              <a:solidFill>
                <a:schemeClr val="dk1"/>
              </a:solidFill>
            </a:endParaRPr>
          </a:p>
          <a:p>
            <a:pPr indent="0" lvl="0" marL="0" rtl="0" algn="l">
              <a:lnSpc>
                <a:spcPct val="95000"/>
              </a:lnSpc>
              <a:spcBef>
                <a:spcPts val="1600"/>
              </a:spcBef>
              <a:spcAft>
                <a:spcPts val="1200"/>
              </a:spcAft>
              <a:buSzPts val="688"/>
              <a:buNone/>
            </a:pPr>
            <a:r>
              <a:t/>
            </a:r>
            <a:endParaRPr b="1" sz="1200"/>
          </a:p>
        </p:txBody>
      </p:sp>
      <p:sp>
        <p:nvSpPr>
          <p:cNvPr id="178" name="Google Shape;178;p27"/>
          <p:cNvSpPr txBox="1"/>
          <p:nvPr/>
        </p:nvSpPr>
        <p:spPr>
          <a:xfrm>
            <a:off x="0" y="0"/>
            <a:ext cx="13620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t>
            </a:r>
            <a:endParaRPr sz="1100">
              <a:solidFill>
                <a:schemeClr val="dk1"/>
              </a:solidFill>
            </a:endParaRPr>
          </a:p>
        </p:txBody>
      </p:sp>
      <p:pic>
        <p:nvPicPr>
          <p:cNvPr id="179" name="Google Shape;179;p27"/>
          <p:cNvPicPr preferRelativeResize="0"/>
          <p:nvPr/>
        </p:nvPicPr>
        <p:blipFill>
          <a:blip r:embed="rId4">
            <a:alphaModFix/>
          </a:blip>
          <a:stretch>
            <a:fillRect/>
          </a:stretch>
        </p:blipFill>
        <p:spPr>
          <a:xfrm>
            <a:off x="1983213" y="1269013"/>
            <a:ext cx="2469803" cy="1500984"/>
          </a:xfrm>
          <a:prstGeom prst="rect">
            <a:avLst/>
          </a:prstGeom>
          <a:noFill/>
          <a:ln>
            <a:noFill/>
          </a:ln>
        </p:spPr>
      </p:pic>
      <p:pic>
        <p:nvPicPr>
          <p:cNvPr id="180" name="Google Shape;180;p27"/>
          <p:cNvPicPr preferRelativeResize="0"/>
          <p:nvPr/>
        </p:nvPicPr>
        <p:blipFill>
          <a:blip r:embed="rId5">
            <a:alphaModFix/>
          </a:blip>
          <a:stretch>
            <a:fillRect/>
          </a:stretch>
        </p:blipFill>
        <p:spPr>
          <a:xfrm>
            <a:off x="7152534" y="1269013"/>
            <a:ext cx="1486579" cy="1572000"/>
          </a:xfrm>
          <a:prstGeom prst="rect">
            <a:avLst/>
          </a:prstGeom>
          <a:noFill/>
          <a:ln>
            <a:noFill/>
          </a:ln>
        </p:spPr>
      </p:pic>
      <p:pic>
        <p:nvPicPr>
          <p:cNvPr id="181" name="Google Shape;181;p27"/>
          <p:cNvPicPr preferRelativeResize="0"/>
          <p:nvPr/>
        </p:nvPicPr>
        <p:blipFill>
          <a:blip r:embed="rId6">
            <a:alphaModFix/>
          </a:blip>
          <a:stretch>
            <a:fillRect/>
          </a:stretch>
        </p:blipFill>
        <p:spPr>
          <a:xfrm>
            <a:off x="4562717" y="1269013"/>
            <a:ext cx="2480123" cy="1500984"/>
          </a:xfrm>
          <a:prstGeom prst="rect">
            <a:avLst/>
          </a:prstGeom>
          <a:noFill/>
          <a:ln>
            <a:noFill/>
          </a:ln>
        </p:spPr>
      </p:pic>
      <p:graphicFrame>
        <p:nvGraphicFramePr>
          <p:cNvPr id="182" name="Google Shape;182;p27"/>
          <p:cNvGraphicFramePr/>
          <p:nvPr/>
        </p:nvGraphicFramePr>
        <p:xfrm>
          <a:off x="504888" y="1269013"/>
          <a:ext cx="3000000" cy="3000000"/>
        </p:xfrm>
        <a:graphic>
          <a:graphicData uri="http://schemas.openxmlformats.org/drawingml/2006/table">
            <a:tbl>
              <a:tblPr>
                <a:solidFill>
                  <a:srgbClr val="FFFFFF"/>
                </a:solidFill>
                <a:tableStyleId>{E345227F-FB16-4048-8FC3-62D51FBCF065}</a:tableStyleId>
              </a:tblPr>
              <a:tblGrid>
                <a:gridCol w="815150"/>
                <a:gridCol w="399875"/>
              </a:tblGrid>
              <a:tr h="262375">
                <a:tc>
                  <a:txBody>
                    <a:bodyPr/>
                    <a:lstStyle/>
                    <a:p>
                      <a:pPr indent="0" lvl="0" marL="0" rtl="0" algn="ctr">
                        <a:lnSpc>
                          <a:spcPct val="115000"/>
                        </a:lnSpc>
                        <a:spcBef>
                          <a:spcPts val="0"/>
                        </a:spcBef>
                        <a:spcAft>
                          <a:spcPts val="0"/>
                        </a:spcAft>
                        <a:buNone/>
                      </a:pPr>
                      <a:r>
                        <a:rPr b="1" lang="en" sz="750">
                          <a:solidFill>
                            <a:srgbClr val="1F1F1F"/>
                          </a:solidFill>
                          <a:highlight>
                            <a:srgbClr val="FFFFFF"/>
                          </a:highlight>
                          <a:latin typeface="Roboto"/>
                          <a:ea typeface="Roboto"/>
                          <a:cs typeface="Roboto"/>
                          <a:sym typeface="Roboto"/>
                        </a:rPr>
                        <a:t>BMI Category</a:t>
                      </a:r>
                      <a:endParaRPr b="1" sz="750">
                        <a:solidFill>
                          <a:srgbClr val="1F1F1F"/>
                        </a:solidFill>
                        <a:highlight>
                          <a:srgbClr val="FFFFFF"/>
                        </a:highlight>
                        <a:latin typeface="Roboto"/>
                        <a:ea typeface="Roboto"/>
                        <a:cs typeface="Roboto"/>
                        <a:sym typeface="Roboto"/>
                      </a:endParaRPr>
                    </a:p>
                  </a:txBody>
                  <a:tcPr marT="66675" marB="66675" marR="66675" marL="66675"/>
                </a:tc>
                <a:tc>
                  <a:txBody>
                    <a:bodyPr/>
                    <a:lstStyle/>
                    <a:p>
                      <a:pPr indent="0" lvl="0" marL="0" rtl="0" algn="ctr">
                        <a:lnSpc>
                          <a:spcPct val="115000"/>
                        </a:lnSpc>
                        <a:spcBef>
                          <a:spcPts val="0"/>
                        </a:spcBef>
                        <a:spcAft>
                          <a:spcPts val="0"/>
                        </a:spcAft>
                        <a:buNone/>
                      </a:pPr>
                      <a:r>
                        <a:rPr b="1" lang="en" sz="750">
                          <a:solidFill>
                            <a:srgbClr val="1F1F1F"/>
                          </a:solidFill>
                          <a:highlight>
                            <a:srgbClr val="FFFFFF"/>
                          </a:highlight>
                          <a:latin typeface="Roboto"/>
                          <a:ea typeface="Roboto"/>
                          <a:cs typeface="Roboto"/>
                          <a:sym typeface="Roboto"/>
                        </a:rPr>
                        <a:t>count</a:t>
                      </a:r>
                      <a:endParaRPr b="1" sz="750">
                        <a:solidFill>
                          <a:srgbClr val="1F1F1F"/>
                        </a:solidFill>
                        <a:highlight>
                          <a:srgbClr val="FFFFFF"/>
                        </a:highlight>
                        <a:latin typeface="Roboto"/>
                        <a:ea typeface="Roboto"/>
                        <a:cs typeface="Roboto"/>
                        <a:sym typeface="Roboto"/>
                      </a:endParaRPr>
                    </a:p>
                  </a:txBody>
                  <a:tcPr marT="66675" marB="66675" marR="66675" marL="66675"/>
                </a:tc>
              </a:tr>
              <a:tr h="262375">
                <a:tc>
                  <a:txBody>
                    <a:bodyPr/>
                    <a:lstStyle/>
                    <a:p>
                      <a:pPr indent="0" lvl="0" marL="0" rtl="0" algn="r">
                        <a:lnSpc>
                          <a:spcPct val="115000"/>
                        </a:lnSpc>
                        <a:spcBef>
                          <a:spcPts val="0"/>
                        </a:spcBef>
                        <a:spcAft>
                          <a:spcPts val="0"/>
                        </a:spcAft>
                        <a:buNone/>
                      </a:pPr>
                      <a:r>
                        <a:rPr lang="en" sz="750">
                          <a:solidFill>
                            <a:srgbClr val="1F1F1F"/>
                          </a:solidFill>
                          <a:highlight>
                            <a:srgbClr val="FFFFFF"/>
                          </a:highlight>
                          <a:latin typeface="Roboto"/>
                          <a:ea typeface="Roboto"/>
                          <a:cs typeface="Roboto"/>
                          <a:sym typeface="Roboto"/>
                        </a:rPr>
                        <a:t>Normal</a:t>
                      </a:r>
                      <a:endParaRPr sz="750">
                        <a:solidFill>
                          <a:srgbClr val="1F1F1F"/>
                        </a:solidFill>
                        <a:highlight>
                          <a:srgbClr val="FFFFFF"/>
                        </a:highlight>
                        <a:latin typeface="Roboto"/>
                        <a:ea typeface="Roboto"/>
                        <a:cs typeface="Roboto"/>
                        <a:sym typeface="Roboto"/>
                      </a:endParaRPr>
                    </a:p>
                  </a:txBody>
                  <a:tcPr marT="66675" marB="66675" marR="66675" marL="66675"/>
                </a:tc>
                <a:tc>
                  <a:txBody>
                    <a:bodyPr/>
                    <a:lstStyle/>
                    <a:p>
                      <a:pPr indent="0" lvl="0" marL="0" rtl="0" algn="r">
                        <a:lnSpc>
                          <a:spcPct val="115000"/>
                        </a:lnSpc>
                        <a:spcBef>
                          <a:spcPts val="0"/>
                        </a:spcBef>
                        <a:spcAft>
                          <a:spcPts val="0"/>
                        </a:spcAft>
                        <a:buNone/>
                      </a:pPr>
                      <a:r>
                        <a:rPr lang="en" sz="750">
                          <a:solidFill>
                            <a:srgbClr val="1F1F1F"/>
                          </a:solidFill>
                          <a:highlight>
                            <a:srgbClr val="FFFFFF"/>
                          </a:highlight>
                          <a:latin typeface="Roboto"/>
                          <a:ea typeface="Roboto"/>
                          <a:cs typeface="Roboto"/>
                          <a:sym typeface="Roboto"/>
                        </a:rPr>
                        <a:t>195</a:t>
                      </a:r>
                      <a:endParaRPr sz="750">
                        <a:solidFill>
                          <a:srgbClr val="1F1F1F"/>
                        </a:solidFill>
                        <a:highlight>
                          <a:srgbClr val="FFFFFF"/>
                        </a:highlight>
                        <a:latin typeface="Roboto"/>
                        <a:ea typeface="Roboto"/>
                        <a:cs typeface="Roboto"/>
                        <a:sym typeface="Roboto"/>
                      </a:endParaRPr>
                    </a:p>
                  </a:txBody>
                  <a:tcPr marT="66675" marB="66675" marR="66675" marL="66675"/>
                </a:tc>
              </a:tr>
              <a:tr h="352825">
                <a:tc>
                  <a:txBody>
                    <a:bodyPr/>
                    <a:lstStyle/>
                    <a:p>
                      <a:pPr indent="0" lvl="0" marL="0" rtl="0" algn="r">
                        <a:lnSpc>
                          <a:spcPct val="115000"/>
                        </a:lnSpc>
                        <a:spcBef>
                          <a:spcPts val="0"/>
                        </a:spcBef>
                        <a:spcAft>
                          <a:spcPts val="0"/>
                        </a:spcAft>
                        <a:buNone/>
                      </a:pPr>
                      <a:r>
                        <a:rPr lang="en" sz="750">
                          <a:solidFill>
                            <a:srgbClr val="1F1F1F"/>
                          </a:solidFill>
                          <a:highlight>
                            <a:srgbClr val="FFFFFF"/>
                          </a:highlight>
                          <a:latin typeface="Roboto"/>
                          <a:ea typeface="Roboto"/>
                          <a:cs typeface="Roboto"/>
                          <a:sym typeface="Roboto"/>
                        </a:rPr>
                        <a:t>Normal Weight</a:t>
                      </a:r>
                      <a:endParaRPr sz="750">
                        <a:solidFill>
                          <a:srgbClr val="1F1F1F"/>
                        </a:solidFill>
                        <a:highlight>
                          <a:srgbClr val="FFFFFF"/>
                        </a:highlight>
                        <a:latin typeface="Roboto"/>
                        <a:ea typeface="Roboto"/>
                        <a:cs typeface="Roboto"/>
                        <a:sym typeface="Roboto"/>
                      </a:endParaRPr>
                    </a:p>
                  </a:txBody>
                  <a:tcPr marT="66675" marB="66675" marR="66675" marL="66675"/>
                </a:tc>
                <a:tc>
                  <a:txBody>
                    <a:bodyPr/>
                    <a:lstStyle/>
                    <a:p>
                      <a:pPr indent="0" lvl="0" marL="0" rtl="0" algn="r">
                        <a:lnSpc>
                          <a:spcPct val="115000"/>
                        </a:lnSpc>
                        <a:spcBef>
                          <a:spcPts val="0"/>
                        </a:spcBef>
                        <a:spcAft>
                          <a:spcPts val="0"/>
                        </a:spcAft>
                        <a:buNone/>
                      </a:pPr>
                      <a:r>
                        <a:rPr lang="en" sz="750">
                          <a:solidFill>
                            <a:srgbClr val="1F1F1F"/>
                          </a:solidFill>
                          <a:highlight>
                            <a:srgbClr val="FFFFFF"/>
                          </a:highlight>
                          <a:latin typeface="Roboto"/>
                          <a:ea typeface="Roboto"/>
                          <a:cs typeface="Roboto"/>
                          <a:sym typeface="Roboto"/>
                        </a:rPr>
                        <a:t>21</a:t>
                      </a:r>
                      <a:endParaRPr sz="750">
                        <a:solidFill>
                          <a:srgbClr val="1F1F1F"/>
                        </a:solidFill>
                        <a:highlight>
                          <a:srgbClr val="FFFFFF"/>
                        </a:highlight>
                        <a:latin typeface="Roboto"/>
                        <a:ea typeface="Roboto"/>
                        <a:cs typeface="Roboto"/>
                        <a:sym typeface="Roboto"/>
                      </a:endParaRPr>
                    </a:p>
                  </a:txBody>
                  <a:tcPr marT="66675" marB="66675" marR="66675" marL="66675"/>
                </a:tc>
              </a:tr>
              <a:tr h="262375">
                <a:tc>
                  <a:txBody>
                    <a:bodyPr/>
                    <a:lstStyle/>
                    <a:p>
                      <a:pPr indent="0" lvl="0" marL="0" rtl="0" algn="r">
                        <a:lnSpc>
                          <a:spcPct val="115000"/>
                        </a:lnSpc>
                        <a:spcBef>
                          <a:spcPts val="0"/>
                        </a:spcBef>
                        <a:spcAft>
                          <a:spcPts val="0"/>
                        </a:spcAft>
                        <a:buNone/>
                      </a:pPr>
                      <a:r>
                        <a:rPr lang="en" sz="750">
                          <a:solidFill>
                            <a:srgbClr val="1F1F1F"/>
                          </a:solidFill>
                          <a:highlight>
                            <a:srgbClr val="FFFFFF"/>
                          </a:highlight>
                          <a:latin typeface="Roboto"/>
                          <a:ea typeface="Roboto"/>
                          <a:cs typeface="Roboto"/>
                          <a:sym typeface="Roboto"/>
                        </a:rPr>
                        <a:t>Obese</a:t>
                      </a:r>
                      <a:endParaRPr sz="750">
                        <a:solidFill>
                          <a:srgbClr val="1F1F1F"/>
                        </a:solidFill>
                        <a:highlight>
                          <a:srgbClr val="FFFFFF"/>
                        </a:highlight>
                        <a:latin typeface="Roboto"/>
                        <a:ea typeface="Roboto"/>
                        <a:cs typeface="Roboto"/>
                        <a:sym typeface="Roboto"/>
                      </a:endParaRPr>
                    </a:p>
                  </a:txBody>
                  <a:tcPr marT="66675" marB="66675" marR="66675" marL="66675"/>
                </a:tc>
                <a:tc>
                  <a:txBody>
                    <a:bodyPr/>
                    <a:lstStyle/>
                    <a:p>
                      <a:pPr indent="0" lvl="0" marL="0" rtl="0" algn="r">
                        <a:lnSpc>
                          <a:spcPct val="115000"/>
                        </a:lnSpc>
                        <a:spcBef>
                          <a:spcPts val="0"/>
                        </a:spcBef>
                        <a:spcAft>
                          <a:spcPts val="0"/>
                        </a:spcAft>
                        <a:buNone/>
                      </a:pPr>
                      <a:r>
                        <a:rPr lang="en" sz="750">
                          <a:solidFill>
                            <a:srgbClr val="1F1F1F"/>
                          </a:solidFill>
                          <a:highlight>
                            <a:srgbClr val="FFFFFF"/>
                          </a:highlight>
                          <a:latin typeface="Roboto"/>
                          <a:ea typeface="Roboto"/>
                          <a:cs typeface="Roboto"/>
                          <a:sym typeface="Roboto"/>
                        </a:rPr>
                        <a:t>10</a:t>
                      </a:r>
                      <a:endParaRPr sz="750">
                        <a:solidFill>
                          <a:srgbClr val="1F1F1F"/>
                        </a:solidFill>
                        <a:highlight>
                          <a:srgbClr val="FFFFFF"/>
                        </a:highlight>
                        <a:latin typeface="Roboto"/>
                        <a:ea typeface="Roboto"/>
                        <a:cs typeface="Roboto"/>
                        <a:sym typeface="Roboto"/>
                      </a:endParaRPr>
                    </a:p>
                  </a:txBody>
                  <a:tcPr marT="66675" marB="66675" marR="66675" marL="66675"/>
                </a:tc>
              </a:tr>
              <a:tr h="262375">
                <a:tc>
                  <a:txBody>
                    <a:bodyPr/>
                    <a:lstStyle/>
                    <a:p>
                      <a:pPr indent="0" lvl="0" marL="0" rtl="0" algn="r">
                        <a:lnSpc>
                          <a:spcPct val="115000"/>
                        </a:lnSpc>
                        <a:spcBef>
                          <a:spcPts val="0"/>
                        </a:spcBef>
                        <a:spcAft>
                          <a:spcPts val="0"/>
                        </a:spcAft>
                        <a:buNone/>
                      </a:pPr>
                      <a:r>
                        <a:rPr lang="en" sz="750">
                          <a:solidFill>
                            <a:srgbClr val="1F1F1F"/>
                          </a:solidFill>
                          <a:highlight>
                            <a:srgbClr val="FFFFFF"/>
                          </a:highlight>
                          <a:latin typeface="Roboto"/>
                          <a:ea typeface="Roboto"/>
                          <a:cs typeface="Roboto"/>
                          <a:sym typeface="Roboto"/>
                        </a:rPr>
                        <a:t>Overweight</a:t>
                      </a:r>
                      <a:endParaRPr sz="750">
                        <a:solidFill>
                          <a:srgbClr val="1F1F1F"/>
                        </a:solidFill>
                        <a:highlight>
                          <a:srgbClr val="FFFFFF"/>
                        </a:highlight>
                        <a:latin typeface="Roboto"/>
                        <a:ea typeface="Roboto"/>
                        <a:cs typeface="Roboto"/>
                        <a:sym typeface="Roboto"/>
                      </a:endParaRPr>
                    </a:p>
                  </a:txBody>
                  <a:tcPr marT="66675" marB="66675" marR="66675" marL="66675"/>
                </a:tc>
                <a:tc>
                  <a:txBody>
                    <a:bodyPr/>
                    <a:lstStyle/>
                    <a:p>
                      <a:pPr indent="0" lvl="0" marL="0" rtl="0" algn="r">
                        <a:lnSpc>
                          <a:spcPct val="115000"/>
                        </a:lnSpc>
                        <a:spcBef>
                          <a:spcPts val="0"/>
                        </a:spcBef>
                        <a:spcAft>
                          <a:spcPts val="0"/>
                        </a:spcAft>
                        <a:buNone/>
                      </a:pPr>
                      <a:r>
                        <a:rPr lang="en" sz="750">
                          <a:solidFill>
                            <a:srgbClr val="1F1F1F"/>
                          </a:solidFill>
                          <a:highlight>
                            <a:srgbClr val="FFFFFF"/>
                          </a:highlight>
                          <a:latin typeface="Roboto"/>
                          <a:ea typeface="Roboto"/>
                          <a:cs typeface="Roboto"/>
                          <a:sym typeface="Roboto"/>
                        </a:rPr>
                        <a:t>148</a:t>
                      </a:r>
                      <a:endParaRPr sz="750">
                        <a:solidFill>
                          <a:srgbClr val="1F1F1F"/>
                        </a:solidFill>
                        <a:highlight>
                          <a:srgbClr val="FFFFFF"/>
                        </a:highlight>
                        <a:latin typeface="Roboto"/>
                        <a:ea typeface="Roboto"/>
                        <a:cs typeface="Roboto"/>
                        <a:sym typeface="Roboto"/>
                      </a:endParaRPr>
                    </a:p>
                  </a:txBody>
                  <a:tcPr marT="66675" marB="66675" marR="66675" marL="6667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8"/>
          <p:cNvSpPr txBox="1"/>
          <p:nvPr>
            <p:ph type="title"/>
          </p:nvPr>
        </p:nvSpPr>
        <p:spPr>
          <a:xfrm>
            <a:off x="311700" y="285000"/>
            <a:ext cx="8520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b="1" lang="en" sz="1920"/>
              <a:t>Permutation Test: Quality of Sleep vs. Stress Level </a:t>
            </a:r>
            <a:endParaRPr b="1" sz="1920"/>
          </a:p>
        </p:txBody>
      </p:sp>
      <p:sp>
        <p:nvSpPr>
          <p:cNvPr id="188" name="Google Shape;188;p28"/>
          <p:cNvSpPr txBox="1"/>
          <p:nvPr/>
        </p:nvSpPr>
        <p:spPr>
          <a:xfrm>
            <a:off x="0" y="0"/>
            <a:ext cx="13620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t>
            </a:r>
            <a:endParaRPr sz="1100">
              <a:solidFill>
                <a:schemeClr val="dk1"/>
              </a:solidFill>
            </a:endParaRPr>
          </a:p>
        </p:txBody>
      </p:sp>
      <p:pic>
        <p:nvPicPr>
          <p:cNvPr id="189" name="Google Shape;189;p28"/>
          <p:cNvPicPr preferRelativeResize="0"/>
          <p:nvPr/>
        </p:nvPicPr>
        <p:blipFill>
          <a:blip r:embed="rId3">
            <a:alphaModFix/>
          </a:blip>
          <a:stretch>
            <a:fillRect/>
          </a:stretch>
        </p:blipFill>
        <p:spPr>
          <a:xfrm>
            <a:off x="5890975" y="1286275"/>
            <a:ext cx="2059850" cy="1964525"/>
          </a:xfrm>
          <a:prstGeom prst="rect">
            <a:avLst/>
          </a:prstGeom>
          <a:noFill/>
          <a:ln>
            <a:noFill/>
          </a:ln>
        </p:spPr>
      </p:pic>
      <p:grpSp>
        <p:nvGrpSpPr>
          <p:cNvPr id="190" name="Google Shape;190;p28"/>
          <p:cNvGrpSpPr/>
          <p:nvPr/>
        </p:nvGrpSpPr>
        <p:grpSpPr>
          <a:xfrm>
            <a:off x="1193175" y="717225"/>
            <a:ext cx="4514725" cy="2533575"/>
            <a:chOff x="2926750" y="701850"/>
            <a:chExt cx="4514725" cy="2533575"/>
          </a:xfrm>
        </p:grpSpPr>
        <p:grpSp>
          <p:nvGrpSpPr>
            <p:cNvPr id="191" name="Google Shape;191;p28"/>
            <p:cNvGrpSpPr/>
            <p:nvPr/>
          </p:nvGrpSpPr>
          <p:grpSpPr>
            <a:xfrm>
              <a:off x="4010375" y="701850"/>
              <a:ext cx="3431100" cy="2533575"/>
              <a:chOff x="4434750" y="1017725"/>
              <a:chExt cx="3431100" cy="2533575"/>
            </a:xfrm>
          </p:grpSpPr>
          <p:pic>
            <p:nvPicPr>
              <p:cNvPr id="192" name="Google Shape;192;p28"/>
              <p:cNvPicPr preferRelativeResize="0"/>
              <p:nvPr/>
            </p:nvPicPr>
            <p:blipFill>
              <a:blip r:embed="rId4">
                <a:alphaModFix/>
              </a:blip>
              <a:stretch>
                <a:fillRect/>
              </a:stretch>
            </p:blipFill>
            <p:spPr>
              <a:xfrm>
                <a:off x="4538400" y="1525625"/>
                <a:ext cx="2938199" cy="2025675"/>
              </a:xfrm>
              <a:prstGeom prst="rect">
                <a:avLst/>
              </a:prstGeom>
              <a:noFill/>
              <a:ln>
                <a:noFill/>
              </a:ln>
            </p:spPr>
          </p:pic>
          <p:sp>
            <p:nvSpPr>
              <p:cNvPr id="193" name="Google Shape;193;p28"/>
              <p:cNvSpPr txBox="1"/>
              <p:nvPr/>
            </p:nvSpPr>
            <p:spPr>
              <a:xfrm>
                <a:off x="4434750" y="1017725"/>
                <a:ext cx="3431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chemeClr val="dk1"/>
                    </a:solidFill>
                    <a:highlight>
                      <a:srgbClr val="FFFFFF"/>
                    </a:highlight>
                  </a:rPr>
                  <a:t>Observed correlation: -0.898752031004</a:t>
                </a:r>
                <a:endParaRPr sz="1050">
                  <a:solidFill>
                    <a:schemeClr val="dk1"/>
                  </a:solidFill>
                  <a:highlight>
                    <a:srgbClr val="FFFFFF"/>
                  </a:highlight>
                </a:endParaRPr>
              </a:p>
              <a:p>
                <a:pPr indent="0" lvl="0" marL="0" rtl="0" algn="l">
                  <a:spcBef>
                    <a:spcPts val="0"/>
                  </a:spcBef>
                  <a:spcAft>
                    <a:spcPts val="0"/>
                  </a:spcAft>
                  <a:buNone/>
                </a:pPr>
                <a:r>
                  <a:rPr lang="en" sz="1050">
                    <a:solidFill>
                      <a:schemeClr val="dk1"/>
                    </a:solidFill>
                    <a:highlight>
                      <a:srgbClr val="FFFFFF"/>
                    </a:highlight>
                  </a:rPr>
                  <a:t>p-value&lt;0.001</a:t>
                </a:r>
                <a:endParaRPr>
                  <a:solidFill>
                    <a:schemeClr val="dk1"/>
                  </a:solidFill>
                </a:endParaRPr>
              </a:p>
            </p:txBody>
          </p:sp>
        </p:grpSp>
        <p:cxnSp>
          <p:nvCxnSpPr>
            <p:cNvPr id="194" name="Google Shape;194;p28"/>
            <p:cNvCxnSpPr/>
            <p:nvPr/>
          </p:nvCxnSpPr>
          <p:spPr>
            <a:xfrm flipH="1">
              <a:off x="2926750" y="1062225"/>
              <a:ext cx="1500" cy="1885800"/>
            </a:xfrm>
            <a:prstGeom prst="straightConnector1">
              <a:avLst/>
            </a:prstGeom>
            <a:noFill/>
            <a:ln cap="flat" cmpd="sng" w="28575">
              <a:solidFill>
                <a:srgbClr val="FF0000"/>
              </a:solidFill>
              <a:prstDash val="solid"/>
              <a:round/>
              <a:headEnd len="med" w="med" type="none"/>
              <a:tailEnd len="med" w="med" type="triangle"/>
            </a:ln>
          </p:spPr>
        </p:cxnSp>
      </p:grpSp>
      <p:grpSp>
        <p:nvGrpSpPr>
          <p:cNvPr id="195" name="Google Shape;195;p28"/>
          <p:cNvGrpSpPr/>
          <p:nvPr/>
        </p:nvGrpSpPr>
        <p:grpSpPr>
          <a:xfrm>
            <a:off x="311700" y="3497425"/>
            <a:ext cx="8426700" cy="1015800"/>
            <a:chOff x="449300" y="3497425"/>
            <a:chExt cx="8426700" cy="1015800"/>
          </a:xfrm>
        </p:grpSpPr>
        <p:sp>
          <p:nvSpPr>
            <p:cNvPr id="196" name="Google Shape;196;p28"/>
            <p:cNvSpPr txBox="1"/>
            <p:nvPr/>
          </p:nvSpPr>
          <p:spPr>
            <a:xfrm>
              <a:off x="449300" y="3605125"/>
              <a:ext cx="32148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0000FF"/>
                  </a:solidFill>
                </a:rPr>
                <a:t>H0: there is no association between Stress Level and Quality of Sleep</a:t>
              </a:r>
              <a:endParaRPr sz="1000">
                <a:solidFill>
                  <a:srgbClr val="0000FF"/>
                </a:solidFill>
              </a:endParaRPr>
            </a:p>
            <a:p>
              <a:pPr indent="0" lvl="0" marL="0" rtl="0" algn="l">
                <a:spcBef>
                  <a:spcPts val="0"/>
                </a:spcBef>
                <a:spcAft>
                  <a:spcPts val="0"/>
                </a:spcAft>
                <a:buNone/>
              </a:pPr>
              <a:r>
                <a:rPr lang="en" sz="1000">
                  <a:solidFill>
                    <a:srgbClr val="0000FF"/>
                  </a:solidFill>
                </a:rPr>
                <a:t> </a:t>
              </a:r>
              <a:endParaRPr sz="1000">
                <a:solidFill>
                  <a:srgbClr val="0000FF"/>
                </a:solidFill>
              </a:endParaRPr>
            </a:p>
            <a:p>
              <a:pPr indent="0" lvl="0" marL="0" rtl="0" algn="l">
                <a:spcBef>
                  <a:spcPts val="0"/>
                </a:spcBef>
                <a:spcAft>
                  <a:spcPts val="0"/>
                </a:spcAft>
                <a:buNone/>
              </a:pPr>
              <a:r>
                <a:rPr lang="en" sz="1000">
                  <a:solidFill>
                    <a:srgbClr val="0000FF"/>
                  </a:solidFill>
                </a:rPr>
                <a:t>H1: Higher sleep quality leads to lower stress levels </a:t>
              </a:r>
              <a:endParaRPr sz="1000">
                <a:solidFill>
                  <a:srgbClr val="0000FF"/>
                </a:solidFill>
              </a:endParaRPr>
            </a:p>
          </p:txBody>
        </p:sp>
        <p:sp>
          <p:nvSpPr>
            <p:cNvPr id="197" name="Google Shape;197;p28"/>
            <p:cNvSpPr txBox="1"/>
            <p:nvPr/>
          </p:nvSpPr>
          <p:spPr>
            <a:xfrm>
              <a:off x="3664100" y="3497425"/>
              <a:ext cx="52119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0000FF"/>
                  </a:solidFill>
                </a:rPr>
                <a:t>Conclusion: </a:t>
              </a:r>
              <a:endParaRPr sz="900">
                <a:solidFill>
                  <a:srgbClr val="0000FF"/>
                </a:solidFill>
              </a:endParaRPr>
            </a:p>
            <a:p>
              <a:pPr indent="-285750" lvl="0" marL="457200" rtl="0" algn="l">
                <a:spcBef>
                  <a:spcPts val="0"/>
                </a:spcBef>
                <a:spcAft>
                  <a:spcPts val="0"/>
                </a:spcAft>
                <a:buClr>
                  <a:srgbClr val="0000FF"/>
                </a:buClr>
                <a:buSzPts val="900"/>
                <a:buChar char="●"/>
              </a:pPr>
              <a:r>
                <a:rPr b="1" lang="en" sz="900">
                  <a:solidFill>
                    <a:srgbClr val="0000FF"/>
                  </a:solidFill>
                </a:rPr>
                <a:t>Layman’s version:</a:t>
              </a:r>
              <a:r>
                <a:rPr lang="en" sz="900">
                  <a:solidFill>
                    <a:srgbClr val="0000FF"/>
                  </a:solidFill>
                </a:rPr>
                <a:t> there is strong evidence supporting the claim that higher sleep quality leads to lower stress levels. </a:t>
              </a:r>
              <a:endParaRPr sz="900">
                <a:solidFill>
                  <a:srgbClr val="0000FF"/>
                </a:solidFill>
              </a:endParaRPr>
            </a:p>
            <a:p>
              <a:pPr indent="-285750" lvl="0" marL="457200" rtl="0" algn="l">
                <a:spcBef>
                  <a:spcPts val="0"/>
                </a:spcBef>
                <a:spcAft>
                  <a:spcPts val="0"/>
                </a:spcAft>
                <a:buClr>
                  <a:srgbClr val="0000FF"/>
                </a:buClr>
                <a:buSzPts val="900"/>
                <a:buChar char="●"/>
              </a:pPr>
              <a:r>
                <a:rPr b="1" lang="en" sz="900">
                  <a:solidFill>
                    <a:srgbClr val="0000FF"/>
                  </a:solidFill>
                </a:rPr>
                <a:t>Scientific version: </a:t>
              </a:r>
              <a:r>
                <a:rPr lang="en" sz="900">
                  <a:solidFill>
                    <a:srgbClr val="0000FF"/>
                  </a:solidFill>
                </a:rPr>
                <a:t>assuming null hypothesis that there is no relationship between stress level and quality of sleep, the chance of seeing a difference at -0.899 or larger is less than 0.001. We reject the null hypothesis at a significance level of 0.001</a:t>
              </a:r>
              <a:endParaRPr sz="900">
                <a:solidFill>
                  <a:srgbClr val="0000FF"/>
                </a:solidFill>
              </a:endParaRPr>
            </a:p>
          </p:txBody>
        </p:sp>
      </p:grpSp>
      <p:sp>
        <p:nvSpPr>
          <p:cNvPr id="198" name="Google Shape;198;p28"/>
          <p:cNvSpPr txBox="1"/>
          <p:nvPr/>
        </p:nvSpPr>
        <p:spPr>
          <a:xfrm>
            <a:off x="557525" y="2968950"/>
            <a:ext cx="1296300" cy="34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50">
                <a:solidFill>
                  <a:schemeClr val="dk1"/>
                </a:solidFill>
                <a:highlight>
                  <a:srgbClr val="FFFFFF"/>
                </a:highlight>
              </a:rPr>
              <a:t>-0.898752031004</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9"/>
          <p:cNvSpPr txBox="1"/>
          <p:nvPr>
            <p:ph type="title"/>
          </p:nvPr>
        </p:nvSpPr>
        <p:spPr>
          <a:xfrm>
            <a:off x="311700" y="312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Insights</a:t>
            </a:r>
            <a:endParaRPr/>
          </a:p>
        </p:txBody>
      </p:sp>
      <p:sp>
        <p:nvSpPr>
          <p:cNvPr id="204" name="Google Shape;204;p29"/>
          <p:cNvSpPr txBox="1"/>
          <p:nvPr>
            <p:ph idx="1" type="body"/>
          </p:nvPr>
        </p:nvSpPr>
        <p:spPr>
          <a:xfrm>
            <a:off x="311700" y="884925"/>
            <a:ext cx="8691600" cy="1133400"/>
          </a:xfrm>
          <a:prstGeom prst="rect">
            <a:avLst/>
          </a:prstGeom>
        </p:spPr>
        <p:txBody>
          <a:bodyPr anchorCtr="0" anchor="t" bIns="91425" lIns="91425" spcFirstLastPara="1" rIns="91425" wrap="square" tIns="91425">
            <a:noAutofit/>
          </a:bodyPr>
          <a:lstStyle/>
          <a:p>
            <a:pPr indent="-316230" lvl="1" marL="914400" rtl="0" algn="l">
              <a:lnSpc>
                <a:spcPct val="95000"/>
              </a:lnSpc>
              <a:spcBef>
                <a:spcPts val="0"/>
              </a:spcBef>
              <a:spcAft>
                <a:spcPts val="0"/>
              </a:spcAft>
              <a:buClr>
                <a:srgbClr val="695D46"/>
              </a:buClr>
              <a:buSzPts val="1380"/>
              <a:buFont typeface="Open Sans"/>
              <a:buChar char="○"/>
            </a:pPr>
            <a:r>
              <a:rPr lang="en" sz="1380">
                <a:solidFill>
                  <a:srgbClr val="695D46"/>
                </a:solidFill>
                <a:latin typeface="Open Sans"/>
                <a:ea typeface="Open Sans"/>
                <a:cs typeface="Open Sans"/>
                <a:sym typeface="Open Sans"/>
              </a:rPr>
              <a:t>This graph shows the average stress level and sleep </a:t>
            </a:r>
            <a:r>
              <a:rPr lang="en" sz="1380">
                <a:solidFill>
                  <a:srgbClr val="695D46"/>
                </a:solidFill>
                <a:latin typeface="Open Sans"/>
                <a:ea typeface="Open Sans"/>
                <a:cs typeface="Open Sans"/>
                <a:sym typeface="Open Sans"/>
              </a:rPr>
              <a:t>quality for both female doctors and male doctors indicating that female doctors sleep better than male doctors but have more stress on them. This made me question why this was and a part of me was considering that it could be because within the data table there were far more male doctors than female doctors, however, I wanted to dig deeper and get more insightful answers. </a:t>
            </a:r>
            <a:endParaRPr b="1" sz="1380"/>
          </a:p>
        </p:txBody>
      </p:sp>
      <p:sp>
        <p:nvSpPr>
          <p:cNvPr id="205" name="Google Shape;205;p29"/>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By Carlyn Mangana</a:t>
            </a:r>
            <a:endParaRPr sz="1100">
              <a:solidFill>
                <a:schemeClr val="dk1"/>
              </a:solidFill>
            </a:endParaRPr>
          </a:p>
        </p:txBody>
      </p:sp>
      <p:pic>
        <p:nvPicPr>
          <p:cNvPr id="206" name="Google Shape;206;p29"/>
          <p:cNvPicPr preferRelativeResize="0"/>
          <p:nvPr/>
        </p:nvPicPr>
        <p:blipFill>
          <a:blip r:embed="rId3">
            <a:alphaModFix/>
          </a:blip>
          <a:stretch>
            <a:fillRect/>
          </a:stretch>
        </p:blipFill>
        <p:spPr>
          <a:xfrm>
            <a:off x="955613" y="2200350"/>
            <a:ext cx="7232773" cy="2760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0"/>
          <p:cNvSpPr txBox="1"/>
          <p:nvPr>
            <p:ph type="title"/>
          </p:nvPr>
        </p:nvSpPr>
        <p:spPr>
          <a:xfrm>
            <a:off x="311700" y="312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Insights</a:t>
            </a:r>
            <a:endParaRPr/>
          </a:p>
        </p:txBody>
      </p:sp>
      <p:sp>
        <p:nvSpPr>
          <p:cNvPr id="212" name="Google Shape;212;p30"/>
          <p:cNvSpPr txBox="1"/>
          <p:nvPr>
            <p:ph idx="1" type="body"/>
          </p:nvPr>
        </p:nvSpPr>
        <p:spPr>
          <a:xfrm>
            <a:off x="311700" y="884925"/>
            <a:ext cx="8691600" cy="1133400"/>
          </a:xfrm>
          <a:prstGeom prst="rect">
            <a:avLst/>
          </a:prstGeom>
        </p:spPr>
        <p:txBody>
          <a:bodyPr anchorCtr="0" anchor="t" bIns="91425" lIns="91425" spcFirstLastPara="1" rIns="91425" wrap="square" tIns="91425">
            <a:noAutofit/>
          </a:bodyPr>
          <a:lstStyle/>
          <a:p>
            <a:pPr indent="-335280" lvl="1" marL="914400" rtl="0" algn="l">
              <a:lnSpc>
                <a:spcPct val="95000"/>
              </a:lnSpc>
              <a:spcBef>
                <a:spcPts val="0"/>
              </a:spcBef>
              <a:spcAft>
                <a:spcPts val="0"/>
              </a:spcAft>
              <a:buClr>
                <a:srgbClr val="695D46"/>
              </a:buClr>
              <a:buSzPts val="1680"/>
              <a:buFont typeface="Open Sans"/>
              <a:buChar char="○"/>
            </a:pPr>
            <a:r>
              <a:rPr lang="en" sz="1679">
                <a:solidFill>
                  <a:srgbClr val="695D46"/>
                </a:solidFill>
                <a:latin typeface="Open Sans"/>
                <a:ea typeface="Open Sans"/>
                <a:cs typeface="Open Sans"/>
                <a:sym typeface="Open Sans"/>
              </a:rPr>
              <a:t>This article that I found explained that female doctors have a higher workload compared to male doctors but also </a:t>
            </a:r>
            <a:r>
              <a:rPr lang="en" sz="1679">
                <a:solidFill>
                  <a:srgbClr val="695D46"/>
                </a:solidFill>
                <a:latin typeface="Open Sans"/>
                <a:ea typeface="Open Sans"/>
                <a:cs typeface="Open Sans"/>
                <a:sym typeface="Open Sans"/>
              </a:rPr>
              <a:t>receive</a:t>
            </a:r>
            <a:r>
              <a:rPr lang="en" sz="1679">
                <a:solidFill>
                  <a:srgbClr val="695D46"/>
                </a:solidFill>
                <a:latin typeface="Open Sans"/>
                <a:ea typeface="Open Sans"/>
                <a:cs typeface="Open Sans"/>
                <a:sym typeface="Open Sans"/>
              </a:rPr>
              <a:t> fewer resources and less control over their workload and schedules. It also reported that women lack in leadership roles and face a compensation </a:t>
            </a:r>
            <a:r>
              <a:rPr lang="en" sz="1679">
                <a:solidFill>
                  <a:srgbClr val="695D46"/>
                </a:solidFill>
                <a:latin typeface="Open Sans"/>
                <a:ea typeface="Open Sans"/>
                <a:cs typeface="Open Sans"/>
                <a:sym typeface="Open Sans"/>
              </a:rPr>
              <a:t>disparity</a:t>
            </a:r>
            <a:r>
              <a:rPr lang="en" sz="1679">
                <a:solidFill>
                  <a:srgbClr val="695D46"/>
                </a:solidFill>
                <a:latin typeface="Open Sans"/>
                <a:ea typeface="Open Sans"/>
                <a:cs typeface="Open Sans"/>
                <a:sym typeface="Open Sans"/>
              </a:rPr>
              <a:t> which could explain why there were fewer female doctors than male doctors. There are also less rate of career advancements for them and this may cause lower self-compassion and higher stress levels. This ties into my theory that the reason there was less female doctors than male doctors within the data was because of there being gender inequality within the work field, causing it to impact the two differing genders differently. This caused me to ask another curious question, </a:t>
            </a:r>
            <a:endParaRPr sz="1679">
              <a:solidFill>
                <a:srgbClr val="695D46"/>
              </a:solidFill>
              <a:latin typeface="Open Sans"/>
              <a:ea typeface="Open Sans"/>
              <a:cs typeface="Open Sans"/>
              <a:sym typeface="Open Sans"/>
            </a:endParaRPr>
          </a:p>
          <a:p>
            <a:pPr indent="-335280" lvl="2" marL="1371600" rtl="0" algn="l">
              <a:lnSpc>
                <a:spcPct val="95000"/>
              </a:lnSpc>
              <a:spcBef>
                <a:spcPts val="0"/>
              </a:spcBef>
              <a:spcAft>
                <a:spcPts val="0"/>
              </a:spcAft>
              <a:buClr>
                <a:srgbClr val="695D46"/>
              </a:buClr>
              <a:buSzPts val="1680"/>
              <a:buFont typeface="Open Sans"/>
              <a:buChar char="■"/>
            </a:pPr>
            <a:r>
              <a:rPr lang="en" sz="1679">
                <a:solidFill>
                  <a:srgbClr val="695D46"/>
                </a:solidFill>
                <a:latin typeface="Open Sans"/>
                <a:ea typeface="Open Sans"/>
                <a:cs typeface="Open Sans"/>
                <a:sym typeface="Open Sans"/>
              </a:rPr>
              <a:t>Does this impact the doctor field or does this result happen in all job fields?</a:t>
            </a:r>
            <a:endParaRPr sz="1679">
              <a:solidFill>
                <a:srgbClr val="695D46"/>
              </a:solidFill>
              <a:latin typeface="Open Sans"/>
              <a:ea typeface="Open Sans"/>
              <a:cs typeface="Open Sans"/>
              <a:sym typeface="Open Sans"/>
            </a:endParaRPr>
          </a:p>
          <a:p>
            <a:pPr indent="-322580" lvl="0" marL="457200" rtl="0" algn="l">
              <a:lnSpc>
                <a:spcPct val="95000"/>
              </a:lnSpc>
              <a:spcBef>
                <a:spcPts val="0"/>
              </a:spcBef>
              <a:spcAft>
                <a:spcPts val="0"/>
              </a:spcAft>
              <a:buClr>
                <a:srgbClr val="695D46"/>
              </a:buClr>
              <a:buSzPts val="1480"/>
              <a:buFont typeface="Open Sans"/>
              <a:buChar char="●"/>
            </a:pPr>
            <a:r>
              <a:rPr lang="en" sz="1679">
                <a:solidFill>
                  <a:srgbClr val="695D46"/>
                </a:solidFill>
                <a:latin typeface="Open Sans"/>
                <a:ea typeface="Open Sans"/>
                <a:cs typeface="Open Sans"/>
                <a:sym typeface="Open Sans"/>
              </a:rPr>
              <a:t>Source: </a:t>
            </a:r>
            <a:r>
              <a:rPr lang="en" sz="1400" u="sng">
                <a:solidFill>
                  <a:srgbClr val="1155CC"/>
                </a:solidFill>
                <a:latin typeface="Open Sans"/>
                <a:ea typeface="Open Sans"/>
                <a:cs typeface="Open Sans"/>
                <a:sym typeface="Open Sans"/>
                <a:hlinkClick r:id="rId3">
                  <a:extLst>
                    <a:ext uri="{A12FA001-AC4F-418D-AE19-62706E023703}">
                      <ahyp:hlinkClr val="tx"/>
                    </a:ext>
                  </a:extLst>
                </a:hlinkClick>
              </a:rPr>
              <a:t>Gender Differences in Physician Burnout: Driving Factors and Potential Solutions</a:t>
            </a:r>
            <a:endParaRPr sz="1679">
              <a:solidFill>
                <a:srgbClr val="695D46"/>
              </a:solidFill>
              <a:latin typeface="Open Sans"/>
              <a:ea typeface="Open Sans"/>
              <a:cs typeface="Open Sans"/>
              <a:sym typeface="Open Sans"/>
            </a:endParaRPr>
          </a:p>
        </p:txBody>
      </p:sp>
      <p:sp>
        <p:nvSpPr>
          <p:cNvPr id="213" name="Google Shape;213;p30"/>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By Carlyn Mangana</a:t>
            </a:r>
            <a:endParaRPr sz="11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1"/>
          <p:cNvSpPr txBox="1"/>
          <p:nvPr>
            <p:ph type="title"/>
          </p:nvPr>
        </p:nvSpPr>
        <p:spPr>
          <a:xfrm>
            <a:off x="592500" y="190975"/>
            <a:ext cx="8020500" cy="961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220"/>
              <a:t>Data Insight: Doctors and Nurses are more physically active than all other occupations on average. </a:t>
            </a:r>
            <a:endParaRPr b="1" sz="2220"/>
          </a:p>
        </p:txBody>
      </p:sp>
      <p:sp>
        <p:nvSpPr>
          <p:cNvPr id="219" name="Google Shape;219;p31"/>
          <p:cNvSpPr txBox="1"/>
          <p:nvPr>
            <p:ph idx="1" type="body"/>
          </p:nvPr>
        </p:nvSpPr>
        <p:spPr>
          <a:xfrm>
            <a:off x="280950" y="3095000"/>
            <a:ext cx="8582100" cy="1943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300">
                <a:solidFill>
                  <a:schemeClr val="dk1"/>
                </a:solidFill>
              </a:rPr>
              <a:t>These bar graphs show the Daily Steps average and Physical Activity Level average of Doctors, Nurses, and all other occupations. These graphs are used to answer my curious question, “Are doctors more physically active than non-doctors?” This insight is similar to Car’s insight on the previous slide. The data shows that both doctors and nurses are more physically active than all other occupations in the dataset, including workers in sales, engineering, education, and more. It’s a well-known fact that moderate amounts of daily physical activity improve well-being, boost heart health, and help maintain a healthy weight. However, </a:t>
            </a:r>
            <a:r>
              <a:rPr lang="en" sz="1300" u="sng">
                <a:solidFill>
                  <a:schemeClr val="hlink"/>
                </a:solidFill>
                <a:hlinkClick r:id="rId3"/>
              </a:rPr>
              <a:t>this article</a:t>
            </a:r>
            <a:r>
              <a:rPr lang="en" sz="1300">
                <a:solidFill>
                  <a:schemeClr val="dk1"/>
                </a:solidFill>
              </a:rPr>
              <a:t> claims that healthcare workers experienced significant burnout and stress, especially during the height of the COVID-19 pandemic. </a:t>
            </a:r>
            <a:r>
              <a:rPr lang="en" sz="1300">
                <a:solidFill>
                  <a:schemeClr val="dk1"/>
                </a:solidFill>
              </a:rPr>
              <a:t>This leads to me to pose another question, how do the stress levels of doctors and nurses compare to all other occupations in this dataset?</a:t>
            </a:r>
            <a:r>
              <a:rPr lang="en" sz="1200">
                <a:solidFill>
                  <a:schemeClr val="dk1"/>
                </a:solidFill>
              </a:rPr>
              <a:t> </a:t>
            </a:r>
            <a:endParaRPr sz="1200">
              <a:solidFill>
                <a:schemeClr val="dk1"/>
              </a:solidFill>
            </a:endParaRPr>
          </a:p>
          <a:p>
            <a:pPr indent="0" lvl="0" marL="0" rtl="0" algn="l">
              <a:lnSpc>
                <a:spcPct val="95000"/>
              </a:lnSpc>
              <a:spcBef>
                <a:spcPts val="1600"/>
              </a:spcBef>
              <a:spcAft>
                <a:spcPts val="1200"/>
              </a:spcAft>
              <a:buSzPts val="688"/>
              <a:buNone/>
            </a:pPr>
            <a:r>
              <a:t/>
            </a:r>
            <a:endParaRPr b="1" sz="1200"/>
          </a:p>
        </p:txBody>
      </p:sp>
      <p:pic>
        <p:nvPicPr>
          <p:cNvPr id="220" name="Google Shape;220;p31"/>
          <p:cNvPicPr preferRelativeResize="0"/>
          <p:nvPr/>
        </p:nvPicPr>
        <p:blipFill>
          <a:blip r:embed="rId4">
            <a:alphaModFix/>
          </a:blip>
          <a:stretch>
            <a:fillRect/>
          </a:stretch>
        </p:blipFill>
        <p:spPr>
          <a:xfrm>
            <a:off x="1545850" y="1103825"/>
            <a:ext cx="3007348" cy="1905000"/>
          </a:xfrm>
          <a:prstGeom prst="rect">
            <a:avLst/>
          </a:prstGeom>
          <a:noFill/>
          <a:ln>
            <a:noFill/>
          </a:ln>
        </p:spPr>
      </p:pic>
      <p:pic>
        <p:nvPicPr>
          <p:cNvPr id="221" name="Google Shape;221;p31"/>
          <p:cNvPicPr preferRelativeResize="0"/>
          <p:nvPr/>
        </p:nvPicPr>
        <p:blipFill>
          <a:blip r:embed="rId5">
            <a:alphaModFix/>
          </a:blip>
          <a:stretch>
            <a:fillRect/>
          </a:stretch>
        </p:blipFill>
        <p:spPr>
          <a:xfrm>
            <a:off x="4590804" y="1103825"/>
            <a:ext cx="3007346" cy="1904995"/>
          </a:xfrm>
          <a:prstGeom prst="rect">
            <a:avLst/>
          </a:prstGeom>
          <a:noFill/>
          <a:ln>
            <a:noFill/>
          </a:ln>
        </p:spPr>
      </p:pic>
      <p:sp>
        <p:nvSpPr>
          <p:cNvPr id="222" name="Google Shape;222;p31"/>
          <p:cNvSpPr txBox="1"/>
          <p:nvPr/>
        </p:nvSpPr>
        <p:spPr>
          <a:xfrm>
            <a:off x="0" y="0"/>
            <a:ext cx="13620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t>
            </a:r>
            <a:endParaRPr sz="1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